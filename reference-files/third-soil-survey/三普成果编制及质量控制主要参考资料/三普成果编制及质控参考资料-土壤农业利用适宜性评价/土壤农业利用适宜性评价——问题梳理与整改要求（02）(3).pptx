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Lst>
  <p:notesMasterIdLst>
    <p:notesMasterId r:id="rId10"/>
  </p:notesMasterIdLst>
  <p:sldIdLst>
    <p:sldId id="256" r:id="rId9"/>
    <p:sldId id="257" r:id="rId11"/>
    <p:sldId id="258" r:id="rId12"/>
    <p:sldId id="259" r:id="rId13"/>
    <p:sldId id="281" r:id="rId14"/>
    <p:sldId id="282" r:id="rId15"/>
    <p:sldId id="261" r:id="rId16"/>
    <p:sldId id="263" r:id="rId17"/>
    <p:sldId id="264" r:id="rId18"/>
    <p:sldId id="283" r:id="rId19"/>
    <p:sldId id="265" r:id="rId20"/>
    <p:sldId id="266" r:id="rId21"/>
    <p:sldId id="267" r:id="rId22"/>
    <p:sldId id="268" r:id="rId23"/>
    <p:sldId id="270" r:id="rId24"/>
    <p:sldId id="271" r:id="rId25"/>
    <p:sldId id="272" r:id="rId26"/>
    <p:sldId id="273" r:id="rId27"/>
    <p:sldId id="285" r:id="rId28"/>
    <p:sldId id="286" r:id="rId29"/>
    <p:sldId id="275" r:id="rId30"/>
    <p:sldId id="276" r:id="rId31"/>
    <p:sldId id="278" r:id="rId32"/>
    <p:sldId id="279"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765" userDrawn="1">
          <p15:clr>
            <a:srgbClr val="747775"/>
          </p15:clr>
        </p15:guide>
        <p15:guide id="2" pos="2896"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47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765"/>
        <p:guide pos="2896"/>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各位领导、各位专家，大家好。今天我代表第三次全国土壤普查土壤农业利用适宜性评价专题组，向大家汇报当前工作中发现的主要问题，并提出具体的整改要求。本次会议的目的是统一思想、规范标准，确保我们的评价成果能够高质量地服务于国家耕地保护大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本次汇报将分为六个部分。首先，我们将明确本次评价工作的重大意义和核心目标。接着，重点梳理当前工作中发现的六类突出问题。然后，剖析问题产生的根源。在此基础上，我们将提出具体的整改要求和技术规范补充。最后，明确各级责任，并对下一步工作进行展望。</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首先，我们进入第一部分：引言与重大意义。本次会议的背景是第三次全国土壤普查进入攻坚阶段，我们的评价成果质量直接关系到国家耕地保护国策的落地。我们的核心目标是梳理问题、明确路径、统一口径。这项工作不仅具有重大的政治意义，是落实总书记重要指示的技术支撑，也是政策刚性要求。其核心内涵是科学评定土壤的适宜性，从而实现定方向、分等级、找障碍的三大功能。</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评价工作的重大意义，首先体现在政治高度上。它是贯彻落实习近平总书记关于耕地保护重要论述的具体技术支撑。总书记强调“良田粮用”，我们的评价工作就是要科学回答“哪些是良田”，为“宜耕则耕、宜园则园”提供科学依据。</a:t>
            </a:r>
            <a:endParaRPr lang="en-US" sz="1400" b="0" i="0" u="none" strike="noStrike">
              <a:solidFill>
                <a:srgbClr val="000000"/>
              </a:solidFill>
            </a:endParaRPr>
          </a:p>
          <a:p>
            <a:pPr indent="0" algn="l">
              <a:lnSpc>
                <a:spcPct val="100000"/>
              </a:lnSpc>
            </a:pPr>
            <a:r>
              <a:rPr lang="en-US" sz="1400" b="0" i="0" u="none" strike="noStrike">
                <a:solidFill>
                  <a:srgbClr val="000000"/>
                </a:solidFill>
              </a:rPr>
              <a:t>其次，从政策层面看，近年来中央多个重要文件都明确要求开展这项评价，并将其作为永久基本农田动态调整等政策的核心依据。这标志着耕地保护已进入优化布局、提升质量的新阶段。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评价工作的重大意义，首先体现在政治高度上。它是贯彻落实习近平总书记关于耕地保护重要论述的具体技术支撑。总书记强调“良田粮用”，我们的评价工作就是要科学回答“哪些是良田”，为“宜耕则耕、宜园则园”提供科学依据。</a:t>
            </a:r>
            <a:endParaRPr lang="en-US" sz="1400" b="0" i="0" u="none" strike="noStrike">
              <a:solidFill>
                <a:srgbClr val="000000"/>
              </a:solidFill>
            </a:endParaRPr>
          </a:p>
          <a:p>
            <a:pPr indent="0" algn="l">
              <a:lnSpc>
                <a:spcPct val="100000"/>
              </a:lnSpc>
            </a:pPr>
            <a:r>
              <a:rPr lang="en-US" sz="1400" b="0" i="0" u="none" strike="noStrike">
                <a:solidFill>
                  <a:srgbClr val="000000"/>
                </a:solidFill>
              </a:rPr>
              <a:t>其次，从政策层面看，近年来中央多个重要文件都明确要求开展这项评价，并将其作为永久基本农田动态调整等政策的核心依据。这标志着耕地保护已进入优化布局、提升质量的新阶段。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评价工作的重大意义，首先体现在政治高度上。它是贯彻落实习近平总书记关于耕地保护重要论述的具体技术支撑。总书记强调“良田粮用”，我们的评价工作就是要科学回答“哪些是良田”，为“宜耕则耕、宜园则园”提供科学依据。</a:t>
            </a:r>
            <a:endParaRPr lang="en-US" sz="1400" b="0" i="0" u="none" strike="noStrike">
              <a:solidFill>
                <a:srgbClr val="000000"/>
              </a:solidFill>
            </a:endParaRPr>
          </a:p>
          <a:p>
            <a:pPr indent="0" algn="l">
              <a:lnSpc>
                <a:spcPct val="100000"/>
              </a:lnSpc>
            </a:pPr>
            <a:r>
              <a:rPr lang="en-US" sz="1400" b="0" i="0" u="none" strike="noStrike">
                <a:solidFill>
                  <a:srgbClr val="000000"/>
                </a:solidFill>
              </a:rPr>
              <a:t>其次，从政策层面看，近年来中央多个重要文件都明确要求开展这项评价，并将其作为永久基本农田动态调整等政策的核心依据。这标志着耕地保护已进入优化布局、提升质量的新阶段。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部分，也是本次会议的重点：当前工作主要问题梳理。总体来看，我们的工作取得了阶段性进展，但也发现了六类较为突出的问题，这些问题必须得到纠正。这六个问题包括：评价结果与现状数据过度吻合、限制性因素选取存在偏差、评价单元处理不规范、适宜类判定逻辑错误、成果验证流于形式以及市级汇总接边不到位。下面我将逐一展开说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个问题，也是最值得警惕的问题：评价结果与国土变更调查数据高度吻合。一些地方为了让评价结果看起来“好看”，人为调整参数，刻意压缩那些“现状是耕地但评价不宜耕”的图斑。这完全违背了科学原则。我们评价的是土地的自然禀赋，不是去印证现状。恰恰是这些偏差，才是我们优化耕地布局、实现科学退耕还林还草的关键依据。这种行为必须坚决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第二个问题是限制性因素选取和数据源存在系统性偏差。一方面，有些地方机械套用指标，没有结合本地实际，比如在非喀斯特地区滥用“岩石出露丰度”指标。更严重的是，存在“宜耕就要退耕”的误解，这是对评价成果的错误解读。另一方面，在海拔、坡度等关键数据源上，部分地区使用了错误的、受人为影响的DEM数据，导致分级标准脱离自然规律。</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第二个问题是限制性因素选取和数据源存在系统性偏差。一方面，有些地方机械套用指标，没有结合本地实际，比如在非喀斯特地区滥用“岩石出露丰度”指标。更严重的是，存在“宜耕就要退耕”的误解，这是对评价成果的错误解读。另一方面，在海拔、坡度等关键数据源上，部分地区使用了错误的、受人为影响的DEM数据，导致分级标准脱离自然规律。</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个问题是评价单元处理不规范，导致图斑细碎化严重。很多地方简单地将土种图和三调地类图叠加，结果同一土壤类型被切割成无数细碎的图斑。这不仅造成数据冗余，更重要的是破坏了土壤的空间完整性，使得评价结果无法反映真实的自然规律，也给后续的市级汇总工作带来了极大困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个问题是适宜类判定逻辑错误。技术规范明确规定了判定的优先级：宜耕优先于宜园，宜园优先于宜林，以此类推。但有些地方没有严格遵守，导致判定结果摇摆不定。甚至出现了将水稻土误判为宜园地这样的低级错误。这直接违背了评价的科学原则，必须纠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Songti SC"/>
                <a:ea typeface="Songti SC"/>
                <a:cs typeface="Songti SC"/>
                <a:sym typeface="Songti SC"/>
              </a:rPr>
              <a:t>第五个问题，成果验证流于形式，甚至存在行政干预。有些地方以“宜耕地数量不能太多”为由，要求技术单位人为调整结果，这是绝对不允许的。同时，多数成果缺少对关键错配图斑的严格审查和室内校核，导致评价结果偏离了土地的真实自然状况。</a:t>
            </a:r>
            <a:endParaRPr lang="en-US" sz="12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六个问题是市级汇总接边处理不到位。在市一级汇总时发现，相邻县的边界上，对于同一地块的评价结果往往不一致。这说明县级成果在接边时只做了简单的几何拼接，没有进行属性逻辑的一致性检查。这将导致市级图件不完整，也为跨县域的重大项目布局带来了障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针对以上问题，我们进入第四部分：整改要求与技术规范补充。专题组提出了六项刚性整改要求，各省必须逐条对照落实。这六项要求涵盖了从评价单元制作、因子选取，到关键图斑审查、接边处理，再到汇总技术路线的全过程。下面我将详细解读。</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项整改要求，是重制评价单元，规范土地利用现状图的缩编。核心要求是，所有尚未开展的县，必须对现状图进行缩编，以1:5万比例尺为目标，避免图斑细碎化。这样做的好处是保持土壤类型的完整性，提升运算效率，并为后续的市级汇总打下基础。对于已经按规范完成的县，可经省级专家确认后免于缩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项整改要求，是规范限制性因素和数据源。在因素选取上，要坚持“少而精”的原则，特别是“岩石出露丰度”不能滥用。在数据源上，严禁使用受人为影响的DEM，必须采用2000-2005年左右的遥感影像数据，以反映自然地形本底。同时，分级标准的制定要参考箱线图，使其符合自然规律。</a:t>
            </a:r>
            <a:endPar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第三项整改要求，是严格审查“耕地不宜耕”和“非耕地宜耕”这两类关键图斑。这是评价成果科学性的关键所在。</a:t>
            </a:r>
            <a:endParaRPr lang="en-US" sz="1400" b="0" i="0" u="none" strike="noStrike">
              <a:solidFill>
                <a:srgbClr val="000000"/>
              </a:solidFill>
            </a:endParaRPr>
          </a:p>
          <a:p>
            <a:pPr indent="0" algn="l">
              <a:lnSpc>
                <a:spcPct val="100000"/>
              </a:lnSpc>
            </a:pPr>
            <a:r>
              <a:rPr lang="en-US" sz="1400" b="0" i="0" u="none" strike="noStrike">
                <a:solidFill>
                  <a:srgbClr val="000000"/>
                </a:solidFill>
              </a:rPr>
              <a:t>我们要求必须逐图斑进行审查，工作流程包括三步：首先是数据审查，检查数据源和阈值是否合理；然后是室内校核，利用遥感影像进行交叉验证；最后，对存疑的图斑再进行实地核实。</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第三项整改要求，是严格审查“耕地不宜耕”和“非耕地宜耕”这两类关键图斑。这是评价成果科学性的关键所在。</a:t>
            </a:r>
            <a:endParaRPr lang="en-US" sz="1400" b="0" i="0" u="none" strike="noStrike">
              <a:solidFill>
                <a:srgbClr val="000000"/>
              </a:solidFill>
            </a:endParaRPr>
          </a:p>
          <a:p>
            <a:pPr indent="0" algn="l">
              <a:lnSpc>
                <a:spcPct val="100000"/>
              </a:lnSpc>
            </a:pPr>
            <a:r>
              <a:rPr lang="en-US" sz="1400" b="0" i="0" u="none" strike="noStrike">
                <a:solidFill>
                  <a:srgbClr val="000000"/>
                </a:solidFill>
              </a:rPr>
              <a:t>我们要求必须逐图斑进行审查，工作流程包括三步：首先是数据审查，检查数据源和阈值是否合理；然后是室内校核，利用遥感影像进行交叉验证；最后，对存疑的图斑再进行实地核实。</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第三项整改要求，是严格审查“耕地不宜耕”和“非耕地宜耕”这两类关键图斑。这是评价成果科学性的关键所在。</a:t>
            </a:r>
            <a:endParaRPr lang="en-US" sz="1400" b="0" i="0" u="none" strike="noStrike">
              <a:solidFill>
                <a:srgbClr val="000000"/>
              </a:solidFill>
            </a:endParaRPr>
          </a:p>
          <a:p>
            <a:pPr indent="0" algn="l">
              <a:lnSpc>
                <a:spcPct val="100000"/>
              </a:lnSpc>
            </a:pPr>
            <a:r>
              <a:rPr lang="en-US" sz="1400" b="0" i="0" u="none" strike="noStrike">
                <a:solidFill>
                  <a:srgbClr val="000000"/>
                </a:solidFill>
              </a:rPr>
              <a:t>我们要求必须逐图斑进行审查，工作流程包括三步：首先是数据审查，检查数据源和阈值是否合理；然后是室内校核，利用遥感影像进行交叉验证；最后，对存疑的图斑再进行实地核实。</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最后三项整改要求。第四，规范跨县域接边，由市级牵头，组织相邻县集中办公解决边界差异问题。第五，严格执行面积守恒和属性可追溯，确保汇总数据的准确性和可回溯性。第六，提前启动市级汇总工作，市级要尽快审核并启动1:25万汇总，省级也要提前介入，通过试运行来检验和倒逼县级成果的质量。</a:t>
            </a:r>
            <a:endPar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为了确保整改要求落到实处，我们进入第五部分：责任压实与保障措施。我们建立了四级联动的责任体系。</a:t>
            </a:r>
            <a:endParaRPr lang="en-US" sz="1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pPr>
            <a:r>
              <a:rPr lang="en-US" sz="1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首先，县级是第一责任主体，三普办的专题负责同志必须亲自抓，对于敷衍了事的，我们会进行通报批评。</a:t>
            </a:r>
            <a:endParaRPr lang="en-US" sz="1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pPr>
            <a:r>
              <a:rPr lang="en-US" sz="1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其次，省市两级承担审核和帮扶责任。省级技术单位要下沉到问题县进行指导，市级要提前介入，做好过程把关。</a:t>
            </a:r>
            <a:endParaRPr lang="en-US" sz="1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pPr>
            <a:r>
              <a:rPr lang="en-US" sz="1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最后，国家级专家组将进行严格的抽查。对于抽查中发现重大问题的成果，我们将坚决退回，并严肃追究相关人员的责任，以此来保障整改工作的质量。</a:t>
            </a:r>
            <a:endParaRPr lang="en-US" sz="1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进行总结与展望。我们必须统一思想，重新认识到这项工作的战略定位，它是耕地保护进入新阶段的关键抓手。我们的核心使命是贯彻“良田粮用”，服务国家粮食安全。县级成果是基础，基础不牢，地动山摇。在此，我号召各地迅速行动起来，逐条整改，逐图斑过关。专题组将全程提供技术支撑，共同努力，确保我们的成果经得起科学和历史的检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我的汇报到此结束。感谢大家的聆听！接下来是问答环节，欢迎各位提问交流。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2.xml"/><Relationship Id="rId13" Type="http://schemas.openxmlformats.org/officeDocument/2006/relationships/slideLayout" Target="../slideLayouts/slideLayout12.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4.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0" Type="http://schemas.openxmlformats.org/officeDocument/2006/relationships/notesSlide" Target="../notesSlides/notesSlide7.xml"/><Relationship Id="rId2" Type="http://schemas.openxmlformats.org/officeDocument/2006/relationships/tags" Target="../tags/tag14.xml"/><Relationship Id="rId19" Type="http://schemas.openxmlformats.org/officeDocument/2006/relationships/slideLayout" Target="../slideLayouts/slideLayout12.xml"/><Relationship Id="rId18" Type="http://schemas.openxmlformats.org/officeDocument/2006/relationships/tags" Target="../tags/tag30.xml"/><Relationship Id="rId17" Type="http://schemas.openxmlformats.org/officeDocument/2006/relationships/tags" Target="../tags/tag29.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5.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image" Target="../media/image8.png"/><Relationship Id="rId1" Type="http://schemas.openxmlformats.org/officeDocument/2006/relationships/tags" Target="../tags/tag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2.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2.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tags" Target="../tags/tag4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tags" Target="../tags/tag4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181100"/>
            <a:ext cx="12192000" cy="224790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397000"/>
            <a:ext cx="12192000" cy="1016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5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土壤农业利用适宜性评价</a:t>
            </a:r>
            <a:endParaRPr lang="en-US" sz="1100"/>
          </a:p>
        </p:txBody>
      </p:sp>
      <p:sp>
        <p:nvSpPr>
          <p:cNvPr id="4" name="AutoShape 4"/>
          <p:cNvSpPr/>
          <p:nvPr/>
        </p:nvSpPr>
        <p:spPr>
          <a:xfrm>
            <a:off x="0" y="2413000"/>
            <a:ext cx="12192000" cy="635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zh-CN" alt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县级评价成果</a:t>
            </a:r>
            <a:r>
              <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问题梳理与整改要求</a:t>
            </a:r>
            <a:endParaRPr lang="en-US" sz="1100"/>
          </a:p>
        </p:txBody>
      </p:sp>
      <p:sp>
        <p:nvSpPr>
          <p:cNvPr id="5" name="AutoShape 5"/>
          <p:cNvSpPr/>
          <p:nvPr/>
        </p:nvSpPr>
        <p:spPr>
          <a:xfrm>
            <a:off x="1398270" y="3752850"/>
            <a:ext cx="9144000" cy="2540000"/>
          </a:xfrm>
          <a:prstGeom prst="rect">
            <a:avLst/>
          </a:prstGeom>
          <a:solidFill>
            <a:srgbClr val="FFFFFF">
              <a:alpha val="100000"/>
            </a:srgbClr>
          </a:solidFill>
          <a:ln w="12700" cap="flat" cmpd="sng">
            <a:noFill/>
            <a:prstDash val="solid"/>
            <a:round/>
          </a:ln>
        </p:spPr>
        <p:txBody>
          <a:bodyPr vert="horz" wrap="square" lIns="254000" tIns="127000" rIns="254000" bIns="127000" rtlCol="0" anchor="t" anchorCtr="0"/>
          <a:lstStyle/>
          <a:p>
            <a:pPr indent="0" algn="ctr">
              <a:lnSpc>
                <a:spcPct val="128000"/>
              </a:lnSpc>
              <a:defRPr/>
            </a:pPr>
            <a:r>
              <a:rPr lang="en-US" sz="40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吴克宁</a:t>
            </a:r>
            <a:endParaRPr lang="en-US" sz="20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ctr">
              <a:lnSpc>
                <a:spcPct val="128000"/>
              </a:lnSpc>
            </a:pPr>
            <a:r>
              <a:rPr lang="zh-CN" altLang="en-US" sz="20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第三次全国土壤普查土壤农业利用适宜性评价专题组</a:t>
            </a:r>
            <a:r>
              <a:rPr lang="zh-CN" altLang="en-US" sz="20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组长）</a:t>
            </a:r>
            <a:endParaRPr lang="en-US" sz="20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ctr">
              <a:lnSpc>
                <a:spcPct val="125000"/>
              </a:lnSpc>
            </a:pPr>
            <a:endParaRPr lang="en-US" sz="18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ctr">
              <a:lnSpc>
                <a:spcPct val="125000"/>
              </a:lnSpc>
            </a:pPr>
            <a:r>
              <a:rPr lang="en-US" sz="18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2026 年 4 月 17 </a:t>
            </a:r>
            <a:r>
              <a:rPr lang="zh-CN" altLang="en-US" sz="18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日</a:t>
            </a:r>
            <a:endParaRPr lang="zh-CN" altLang="en-US" sz="18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3302000" cy="6858000"/>
          </a:xfrm>
          <a:prstGeom prst="roundRect">
            <a:avLst>
              <a:gd name="adj" fmla="val 0"/>
            </a:avLst>
          </a:prstGeom>
          <a:solidFill>
            <a:srgbClr val="32478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目录</a:t>
            </a:r>
            <a:endParaRPr lang="en-US" sz="1100"/>
          </a:p>
          <a:p>
            <a:pPr indent="0" algn="ctr">
              <a:lnSpc>
                <a:spcPct val="125000"/>
              </a:lnSpc>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CONTENTS</a:t>
            </a:r>
            <a:endPar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17" name="组合 16"/>
          <p:cNvGrpSpPr/>
          <p:nvPr/>
        </p:nvGrpSpPr>
        <p:grpSpPr>
          <a:xfrm>
            <a:off x="4076700" y="813435"/>
            <a:ext cx="7086600" cy="4889500"/>
            <a:chOff x="6420" y="812"/>
            <a:chExt cx="11160" cy="7700"/>
          </a:xfrm>
        </p:grpSpPr>
        <p:sp>
          <p:nvSpPr>
            <p:cNvPr id="3" name="AutoShape 3"/>
            <p:cNvSpPr/>
            <p:nvPr>
              <p:custDataLst>
                <p:tags r:id="rId1"/>
              </p:custDataLst>
            </p:nvPr>
          </p:nvSpPr>
          <p:spPr>
            <a:xfrm>
              <a:off x="6420" y="812"/>
              <a:ext cx="1300" cy="8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defRPr/>
              </a:pPr>
              <a:r>
                <a:rPr lang="en-US" sz="3600" b="0" i="0" u="none" strike="noStrike">
                  <a:solidFill>
                    <a:srgbClr val="32478A"/>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endParaRPr lang="en-US" sz="1100"/>
            </a:p>
          </p:txBody>
        </p:sp>
        <p:sp>
          <p:nvSpPr>
            <p:cNvPr id="4" name="AutoShape 4"/>
            <p:cNvSpPr/>
            <p:nvPr>
              <p:custDataLst>
                <p:tags r:id="rId2"/>
              </p:custDataLst>
            </p:nvPr>
          </p:nvSpPr>
          <p:spPr>
            <a:xfrm>
              <a:off x="7980" y="812"/>
              <a:ext cx="9600" cy="78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defRPr/>
              </a:pPr>
              <a:r>
                <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引言</a:t>
              </a:r>
              <a:endParaRPr lang="en-US" sz="1100"/>
            </a:p>
          </p:txBody>
        </p:sp>
        <p:sp>
          <p:nvSpPr>
            <p:cNvPr id="5" name="AutoShape 5"/>
            <p:cNvSpPr/>
            <p:nvPr>
              <p:custDataLst>
                <p:tags r:id="rId3"/>
              </p:custDataLst>
            </p:nvPr>
          </p:nvSpPr>
          <p:spPr>
            <a:xfrm>
              <a:off x="6420" y="2192"/>
              <a:ext cx="1300" cy="8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defRPr/>
              </a:pPr>
              <a:r>
                <a:rPr lang="en-US" sz="3600" b="0" i="0" u="none" strike="noStrike">
                  <a:solidFill>
                    <a:srgbClr val="32478A"/>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endParaRPr lang="en-US" sz="1100"/>
            </a:p>
          </p:txBody>
        </p:sp>
        <p:sp>
          <p:nvSpPr>
            <p:cNvPr id="6" name="AutoShape 6"/>
            <p:cNvSpPr/>
            <p:nvPr>
              <p:custDataLst>
                <p:tags r:id="rId4"/>
              </p:custDataLst>
            </p:nvPr>
          </p:nvSpPr>
          <p:spPr>
            <a:xfrm>
              <a:off x="7980" y="3572"/>
              <a:ext cx="9600" cy="78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defRPr/>
              </a:pPr>
              <a:r>
                <a:rPr lang="en-US" sz="2400">
                  <a:latin typeface="微软雅黑" panose="020B0503020204020204" charset="-122"/>
                  <a:ea typeface="微软雅黑" panose="020B0503020204020204" charset="-122"/>
                  <a:cs typeface="微软雅黑" panose="020B0503020204020204" charset="-122"/>
                </a:rPr>
                <a:t>前期县级成果和市级汇总问题</a:t>
              </a:r>
              <a:endParaRPr lang="en-US" sz="2400">
                <a:latin typeface="微软雅黑" panose="020B0503020204020204" charset="-122"/>
                <a:ea typeface="微软雅黑" panose="020B0503020204020204" charset="-122"/>
                <a:cs typeface="微软雅黑" panose="020B0503020204020204" charset="-122"/>
              </a:endParaRPr>
            </a:p>
          </p:txBody>
        </p:sp>
        <p:sp>
          <p:nvSpPr>
            <p:cNvPr id="7" name="AutoShape 7"/>
            <p:cNvSpPr/>
            <p:nvPr>
              <p:custDataLst>
                <p:tags r:id="rId5"/>
              </p:custDataLst>
            </p:nvPr>
          </p:nvSpPr>
          <p:spPr>
            <a:xfrm>
              <a:off x="6420" y="3572"/>
              <a:ext cx="1300" cy="8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defRPr/>
              </a:pPr>
              <a:r>
                <a:rPr lang="en-US" sz="3600" b="0" i="0" u="none" strike="noStrike">
                  <a:solidFill>
                    <a:srgbClr val="32478A"/>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endParaRPr lang="en-US" sz="1100"/>
            </a:p>
          </p:txBody>
        </p:sp>
        <p:sp>
          <p:nvSpPr>
            <p:cNvPr id="9" name="AutoShape 9"/>
            <p:cNvSpPr/>
            <p:nvPr>
              <p:custDataLst>
                <p:tags r:id="rId6"/>
              </p:custDataLst>
            </p:nvPr>
          </p:nvSpPr>
          <p:spPr>
            <a:xfrm>
              <a:off x="6420" y="4952"/>
              <a:ext cx="1300" cy="8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defRPr/>
              </a:pPr>
              <a:r>
                <a:rPr lang="en-US" sz="3600" b="0" i="0" u="none" strike="noStrike">
                  <a:solidFill>
                    <a:srgbClr val="32478A"/>
                  </a:solidFill>
                  <a:latin typeface="微软雅黑" panose="020B0503020204020204" charset="-122"/>
                  <a:ea typeface="微软雅黑" panose="020B0503020204020204" charset="-122"/>
                  <a:cs typeface="微软雅黑" panose="020B0503020204020204" charset="-122"/>
                  <a:sym typeface="微软雅黑" panose="020B0503020204020204" charset="-122"/>
                </a:rPr>
                <a:t>4</a:t>
              </a:r>
              <a:endParaRPr lang="en-US" sz="1100"/>
            </a:p>
          </p:txBody>
        </p:sp>
        <p:sp>
          <p:nvSpPr>
            <p:cNvPr id="10" name="AutoShape 10"/>
            <p:cNvSpPr/>
            <p:nvPr>
              <p:custDataLst>
                <p:tags r:id="rId7"/>
              </p:custDataLst>
            </p:nvPr>
          </p:nvSpPr>
          <p:spPr>
            <a:xfrm>
              <a:off x="7980" y="4968"/>
              <a:ext cx="9600" cy="78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defRPr/>
              </a:pPr>
              <a:r>
                <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整改</a:t>
              </a:r>
              <a:r>
                <a:rPr lang="zh-CN" alt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要点</a:t>
              </a:r>
              <a:endParaRPr lang="zh-CN" alt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AutoShape 11"/>
            <p:cNvSpPr/>
            <p:nvPr>
              <p:custDataLst>
                <p:tags r:id="rId8"/>
              </p:custDataLst>
            </p:nvPr>
          </p:nvSpPr>
          <p:spPr>
            <a:xfrm>
              <a:off x="6420" y="6332"/>
              <a:ext cx="1300" cy="8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defRPr/>
              </a:pPr>
              <a:r>
                <a:rPr lang="en-US" sz="3600" b="0" i="0" u="none" strike="noStrike">
                  <a:solidFill>
                    <a:srgbClr val="32478A"/>
                  </a:solidFill>
                  <a:latin typeface="微软雅黑" panose="020B0503020204020204" charset="-122"/>
                  <a:ea typeface="微软雅黑" panose="020B0503020204020204" charset="-122"/>
                  <a:cs typeface="微软雅黑" panose="020B0503020204020204" charset="-122"/>
                  <a:sym typeface="微软雅黑" panose="020B0503020204020204" charset="-122"/>
                </a:rPr>
                <a:t>5</a:t>
              </a:r>
              <a:endParaRPr lang="en-US" sz="1100"/>
            </a:p>
          </p:txBody>
        </p:sp>
        <p:sp>
          <p:nvSpPr>
            <p:cNvPr id="12" name="AutoShape 12"/>
            <p:cNvSpPr/>
            <p:nvPr>
              <p:custDataLst>
                <p:tags r:id="rId9"/>
              </p:custDataLst>
            </p:nvPr>
          </p:nvSpPr>
          <p:spPr>
            <a:xfrm>
              <a:off x="7980" y="6332"/>
              <a:ext cx="9600" cy="78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defRPr/>
              </a:pPr>
              <a:r>
                <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责任压实与保障措施</a:t>
              </a:r>
              <a:endParaRPr lang="en-US" sz="1100"/>
            </a:p>
          </p:txBody>
        </p:sp>
        <p:sp>
          <p:nvSpPr>
            <p:cNvPr id="13" name="AutoShape 13"/>
            <p:cNvSpPr/>
            <p:nvPr>
              <p:custDataLst>
                <p:tags r:id="rId10"/>
              </p:custDataLst>
            </p:nvPr>
          </p:nvSpPr>
          <p:spPr>
            <a:xfrm>
              <a:off x="6420" y="7712"/>
              <a:ext cx="1300" cy="8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defRPr/>
              </a:pPr>
              <a:r>
                <a:rPr lang="en-US" sz="3600" b="0" i="0" u="none" strike="noStrike">
                  <a:solidFill>
                    <a:srgbClr val="32478A"/>
                  </a:solidFill>
                  <a:latin typeface="微软雅黑" panose="020B0503020204020204" charset="-122"/>
                  <a:ea typeface="微软雅黑" panose="020B0503020204020204" charset="-122"/>
                  <a:cs typeface="微软雅黑" panose="020B0503020204020204" charset="-122"/>
                  <a:sym typeface="微软雅黑" panose="020B0503020204020204" charset="-122"/>
                </a:rPr>
                <a:t>6</a:t>
              </a:r>
              <a:endParaRPr lang="en-US" sz="1100"/>
            </a:p>
          </p:txBody>
        </p:sp>
        <p:sp>
          <p:nvSpPr>
            <p:cNvPr id="14" name="AutoShape 14"/>
            <p:cNvSpPr/>
            <p:nvPr>
              <p:custDataLst>
                <p:tags r:id="rId11"/>
              </p:custDataLst>
            </p:nvPr>
          </p:nvSpPr>
          <p:spPr>
            <a:xfrm>
              <a:off x="7980" y="7728"/>
              <a:ext cx="9600" cy="78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defRPr/>
              </a:pPr>
              <a:r>
                <a:rPr lang="zh-CN" alt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结语</a:t>
              </a:r>
              <a:endParaRPr lang="zh-CN" alt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AutoShape 4"/>
            <p:cNvSpPr/>
            <p:nvPr>
              <p:custDataLst>
                <p:tags r:id="rId12"/>
              </p:custDataLst>
            </p:nvPr>
          </p:nvSpPr>
          <p:spPr>
            <a:xfrm>
              <a:off x="7980" y="2192"/>
              <a:ext cx="9600" cy="78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defRPr/>
              </a:pPr>
              <a:r>
                <a:rPr lang="en-US" sz="2400">
                  <a:latin typeface="微软雅黑" panose="020B0503020204020204" charset="-122"/>
                  <a:ea typeface="微软雅黑" panose="020B0503020204020204" charset="-122"/>
                  <a:cs typeface="微软雅黑" panose="020B0503020204020204" charset="-122"/>
                </a:rPr>
                <a:t>土壤农业利用适宜性评价的重大意义</a:t>
              </a:r>
              <a:endParaRPr lang="en-US" sz="24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0"/>
          </a:xfrm>
          <a:prstGeom prst="roundRect">
            <a:avLst>
              <a:gd name="adj" fmla="val 0"/>
            </a:avLst>
          </a:prstGeom>
          <a:solidFill>
            <a:srgbClr val="32478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01 引言</a:t>
            </a:r>
            <a:endParaRPr lang="en-US" sz="1100"/>
          </a:p>
        </p:txBody>
      </p:sp>
      <p:sp>
        <p:nvSpPr>
          <p:cNvPr id="3" name="AutoShape 3"/>
          <p:cNvSpPr/>
          <p:nvPr/>
        </p:nvSpPr>
        <p:spPr>
          <a:xfrm>
            <a:off x="234315" y="1219200"/>
            <a:ext cx="11703050" cy="5295900"/>
          </a:xfrm>
          <a:prstGeom prst="roundRect">
            <a:avLst>
              <a:gd name="adj" fmla="val 3117"/>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381000" tIns="317500" rIns="381000" bIns="317500" rtlCol="0" anchor="t" anchorCtr="0"/>
          <a:lstStyle/>
          <a:p>
            <a:pPr indent="0" algn="l">
              <a:lnSpc>
                <a:spcPct val="100000"/>
              </a:lnSpc>
              <a:defRPr/>
            </a:pPr>
            <a:r>
              <a:rPr lang="en-US" sz="2400" b="1" i="0" u="none" strike="noStrike">
                <a:solidFill>
                  <a:srgbClr val="003366"/>
                </a:solidFill>
                <a:latin typeface="微软雅黑" panose="020B0503020204020204" charset="-122"/>
                <a:ea typeface="微软雅黑" panose="020B0503020204020204" charset="-122"/>
                <a:cs typeface="微软雅黑" panose="020B0503020204020204" charset="-122"/>
                <a:sym typeface="微软雅黑" panose="020B0503020204020204" charset="-122"/>
              </a:rPr>
              <a:t>土壤农业利用适宜性评价——成果汇总攻坚阶段的关键部署</a:t>
            </a:r>
            <a:endParaRPr lang="en-US" sz="2400"/>
          </a:p>
          <a:p>
            <a:pPr marL="0" indent="565150" algn="l" eaLnBrk="1" fontAlgn="auto" latinLnBrk="0" hangingPunct="1">
              <a:lnSpc>
                <a:spcPct val="157000"/>
              </a:lnSpc>
              <a:spcBef>
                <a:spcPts val="800"/>
              </a:spcBef>
            </a:pPr>
            <a:r>
              <a:rPr lang="en-US" sz="20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第三次全国土壤普查已全面进入成果汇总攻坚阶段。本专题的成果质量直接关系到</a:t>
            </a:r>
            <a:r>
              <a:rPr lang="zh-CN" altLang="en-US" sz="20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直接关系到</a:t>
            </a:r>
            <a:r>
              <a:rPr lang="en-US" altLang="zh-CN" sz="20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良田粮用</a:t>
            </a:r>
            <a:r>
              <a:rPr lang="en-US" altLang="zh-CN" sz="20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国策的落地成效，关系到永久基本农田</a:t>
            </a:r>
            <a:r>
              <a:rPr lang="en-US" altLang="zh-CN" sz="20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优进劣出</a:t>
            </a:r>
            <a:r>
              <a:rPr lang="en-US" altLang="zh-CN" sz="20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的科学依据，关系到国土空间专项规划中耕地、林地、草地布局的优化调整。然而，</a:t>
            </a:r>
            <a:r>
              <a:rPr lang="en-US" sz="20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专题组在县级成果核查中发现若干严重问题，</a:t>
            </a:r>
            <a:r>
              <a:rPr lang="zh-CN" altLang="en-US" sz="20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部分问题</a:t>
            </a:r>
            <a:r>
              <a:rPr lang="en-US" sz="20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已影响到后续省市级汇总及全国成果的可比性。</a:t>
            </a:r>
            <a:endParaRPr lang="en-US" sz="20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565150" algn="l" eaLnBrk="1" fontAlgn="auto" latinLnBrk="0" hangingPunct="1">
              <a:lnSpc>
                <a:spcPct val="157000"/>
              </a:lnSpc>
              <a:spcBef>
                <a:spcPts val="800"/>
              </a:spcBef>
            </a:pPr>
            <a:r>
              <a:rPr lang="zh-CN" altLang="en-US" sz="20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为此，本次会议旨在系统梳理问题、明确整改路径、统一技术口径，确保县级成果和市级汇总工作按期高质量完成</a:t>
            </a:r>
            <a:r>
              <a:rPr lang="zh-CN" altLang="en-US" sz="24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240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0" y="0"/>
            <a:ext cx="12192000" cy="93980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889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02 </a:t>
            </a:r>
            <a:r>
              <a:rPr lang="en-US" sz="3600" b="1">
                <a:solidFill>
                  <a:srgbClr val="FFFFFF"/>
                </a:solidFill>
                <a:latin typeface="微软雅黑" panose="020B0503020204020204" charset="-122"/>
                <a:ea typeface="微软雅黑" panose="020B0503020204020204" charset="-122"/>
                <a:cs typeface="微软雅黑" panose="020B0503020204020204" charset="-122"/>
              </a:rPr>
              <a:t>土壤农业利用适宜性评价的重大意义</a:t>
            </a:r>
            <a:endParaRPr lang="en-US" sz="3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AutoShape 6"/>
          <p:cNvSpPr/>
          <p:nvPr/>
        </p:nvSpPr>
        <p:spPr>
          <a:xfrm>
            <a:off x="381000" y="1206500"/>
            <a:ext cx="11303000" cy="4976495"/>
          </a:xfrm>
          <a:prstGeom prst="roundRect">
            <a:avLst>
              <a:gd name="adj" fmla="val 3030"/>
            </a:avLst>
          </a:prstGeom>
          <a:solidFill>
            <a:srgbClr val="FFFFFF">
              <a:alpha val="95000"/>
            </a:srgbClr>
          </a:solidFill>
          <a:ln w="25400" cap="flat" cmpd="sng">
            <a:noFill/>
            <a:prstDash val="solid"/>
            <a:round/>
          </a:ln>
          <a:effectLst>
            <a:outerShdw blurRad="127000" dist="50800" dir="2700000" algn="tl" rotWithShape="0">
              <a:srgbClr val="000000">
                <a:alpha val="15000"/>
              </a:srgbClr>
            </a:outerShdw>
          </a:effectLst>
        </p:spPr>
        <p:txBody>
          <a:bodyPr vert="horz" wrap="square" lIns="0" tIns="0" rIns="0" bIns="0" rtlCol="0" anchor="ctr" anchorCtr="0"/>
          <a:lstStyle/>
          <a:p>
            <a:pPr algn="ctr">
              <a:defRPr/>
            </a:pPr>
          </a:p>
        </p:txBody>
      </p:sp>
      <p:sp>
        <p:nvSpPr>
          <p:cNvPr id="7" name="AutoShape 7"/>
          <p:cNvSpPr/>
          <p:nvPr/>
        </p:nvSpPr>
        <p:spPr>
          <a:xfrm>
            <a:off x="381000" y="1206500"/>
            <a:ext cx="7069455" cy="635000"/>
          </a:xfrm>
          <a:prstGeom prst="roundRect">
            <a:avLst>
              <a:gd name="adj" fmla="val 2000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35000" y="1270000"/>
            <a:ext cx="695769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一、</a:t>
            </a: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贯彻落实习近平总书记重要论述的技术支撑</a:t>
            </a:r>
            <a:endParaRPr lang="en-US" sz="2400"/>
          </a:p>
        </p:txBody>
      </p:sp>
      <p:sp>
        <p:nvSpPr>
          <p:cNvPr id="9" name="AutoShape 9"/>
          <p:cNvSpPr/>
          <p:nvPr/>
        </p:nvSpPr>
        <p:spPr>
          <a:xfrm>
            <a:off x="635000" y="2032000"/>
            <a:ext cx="10527665" cy="3737610"/>
          </a:xfrm>
          <a:prstGeom prst="rect">
            <a:avLst/>
          </a:prstGeom>
          <a:noFill/>
          <a:ln w="12700" cap="flat" cmpd="sng">
            <a:noFill/>
            <a:prstDash val="solid"/>
            <a:round/>
          </a:ln>
        </p:spPr>
        <p:txBody>
          <a:bodyPr vert="horz" wrap="square" lIns="0" tIns="0" rIns="0" bIns="0" rtlCol="0" anchor="t" anchorCtr="0"/>
          <a:lstStyle/>
          <a:p>
            <a:pPr indent="565150" algn="l">
              <a:lnSpc>
                <a:spcPct val="157000"/>
              </a:lnSpc>
              <a:spcBef>
                <a:spcPts val="800"/>
              </a:spcBef>
              <a:buSzTx/>
              <a:buNone/>
            </a:pPr>
            <a:r>
              <a:rPr 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习近平总书记多次强调，“保障国家粮食安全的根本在耕地”“要像保护大熊猫一样保护耕地”，并提出“良田粮用”的大原则。同时指出，“把果树苗木尽量上山上坡”，避免占用优质耕地；对不适宜耕种的土地，要有序退耕还林还草。这些重要论述构成了耕地保护工作的根本遵循。</a:t>
            </a:r>
            <a:endParaRPr 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565150" algn="l">
              <a:lnSpc>
                <a:spcPct val="157000"/>
              </a:lnSpc>
              <a:spcBef>
                <a:spcPts val="800"/>
              </a:spcBef>
              <a:buSzTx/>
              <a:buNone/>
            </a:pPr>
            <a:r>
              <a:rPr 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土壤农业利用适宜性评价的核心任务，正是科学回答哪些耕地属于“良田”，哪些园地、林地、草地应当保留或调整，从而为“宜耕则耕、宜园则园、宜林则林、宜草则草”提供定量化、空间化的技术依据。</a:t>
            </a:r>
            <a:endParaRPr 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0" y="0"/>
            <a:ext cx="12192000" cy="93980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889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02 </a:t>
            </a:r>
            <a:r>
              <a:rPr lang="en-US" sz="3600" b="1">
                <a:solidFill>
                  <a:srgbClr val="FFFFFF"/>
                </a:solidFill>
                <a:latin typeface="微软雅黑" panose="020B0503020204020204" charset="-122"/>
                <a:ea typeface="微软雅黑" panose="020B0503020204020204" charset="-122"/>
                <a:cs typeface="微软雅黑" panose="020B0503020204020204" charset="-122"/>
              </a:rPr>
              <a:t>土壤农业利用适宜性评价的重大意义</a:t>
            </a:r>
            <a:endParaRPr lang="en-US" sz="3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AutoShape 6"/>
          <p:cNvSpPr/>
          <p:nvPr/>
        </p:nvSpPr>
        <p:spPr>
          <a:xfrm>
            <a:off x="381000" y="1206500"/>
            <a:ext cx="11303000" cy="4976495"/>
          </a:xfrm>
          <a:prstGeom prst="roundRect">
            <a:avLst>
              <a:gd name="adj" fmla="val 3030"/>
            </a:avLst>
          </a:prstGeom>
          <a:solidFill>
            <a:srgbClr val="FFFFFF">
              <a:alpha val="95000"/>
            </a:srgbClr>
          </a:solidFill>
          <a:ln w="25400" cap="flat" cmpd="sng">
            <a:noFill/>
            <a:prstDash val="solid"/>
            <a:round/>
          </a:ln>
          <a:effectLst>
            <a:outerShdw blurRad="127000" dist="50800" dir="2700000" algn="tl" rotWithShape="0">
              <a:srgbClr val="000000">
                <a:alpha val="15000"/>
              </a:srgbClr>
            </a:outerShdw>
          </a:effectLst>
        </p:spPr>
        <p:txBody>
          <a:bodyPr vert="horz" wrap="square" lIns="0" tIns="0" rIns="0" bIns="0" rtlCol="0" anchor="ctr" anchorCtr="0"/>
          <a:lstStyle/>
          <a:p>
            <a:pPr algn="ctr">
              <a:defRPr/>
            </a:pPr>
          </a:p>
        </p:txBody>
      </p:sp>
      <p:sp>
        <p:nvSpPr>
          <p:cNvPr id="7" name="AutoShape 7"/>
          <p:cNvSpPr/>
          <p:nvPr/>
        </p:nvSpPr>
        <p:spPr>
          <a:xfrm>
            <a:off x="381000" y="1206500"/>
            <a:ext cx="4608830" cy="635000"/>
          </a:xfrm>
          <a:prstGeom prst="roundRect">
            <a:avLst>
              <a:gd name="adj" fmla="val 2000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35000" y="1270000"/>
            <a:ext cx="695769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400" b="1">
                <a:solidFill>
                  <a:srgbClr val="FFFFFF"/>
                </a:solidFill>
                <a:latin typeface="微软雅黑" panose="020B0503020204020204" charset="-122"/>
                <a:ea typeface="微软雅黑" panose="020B0503020204020204" charset="-122"/>
                <a:cs typeface="微软雅黑" panose="020B0503020204020204" charset="-122"/>
              </a:rPr>
              <a:t>二、中央政策文件的刚性要求</a:t>
            </a:r>
            <a:endParaRPr lang="zh-CN" altLang="en-US" sz="24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 name="AutoShape 9"/>
          <p:cNvSpPr/>
          <p:nvPr/>
        </p:nvSpPr>
        <p:spPr>
          <a:xfrm>
            <a:off x="635000" y="2032000"/>
            <a:ext cx="10527665" cy="3737610"/>
          </a:xfrm>
          <a:prstGeom prst="rect">
            <a:avLst/>
          </a:prstGeom>
          <a:noFill/>
          <a:ln w="12700" cap="flat" cmpd="sng">
            <a:noFill/>
            <a:prstDash val="solid"/>
            <a:round/>
          </a:ln>
        </p:spPr>
        <p:txBody>
          <a:bodyPr vert="horz" wrap="square" lIns="0" tIns="0" rIns="0" bIns="0" rtlCol="0" anchor="t" anchorCtr="0"/>
          <a:lstStyle/>
          <a:p>
            <a:pPr indent="565150" algn="l">
              <a:lnSpc>
                <a:spcPct val="157000"/>
              </a:lnSpc>
              <a:spcBef>
                <a:spcPts val="800"/>
              </a:spcBef>
              <a:buSzTx/>
              <a:buNone/>
            </a:pPr>
            <a:r>
              <a:rPr lang="en-US" altLang="zh-CN"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2024</a:t>
            </a:r>
            <a:r>
              <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年中共中央办公厅、国务院办公厅印发的《关于加强耕地保护提升耕地质量完善占补平衡的意见》明确要求，各地要结合第三次全国土壤普查，开展土壤农业利用适宜性评价，统筹耕地和林地、草地等其他农用地保护。</a:t>
            </a:r>
            <a:endPar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565150" algn="l">
              <a:lnSpc>
                <a:spcPct val="157000"/>
              </a:lnSpc>
              <a:spcBef>
                <a:spcPts val="800"/>
              </a:spcBef>
              <a:buSzTx/>
              <a:buNone/>
            </a:pPr>
            <a:r>
              <a:rPr lang="en-US" altLang="zh-CN"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2025</a:t>
            </a:r>
            <a:r>
              <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年自然资源部、农业农村部联合发布的《永久基本农田保护红线管理办法》建立了永久基本农田</a:t>
            </a:r>
            <a:r>
              <a:rPr lang="en-US" altLang="zh-CN"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优进劣出</a:t>
            </a:r>
            <a:r>
              <a:rPr lang="en-US" altLang="zh-CN"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动态调整机制，其核心判别依据即为适宜性评价成果。</a:t>
            </a:r>
            <a:endPar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565150" algn="l">
              <a:lnSpc>
                <a:spcPct val="157000"/>
              </a:lnSpc>
              <a:spcBef>
                <a:spcPts val="800"/>
              </a:spcBef>
              <a:buSzTx/>
              <a:buNone/>
            </a:pPr>
            <a:r>
              <a:rPr lang="en-US" altLang="zh-CN"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2026</a:t>
            </a:r>
            <a:r>
              <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年农业农村部《实施意见》再次强调加快形成和用好第三次全国土壤普查成果。上述文件标志着耕地保护已从</a:t>
            </a:r>
            <a:r>
              <a:rPr lang="en-US" altLang="zh-CN"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守住数量</a:t>
            </a:r>
            <a:r>
              <a:rPr lang="en-US" altLang="zh-CN"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转向</a:t>
            </a:r>
            <a:r>
              <a:rPr lang="en-US" altLang="zh-CN"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优化布局、提升质量</a:t>
            </a:r>
            <a:r>
              <a:rPr lang="en-US" altLang="zh-CN"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的新阶段。</a:t>
            </a:r>
            <a:endPar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0" y="0"/>
            <a:ext cx="12192000" cy="93980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889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02 </a:t>
            </a:r>
            <a:r>
              <a:rPr lang="en-US" sz="3600" b="1">
                <a:solidFill>
                  <a:srgbClr val="FFFFFF"/>
                </a:solidFill>
                <a:latin typeface="微软雅黑" panose="020B0503020204020204" charset="-122"/>
                <a:ea typeface="微软雅黑" panose="020B0503020204020204" charset="-122"/>
                <a:cs typeface="微软雅黑" panose="020B0503020204020204" charset="-122"/>
              </a:rPr>
              <a:t>土壤农业利用适宜性评价的重大意义</a:t>
            </a:r>
            <a:endParaRPr lang="en-US" sz="3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AutoShape 6"/>
          <p:cNvSpPr/>
          <p:nvPr/>
        </p:nvSpPr>
        <p:spPr>
          <a:xfrm>
            <a:off x="381000" y="1206500"/>
            <a:ext cx="11303000" cy="4976495"/>
          </a:xfrm>
          <a:prstGeom prst="roundRect">
            <a:avLst>
              <a:gd name="adj" fmla="val 3030"/>
            </a:avLst>
          </a:prstGeom>
          <a:solidFill>
            <a:srgbClr val="FFFFFF">
              <a:alpha val="95000"/>
            </a:srgbClr>
          </a:solidFill>
          <a:ln w="25400" cap="flat" cmpd="sng">
            <a:noFill/>
            <a:prstDash val="solid"/>
            <a:round/>
          </a:ln>
          <a:effectLst>
            <a:outerShdw blurRad="127000" dist="50800" dir="2700000" algn="tl" rotWithShape="0">
              <a:srgbClr val="000000">
                <a:alpha val="15000"/>
              </a:srgbClr>
            </a:outerShdw>
          </a:effectLst>
        </p:spPr>
        <p:txBody>
          <a:bodyPr vert="horz" wrap="square" lIns="0" tIns="0" rIns="0" bIns="0" rtlCol="0" anchor="ctr" anchorCtr="0"/>
          <a:lstStyle/>
          <a:p>
            <a:pPr algn="ctr">
              <a:defRPr/>
            </a:pPr>
          </a:p>
        </p:txBody>
      </p:sp>
      <p:sp>
        <p:nvSpPr>
          <p:cNvPr id="7" name="AutoShape 7"/>
          <p:cNvSpPr/>
          <p:nvPr/>
        </p:nvSpPr>
        <p:spPr>
          <a:xfrm>
            <a:off x="381000" y="1040130"/>
            <a:ext cx="4720590" cy="635000"/>
          </a:xfrm>
          <a:prstGeom prst="roundRect">
            <a:avLst>
              <a:gd name="adj" fmla="val 2000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35000" y="1103630"/>
            <a:ext cx="435483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400" b="1">
                <a:solidFill>
                  <a:srgbClr val="FFFFFF"/>
                </a:solidFill>
                <a:latin typeface="微软雅黑" panose="020B0503020204020204" charset="-122"/>
                <a:ea typeface="微软雅黑" panose="020B0503020204020204" charset="-122"/>
                <a:cs typeface="微软雅黑" panose="020B0503020204020204" charset="-122"/>
              </a:rPr>
              <a:t>三、评价的核心内涵与三大功能</a:t>
            </a:r>
            <a:endParaRPr lang="zh-CN" altLang="en-US" sz="24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 name="AutoShape 9"/>
          <p:cNvSpPr/>
          <p:nvPr/>
        </p:nvSpPr>
        <p:spPr>
          <a:xfrm>
            <a:off x="428625" y="1744345"/>
            <a:ext cx="5718175" cy="3737610"/>
          </a:xfrm>
          <a:prstGeom prst="rect">
            <a:avLst/>
          </a:prstGeom>
          <a:noFill/>
          <a:ln w="12700" cap="flat" cmpd="sng">
            <a:noFill/>
            <a:prstDash val="solid"/>
            <a:round/>
          </a:ln>
        </p:spPr>
        <p:txBody>
          <a:bodyPr vert="horz" wrap="square" lIns="0" tIns="0" rIns="0" bIns="0" rtlCol="0" anchor="t" anchorCtr="0"/>
          <a:lstStyle/>
          <a:p>
            <a:pPr indent="565150" algn="just">
              <a:lnSpc>
                <a:spcPct val="167000"/>
              </a:lnSpc>
              <a:spcBef>
                <a:spcPts val="800"/>
              </a:spcBef>
              <a:buSzTx/>
              <a:buNone/>
            </a:pPr>
            <a:r>
              <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根据《第三次全国土壤普查土壤农业利用适宜性评价技术规范》，本项评价立足土壤资源本底，结合气候、地形、侵蚀、水资源等自然要素，评定土壤对耕地、园地、林地、草地的适宜性及适宜程度。</a:t>
            </a:r>
            <a:r>
              <a:rPr lang="zh-CN" altLang="en-US" sz="2000" b="0"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三大核心功能</a:t>
            </a:r>
            <a:r>
              <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直接支撑了</a:t>
            </a:r>
            <a:r>
              <a:rPr lang="en-US" altLang="zh-CN"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良田粮用</a:t>
            </a:r>
            <a:r>
              <a:rPr lang="en-US" altLang="zh-CN"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果树苗木上山上坡</a:t>
            </a:r>
            <a:r>
              <a:rPr lang="en-US" altLang="zh-CN"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不适宜耕地退耕还林还草</a:t>
            </a:r>
            <a:r>
              <a:rPr lang="en-US" altLang="zh-CN"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等国家战略要求的落地实施。</a:t>
            </a:r>
            <a:endParaRPr lang="zh-CN" altLang="en-US" sz="2000" b="0"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26" name="组合 25"/>
          <p:cNvGrpSpPr/>
          <p:nvPr/>
        </p:nvGrpSpPr>
        <p:grpSpPr>
          <a:xfrm>
            <a:off x="6287770" y="1243330"/>
            <a:ext cx="5358765" cy="4973955"/>
            <a:chOff x="9723" y="2460"/>
            <a:chExt cx="8439" cy="7833"/>
          </a:xfrm>
        </p:grpSpPr>
        <p:sp>
          <p:nvSpPr>
            <p:cNvPr id="21" name="AutoShape 9"/>
            <p:cNvSpPr/>
            <p:nvPr/>
          </p:nvSpPr>
          <p:spPr>
            <a:xfrm>
              <a:off x="9723" y="2460"/>
              <a:ext cx="8439" cy="7833"/>
            </a:xfrm>
            <a:prstGeom prst="roundRect">
              <a:avLst>
                <a:gd name="adj" fmla="val 3015"/>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3" name="AutoShape 11"/>
            <p:cNvSpPr/>
            <p:nvPr/>
          </p:nvSpPr>
          <p:spPr>
            <a:xfrm>
              <a:off x="9977" y="2606"/>
              <a:ext cx="6000" cy="64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三大核心功能</a:t>
              </a:r>
              <a:endParaRPr lang="en-US" sz="2400" b="1"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4" name="AutoShape 12"/>
            <p:cNvSpPr/>
            <p:nvPr/>
          </p:nvSpPr>
          <p:spPr>
            <a:xfrm>
              <a:off x="9903" y="3468"/>
              <a:ext cx="8050" cy="1805"/>
            </a:xfrm>
            <a:prstGeom prst="roundRect">
              <a:avLst>
                <a:gd name="adj" fmla="val 7692"/>
              </a:avLst>
            </a:prstGeom>
            <a:solidFill>
              <a:srgbClr val="EFF6FF">
                <a:alpha val="100000"/>
              </a:srgbClr>
            </a:solidFill>
            <a:ln w="25400" cap="flat" cmpd="sng">
              <a:noFill/>
              <a:prstDash val="solid"/>
              <a:round/>
            </a:ln>
          </p:spPr>
          <p:txBody>
            <a:bodyPr vert="horz" wrap="square" lIns="0" tIns="0" rIns="0" bIns="0" rtlCol="0" anchor="ctr" anchorCtr="0"/>
            <a:lstStyle/>
            <a:p>
              <a:pPr algn="ctr">
                <a:defRPr/>
              </a:pPr>
            </a:p>
          </p:txBody>
        </p:sp>
        <p:pic>
          <p:nvPicPr>
            <p:cNvPr id="25" name="Picture 1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977" y="3480"/>
              <a:ext cx="720" cy="720"/>
            </a:xfrm>
            <a:prstGeom prst="rect">
              <a:avLst/>
            </a:prstGeom>
          </p:spPr>
        </p:pic>
        <p:sp>
          <p:nvSpPr>
            <p:cNvPr id="27" name="AutoShape 14"/>
            <p:cNvSpPr/>
            <p:nvPr/>
          </p:nvSpPr>
          <p:spPr>
            <a:xfrm>
              <a:off x="10853" y="3200"/>
              <a:ext cx="7148" cy="2200"/>
            </a:xfrm>
            <a:prstGeom prst="rect">
              <a:avLst/>
            </a:prstGeom>
            <a:noFill/>
            <a:ln w="12700" cap="flat" cmpd="sng">
              <a:noFill/>
              <a:prstDash val="solid"/>
              <a:round/>
            </a:ln>
          </p:spPr>
          <p:txBody>
            <a:bodyPr vert="horz" wrap="square" lIns="0" tIns="63500" rIns="127000" bIns="63500" rtlCol="0" anchor="ctr" anchorCtr="0"/>
            <a:lstStyle/>
            <a:p>
              <a:pPr algn="l">
                <a:lnSpc>
                  <a:spcPct val="108000"/>
                </a:lnSpc>
                <a:buSzTx/>
                <a:defRPr/>
              </a:pPr>
              <a:r>
                <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定类型：</a:t>
              </a:r>
              <a:br>
                <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800">
                  <a:solidFill>
                    <a:srgbClr val="4B5563"/>
                  </a:solidFill>
                  <a:latin typeface="微软雅黑" panose="020B0503020204020204" charset="-122"/>
                  <a:ea typeface="微软雅黑" panose="020B0503020204020204" charset="-122"/>
                  <a:cs typeface="微软雅黑" panose="020B0503020204020204" charset="-122"/>
                </a:rPr>
                <a:t>明确耕地、林地、草地合理边界，从源头避免土地利用与自然禀赋错配。</a:t>
              </a:r>
              <a:endParaRPr lang="en-US" sz="1800">
                <a:solidFill>
                  <a:srgbClr val="4B5563"/>
                </a:solidFill>
                <a:latin typeface="微软雅黑" panose="020B0503020204020204" charset="-122"/>
                <a:ea typeface="微软雅黑" panose="020B0503020204020204" charset="-122"/>
                <a:cs typeface="微软雅黑" panose="020B0503020204020204" charset="-122"/>
              </a:endParaRPr>
            </a:p>
          </p:txBody>
        </p:sp>
        <p:sp>
          <p:nvSpPr>
            <p:cNvPr id="28" name="AutoShape 12"/>
            <p:cNvSpPr/>
            <p:nvPr/>
          </p:nvSpPr>
          <p:spPr>
            <a:xfrm>
              <a:off x="9904" y="5527"/>
              <a:ext cx="8050" cy="2392"/>
            </a:xfrm>
            <a:prstGeom prst="roundRect">
              <a:avLst>
                <a:gd name="adj" fmla="val 7692"/>
              </a:avLst>
            </a:prstGeom>
            <a:solidFill>
              <a:srgbClr val="EFF6FF">
                <a:alpha val="100000"/>
              </a:srgbClr>
            </a:solidFill>
            <a:ln w="25400" cap="flat" cmpd="sng">
              <a:noFill/>
              <a:prstDash val="solid"/>
              <a:round/>
            </a:ln>
          </p:spPr>
          <p:txBody>
            <a:bodyPr vert="horz" wrap="square" lIns="0" tIns="0" rIns="0" bIns="0" rtlCol="0" anchor="ctr" anchorCtr="0"/>
            <a:lstStyle/>
            <a:p>
              <a:pPr algn="ctr">
                <a:defRPr/>
              </a:pPr>
            </a:p>
          </p:txBody>
        </p:sp>
        <p:sp>
          <p:nvSpPr>
            <p:cNvPr id="29" name="AutoShape 17"/>
            <p:cNvSpPr/>
            <p:nvPr/>
          </p:nvSpPr>
          <p:spPr>
            <a:xfrm>
              <a:off x="10853" y="5610"/>
              <a:ext cx="7194" cy="2200"/>
            </a:xfrm>
            <a:prstGeom prst="rect">
              <a:avLst/>
            </a:prstGeom>
            <a:noFill/>
            <a:ln w="12700" cap="flat" cmpd="sng">
              <a:noFill/>
              <a:prstDash val="solid"/>
              <a:round/>
            </a:ln>
          </p:spPr>
          <p:txBody>
            <a:bodyPr vert="horz" wrap="square" lIns="0" tIns="63500" rIns="127000" bIns="63500" rtlCol="0" anchor="ctr" anchorCtr="0"/>
            <a:lstStyle/>
            <a:p>
              <a:pPr algn="l">
                <a:lnSpc>
                  <a:spcPct val="108000"/>
                </a:lnSpc>
                <a:buSzTx/>
                <a:defRPr/>
              </a:pPr>
              <a:r>
                <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分程度：</a:t>
              </a:r>
              <a:endPar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l">
                <a:lnSpc>
                  <a:spcPct val="108000"/>
                </a:lnSpc>
                <a:buSzTx/>
                <a:defRPr/>
              </a:pPr>
              <a:r>
                <a:rPr lang="en-US" sz="1800">
                  <a:solidFill>
                    <a:srgbClr val="4B5563"/>
                  </a:solidFill>
                  <a:latin typeface="微软雅黑" panose="020B0503020204020204" charset="-122"/>
                  <a:ea typeface="微软雅黑" panose="020B0503020204020204" charset="-122"/>
                  <a:cs typeface="微软雅黑" panose="020B0503020204020204" charset="-122"/>
                </a:rPr>
                <a:t>  将宜耕土地划分为高度适宜、中度适宜、勉强适宜三级，分别对应永久基本农田保护、土壤改良、种植结构调整等不同管理策略。</a:t>
              </a:r>
              <a:endParaRPr lang="en-US" sz="1800">
                <a:solidFill>
                  <a:srgbClr val="4B5563"/>
                </a:solidFill>
                <a:latin typeface="微软雅黑" panose="020B0503020204020204" charset="-122"/>
                <a:ea typeface="微软雅黑" panose="020B0503020204020204" charset="-122"/>
                <a:cs typeface="微软雅黑" panose="020B0503020204020204" charset="-122"/>
              </a:endParaRPr>
            </a:p>
          </p:txBody>
        </p:sp>
        <p:pic>
          <p:nvPicPr>
            <p:cNvPr id="30" name="Picture 1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77" y="5738"/>
              <a:ext cx="720" cy="720"/>
            </a:xfrm>
            <a:prstGeom prst="rect">
              <a:avLst/>
            </a:prstGeom>
          </p:spPr>
        </p:pic>
        <p:sp>
          <p:nvSpPr>
            <p:cNvPr id="31" name="AutoShape 12"/>
            <p:cNvSpPr/>
            <p:nvPr/>
          </p:nvSpPr>
          <p:spPr>
            <a:xfrm>
              <a:off x="9889" y="8035"/>
              <a:ext cx="8050" cy="1923"/>
            </a:xfrm>
            <a:prstGeom prst="roundRect">
              <a:avLst>
                <a:gd name="adj" fmla="val 7692"/>
              </a:avLst>
            </a:prstGeom>
            <a:solidFill>
              <a:srgbClr val="EFF6FF">
                <a:alpha val="100000"/>
              </a:srgbClr>
            </a:solidFill>
            <a:ln w="25400" cap="flat" cmpd="sng">
              <a:noFill/>
              <a:prstDash val="solid"/>
              <a:round/>
            </a:ln>
          </p:spPr>
          <p:txBody>
            <a:bodyPr vert="horz" wrap="square" lIns="0" tIns="0" rIns="0" bIns="0" rtlCol="0" anchor="ctr" anchorCtr="0"/>
            <a:lstStyle/>
            <a:p>
              <a:pPr algn="ctr">
                <a:defRPr/>
              </a:pPr>
            </a:p>
          </p:txBody>
        </p:sp>
        <p:sp>
          <p:nvSpPr>
            <p:cNvPr id="32" name="AutoShape 17"/>
            <p:cNvSpPr/>
            <p:nvPr/>
          </p:nvSpPr>
          <p:spPr>
            <a:xfrm>
              <a:off x="10909" y="7810"/>
              <a:ext cx="7194" cy="2200"/>
            </a:xfrm>
            <a:prstGeom prst="rect">
              <a:avLst/>
            </a:prstGeom>
            <a:noFill/>
            <a:ln w="12700" cap="flat" cmpd="sng">
              <a:noFill/>
              <a:prstDash val="solid"/>
              <a:round/>
            </a:ln>
          </p:spPr>
          <p:txBody>
            <a:bodyPr vert="horz" wrap="square" lIns="0" tIns="63500" rIns="127000" bIns="63500" rtlCol="0" anchor="ctr" anchorCtr="0"/>
            <a:lstStyle/>
            <a:p>
              <a:pPr algn="l">
                <a:lnSpc>
                  <a:spcPct val="108000"/>
                </a:lnSpc>
                <a:buSzTx/>
                <a:defRPr/>
              </a:pPr>
              <a:r>
                <a:rPr lang="zh-CN" alt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找障碍：</a:t>
              </a:r>
              <a:endParaRPr lang="zh-CN" alt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l">
                <a:lnSpc>
                  <a:spcPct val="108000"/>
                </a:lnSpc>
                <a:buSzTx/>
                <a:defRPr/>
              </a:pPr>
              <a:r>
                <a:rPr lang="en-US" altLang="zh-CN" sz="1800">
                  <a:solidFill>
                    <a:srgbClr val="4B5563"/>
                  </a:solidFill>
                  <a:latin typeface="微软雅黑" panose="020B0503020204020204" charset="-122"/>
                  <a:ea typeface="微软雅黑" panose="020B0503020204020204" charset="-122"/>
                  <a:cs typeface="微软雅黑" panose="020B0503020204020204" charset="-122"/>
                </a:rPr>
                <a:t>  </a:t>
              </a:r>
              <a:r>
                <a:rPr lang="zh-CN" altLang="en-US" sz="1800">
                  <a:solidFill>
                    <a:srgbClr val="4B5563"/>
                  </a:solidFill>
                  <a:latin typeface="微软雅黑" panose="020B0503020204020204" charset="-122"/>
                  <a:ea typeface="微软雅黑" panose="020B0503020204020204" charset="-122"/>
                  <a:cs typeface="微软雅黑" panose="020B0503020204020204" charset="-122"/>
                </a:rPr>
                <a:t>精准识别坡度超标、土层薄、盐碱化等限制因素，指导耕地改良与补充耕地选址。</a:t>
              </a:r>
              <a:endParaRPr lang="zh-CN" altLang="en-US" sz="1800">
                <a:solidFill>
                  <a:srgbClr val="4B5563"/>
                </a:solidFill>
                <a:latin typeface="微软雅黑" panose="020B0503020204020204" charset="-122"/>
                <a:ea typeface="微软雅黑" panose="020B0503020204020204" charset="-122"/>
                <a:cs typeface="微软雅黑" panose="020B0503020204020204" charset="-122"/>
              </a:endParaRPr>
            </a:p>
          </p:txBody>
        </p:sp>
        <p:pic>
          <p:nvPicPr>
            <p:cNvPr id="33"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76" y="8173"/>
              <a:ext cx="720" cy="720"/>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0"/>
          </a:xfrm>
          <a:prstGeom prst="roundRect">
            <a:avLst>
              <a:gd name="adj" fmla="val 0"/>
            </a:avLst>
          </a:prstGeom>
          <a:solidFill>
            <a:srgbClr val="32478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03 </a:t>
            </a:r>
            <a:r>
              <a:rPr lang="en-US" sz="3600" b="1">
                <a:solidFill>
                  <a:srgbClr val="FFFFFF"/>
                </a:solidFill>
                <a:latin typeface="微软雅黑" panose="020B0503020204020204" charset="-122"/>
                <a:ea typeface="微软雅黑" panose="020B0503020204020204" charset="-122"/>
                <a:cs typeface="微软雅黑" panose="020B0503020204020204" charset="-122"/>
              </a:rPr>
              <a:t>前期县级成果和市级汇总问题</a:t>
            </a:r>
            <a:endParaRPr lang="en-US" sz="3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AutoShape 3"/>
          <p:cNvSpPr/>
          <p:nvPr/>
        </p:nvSpPr>
        <p:spPr>
          <a:xfrm>
            <a:off x="596900" y="1219200"/>
            <a:ext cx="10820400" cy="5295900"/>
          </a:xfrm>
          <a:prstGeom prst="roundRect">
            <a:avLst>
              <a:gd name="adj" fmla="val 3117"/>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0" tIns="0" rIns="0" bIns="0" rtlCol="0" anchor="ctr" anchorCtr="0"/>
          <a:lstStyle/>
          <a:p>
            <a:pPr algn="ctr">
              <a:defRPr/>
            </a:pPr>
          </a:p>
        </p:txBody>
      </p:sp>
      <p:sp>
        <p:nvSpPr>
          <p:cNvPr id="4" name="AutoShape 4"/>
          <p:cNvSpPr/>
          <p:nvPr/>
        </p:nvSpPr>
        <p:spPr>
          <a:xfrm>
            <a:off x="850900" y="1348740"/>
            <a:ext cx="1031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panose="020B0503020204020204" charset="-122"/>
                <a:ea typeface="微软雅黑" panose="020B0503020204020204" charset="-122"/>
                <a:cs typeface="微软雅黑" panose="020B0503020204020204" charset="-122"/>
                <a:sym typeface="微软雅黑" panose="020B0503020204020204" charset="-122"/>
              </a:rPr>
              <a:t>▍ 总体评价</a:t>
            </a:r>
            <a:endParaRPr lang="en-US" sz="1100"/>
          </a:p>
        </p:txBody>
      </p:sp>
      <p:sp>
        <p:nvSpPr>
          <p:cNvPr id="5" name="AutoShape 5"/>
          <p:cNvSpPr/>
          <p:nvPr/>
        </p:nvSpPr>
        <p:spPr>
          <a:xfrm>
            <a:off x="850900" y="1789430"/>
            <a:ext cx="10312400" cy="635000"/>
          </a:xfrm>
          <a:prstGeom prst="rect">
            <a:avLst/>
          </a:prstGeom>
          <a:noFill/>
          <a:ln w="12700" cap="flat" cmpd="sng">
            <a:noFill/>
            <a:prstDash val="solid"/>
            <a:round/>
          </a:ln>
        </p:spPr>
        <p:txBody>
          <a:bodyPr vert="horz" wrap="square" lIns="0" tIns="0" rIns="0" bIns="0" rtlCol="0" anchor="ctr" anchorCtr="0"/>
          <a:lstStyle/>
          <a:p>
            <a:pPr marL="0" indent="539750" algn="l" eaLnBrk="1" fontAlgn="auto" latinLnBrk="0" hangingPunct="1">
              <a:lnSpc>
                <a:spcPct val="117000"/>
              </a:lnSpc>
              <a:defRPr/>
            </a:pPr>
            <a:r>
              <a:rPr lang="en-US" sz="1800">
                <a:solidFill>
                  <a:srgbClr val="4B5563"/>
                </a:solidFill>
                <a:latin typeface="微软雅黑" panose="020B0503020204020204" charset="-122"/>
                <a:ea typeface="微软雅黑" panose="020B0503020204020204" charset="-122"/>
                <a:cs typeface="微软雅黑" panose="020B0503020204020204" charset="-122"/>
              </a:rPr>
              <a:t>专题组通过参加部分省各地的县级成果和市级汇总的线下或线上会议，总体评价是工作取得阶段性进展，但以下</a:t>
            </a:r>
            <a:r>
              <a:rPr lang="en-US" sz="1800">
                <a:solidFill>
                  <a:srgbClr val="C00000"/>
                </a:solidFill>
                <a:latin typeface="微软雅黑" panose="020B0503020204020204" charset="-122"/>
                <a:ea typeface="微软雅黑" panose="020B0503020204020204" charset="-122"/>
                <a:cs typeface="微软雅黑" panose="020B0503020204020204" charset="-122"/>
              </a:rPr>
              <a:t>六类问题</a:t>
            </a:r>
            <a:r>
              <a:rPr lang="en-US" sz="1800">
                <a:solidFill>
                  <a:srgbClr val="4B5563"/>
                </a:solidFill>
                <a:latin typeface="微软雅黑" panose="020B0503020204020204" charset="-122"/>
                <a:ea typeface="微软雅黑" panose="020B0503020204020204" charset="-122"/>
                <a:cs typeface="微软雅黑" panose="020B0503020204020204" charset="-122"/>
              </a:rPr>
              <a:t>较为突出，必须予以纠正。</a:t>
            </a:r>
            <a:endParaRPr lang="en-US" sz="1800">
              <a:solidFill>
                <a:srgbClr val="4B5563"/>
              </a:solidFill>
              <a:latin typeface="微软雅黑" panose="020B0503020204020204" charset="-122"/>
              <a:ea typeface="微软雅黑" panose="020B0503020204020204" charset="-122"/>
              <a:cs typeface="微软雅黑" panose="020B0503020204020204" charset="-122"/>
            </a:endParaRPr>
          </a:p>
        </p:txBody>
      </p:sp>
      <p:sp>
        <p:nvSpPr>
          <p:cNvPr id="6" name="AutoShape 6"/>
          <p:cNvSpPr/>
          <p:nvPr/>
        </p:nvSpPr>
        <p:spPr>
          <a:xfrm>
            <a:off x="850900" y="2794000"/>
            <a:ext cx="1031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3366"/>
                </a:solidFill>
                <a:latin typeface="微软雅黑" panose="020B0503020204020204" charset="-122"/>
                <a:ea typeface="微软雅黑" panose="020B0503020204020204" charset="-122"/>
                <a:cs typeface="微软雅黑" panose="020B0503020204020204" charset="-122"/>
                <a:sym typeface="微软雅黑" panose="020B0503020204020204" charset="-122"/>
              </a:rPr>
              <a:t>▍ 问题清单</a:t>
            </a:r>
            <a:endParaRPr lang="en-US" sz="1100"/>
          </a:p>
        </p:txBody>
      </p:sp>
      <p:sp>
        <p:nvSpPr>
          <p:cNvPr id="7" name="AutoShape 7"/>
          <p:cNvSpPr/>
          <p:nvPr>
            <p:custDataLst>
              <p:tags r:id="rId1"/>
            </p:custDataLst>
          </p:nvPr>
        </p:nvSpPr>
        <p:spPr>
          <a:xfrm>
            <a:off x="850900" y="3302000"/>
            <a:ext cx="4953000" cy="952500"/>
          </a:xfrm>
          <a:prstGeom prst="roundRect">
            <a:avLst>
              <a:gd name="adj" fmla="val 13333"/>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2"/>
            </p:custDataLst>
          </p:nvPr>
        </p:nvSpPr>
        <p:spPr>
          <a:xfrm>
            <a:off x="850900" y="3302000"/>
            <a:ext cx="635000" cy="952500"/>
          </a:xfrm>
          <a:prstGeom prst="roundRect">
            <a:avLst>
              <a:gd name="adj" fmla="val 20000"/>
            </a:avLst>
          </a:prstGeom>
          <a:solidFill>
            <a:srgbClr val="32478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lang="en-US" sz="1100"/>
          </a:p>
        </p:txBody>
      </p:sp>
      <p:sp>
        <p:nvSpPr>
          <p:cNvPr id="9" name="AutoShape 9"/>
          <p:cNvSpPr/>
          <p:nvPr>
            <p:custDataLst>
              <p:tags r:id="rId3"/>
            </p:custDataLst>
          </p:nvPr>
        </p:nvSpPr>
        <p:spPr>
          <a:xfrm>
            <a:off x="1612900" y="3365500"/>
            <a:ext cx="4064000" cy="825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评价结果与国土变更调查耕地数据强行一致</a:t>
            </a:r>
            <a:endParaRPr lang="en-US" sz="18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AutoShape 10"/>
          <p:cNvSpPr/>
          <p:nvPr>
            <p:custDataLst>
              <p:tags r:id="rId4"/>
            </p:custDataLst>
          </p:nvPr>
        </p:nvSpPr>
        <p:spPr>
          <a:xfrm>
            <a:off x="850900" y="4381500"/>
            <a:ext cx="4953000" cy="952500"/>
          </a:xfrm>
          <a:prstGeom prst="roundRect">
            <a:avLst>
              <a:gd name="adj" fmla="val 13333"/>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5"/>
            </p:custDataLst>
          </p:nvPr>
        </p:nvSpPr>
        <p:spPr>
          <a:xfrm>
            <a:off x="850900" y="4381500"/>
            <a:ext cx="635000" cy="952500"/>
          </a:xfrm>
          <a:prstGeom prst="roundRect">
            <a:avLst>
              <a:gd name="adj" fmla="val 20000"/>
            </a:avLst>
          </a:prstGeom>
          <a:solidFill>
            <a:srgbClr val="32478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lang="en-US" sz="1100"/>
          </a:p>
        </p:txBody>
      </p:sp>
      <p:sp>
        <p:nvSpPr>
          <p:cNvPr id="12" name="AutoShape 12"/>
          <p:cNvSpPr/>
          <p:nvPr>
            <p:custDataLst>
              <p:tags r:id="rId6"/>
            </p:custDataLst>
          </p:nvPr>
        </p:nvSpPr>
        <p:spPr>
          <a:xfrm>
            <a:off x="1612900" y="4445000"/>
            <a:ext cx="4064000" cy="825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限制性因素选取、数据源及分级标准存在偏差</a:t>
            </a:r>
            <a:endParaRPr lang="en-US" sz="18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AutoShape 13"/>
          <p:cNvSpPr/>
          <p:nvPr>
            <p:custDataLst>
              <p:tags r:id="rId7"/>
            </p:custDataLst>
          </p:nvPr>
        </p:nvSpPr>
        <p:spPr>
          <a:xfrm>
            <a:off x="850900" y="5461000"/>
            <a:ext cx="4953000" cy="889000"/>
          </a:xfrm>
          <a:prstGeom prst="roundRect">
            <a:avLst>
              <a:gd name="adj" fmla="val 14285"/>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8"/>
            </p:custDataLst>
          </p:nvPr>
        </p:nvSpPr>
        <p:spPr>
          <a:xfrm>
            <a:off x="850900" y="5461000"/>
            <a:ext cx="635000" cy="889000"/>
          </a:xfrm>
          <a:prstGeom prst="roundRect">
            <a:avLst>
              <a:gd name="adj" fmla="val 20000"/>
            </a:avLst>
          </a:prstGeom>
          <a:solidFill>
            <a:srgbClr val="32478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lang="en-US" sz="1100"/>
          </a:p>
        </p:txBody>
      </p:sp>
      <p:sp>
        <p:nvSpPr>
          <p:cNvPr id="15" name="AutoShape 15"/>
          <p:cNvSpPr/>
          <p:nvPr>
            <p:custDataLst>
              <p:tags r:id="rId9"/>
            </p:custDataLst>
          </p:nvPr>
        </p:nvSpPr>
        <p:spPr>
          <a:xfrm>
            <a:off x="1612900" y="55245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a:solidFill>
                  <a:srgbClr val="374151"/>
                </a:solidFill>
                <a:latin typeface="微软雅黑" panose="020B0503020204020204" charset="-122"/>
                <a:ea typeface="微软雅黑" panose="020B0503020204020204" charset="-122"/>
                <a:cs typeface="微软雅黑" panose="020B0503020204020204" charset="-122"/>
              </a:rPr>
              <a:t>评价单元处理不规范，图斑细碎化严重</a:t>
            </a:r>
            <a:endParaRPr lang="en-US" sz="1800">
              <a:solidFill>
                <a:srgbClr val="374151"/>
              </a:solidFill>
              <a:latin typeface="微软雅黑" panose="020B0503020204020204" charset="-122"/>
              <a:ea typeface="微软雅黑" panose="020B0503020204020204" charset="-122"/>
              <a:cs typeface="微软雅黑" panose="020B0503020204020204" charset="-122"/>
            </a:endParaRPr>
          </a:p>
        </p:txBody>
      </p:sp>
      <p:sp>
        <p:nvSpPr>
          <p:cNvPr id="16" name="AutoShape 16"/>
          <p:cNvSpPr/>
          <p:nvPr>
            <p:custDataLst>
              <p:tags r:id="rId10"/>
            </p:custDataLst>
          </p:nvPr>
        </p:nvSpPr>
        <p:spPr>
          <a:xfrm>
            <a:off x="5994400" y="3302000"/>
            <a:ext cx="4953000" cy="952500"/>
          </a:xfrm>
          <a:prstGeom prst="roundRect">
            <a:avLst>
              <a:gd name="adj" fmla="val 13333"/>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1"/>
            </p:custDataLst>
          </p:nvPr>
        </p:nvSpPr>
        <p:spPr>
          <a:xfrm>
            <a:off x="5994400" y="3302000"/>
            <a:ext cx="635000" cy="952500"/>
          </a:xfrm>
          <a:prstGeom prst="roundRect">
            <a:avLst>
              <a:gd name="adj" fmla="val 20000"/>
            </a:avLst>
          </a:prstGeom>
          <a:solidFill>
            <a:srgbClr val="32478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04</a:t>
            </a:r>
            <a:endParaRPr lang="en-US" sz="1100"/>
          </a:p>
        </p:txBody>
      </p:sp>
      <p:sp>
        <p:nvSpPr>
          <p:cNvPr id="18" name="AutoShape 18"/>
          <p:cNvSpPr/>
          <p:nvPr>
            <p:custDataLst>
              <p:tags r:id="rId12"/>
            </p:custDataLst>
          </p:nvPr>
        </p:nvSpPr>
        <p:spPr>
          <a:xfrm>
            <a:off x="6756400" y="3365500"/>
            <a:ext cx="4064000" cy="825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适宜类判定逻辑</a:t>
            </a:r>
            <a:r>
              <a:rPr lang="zh-CN" altLang="en-US" sz="18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错误</a:t>
            </a:r>
            <a:endParaRPr lang="zh-CN" altLang="en-US" sz="18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AutoShape 19"/>
          <p:cNvSpPr/>
          <p:nvPr>
            <p:custDataLst>
              <p:tags r:id="rId13"/>
            </p:custDataLst>
          </p:nvPr>
        </p:nvSpPr>
        <p:spPr>
          <a:xfrm>
            <a:off x="5994400" y="4381500"/>
            <a:ext cx="4953000" cy="952500"/>
          </a:xfrm>
          <a:prstGeom prst="roundRect">
            <a:avLst>
              <a:gd name="adj" fmla="val 13333"/>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custDataLst>
              <p:tags r:id="rId14"/>
            </p:custDataLst>
          </p:nvPr>
        </p:nvSpPr>
        <p:spPr>
          <a:xfrm>
            <a:off x="5994400" y="4381500"/>
            <a:ext cx="635000" cy="952500"/>
          </a:xfrm>
          <a:prstGeom prst="roundRect">
            <a:avLst>
              <a:gd name="adj" fmla="val 20000"/>
            </a:avLst>
          </a:prstGeom>
          <a:solidFill>
            <a:srgbClr val="32478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05</a:t>
            </a:r>
            <a:endParaRPr lang="en-US" sz="1100"/>
          </a:p>
        </p:txBody>
      </p:sp>
      <p:sp>
        <p:nvSpPr>
          <p:cNvPr id="21" name="AutoShape 21"/>
          <p:cNvSpPr/>
          <p:nvPr>
            <p:custDataLst>
              <p:tags r:id="rId15"/>
            </p:custDataLst>
          </p:nvPr>
        </p:nvSpPr>
        <p:spPr>
          <a:xfrm>
            <a:off x="6756400" y="4445000"/>
            <a:ext cx="4064000" cy="825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a:solidFill>
                  <a:srgbClr val="374151"/>
                </a:solidFill>
                <a:latin typeface="微软雅黑" panose="020B0503020204020204" charset="-122"/>
                <a:ea typeface="微软雅黑" panose="020B0503020204020204" charset="-122"/>
                <a:cs typeface="微软雅黑" panose="020B0503020204020204" charset="-122"/>
              </a:rPr>
              <a:t>成果验证流于形式，行政干预评价结果</a:t>
            </a:r>
            <a:endParaRPr lang="en-US" sz="1800">
              <a:solidFill>
                <a:srgbClr val="374151"/>
              </a:solidFill>
              <a:latin typeface="微软雅黑" panose="020B0503020204020204" charset="-122"/>
              <a:ea typeface="微软雅黑" panose="020B0503020204020204" charset="-122"/>
              <a:cs typeface="微软雅黑" panose="020B0503020204020204" charset="-122"/>
            </a:endParaRPr>
          </a:p>
        </p:txBody>
      </p:sp>
      <p:sp>
        <p:nvSpPr>
          <p:cNvPr id="22" name="AutoShape 22"/>
          <p:cNvSpPr/>
          <p:nvPr>
            <p:custDataLst>
              <p:tags r:id="rId16"/>
            </p:custDataLst>
          </p:nvPr>
        </p:nvSpPr>
        <p:spPr>
          <a:xfrm>
            <a:off x="5994400" y="5461000"/>
            <a:ext cx="4953000" cy="889000"/>
          </a:xfrm>
          <a:prstGeom prst="roundRect">
            <a:avLst>
              <a:gd name="adj" fmla="val 14285"/>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custDataLst>
              <p:tags r:id="rId17"/>
            </p:custDataLst>
          </p:nvPr>
        </p:nvSpPr>
        <p:spPr>
          <a:xfrm>
            <a:off x="5994400" y="5461000"/>
            <a:ext cx="635000" cy="889000"/>
          </a:xfrm>
          <a:prstGeom prst="roundRect">
            <a:avLst>
              <a:gd name="adj" fmla="val 20000"/>
            </a:avLst>
          </a:prstGeom>
          <a:solidFill>
            <a:srgbClr val="32478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06</a:t>
            </a:r>
            <a:endParaRPr lang="en-US" sz="1100"/>
          </a:p>
        </p:txBody>
      </p:sp>
      <p:sp>
        <p:nvSpPr>
          <p:cNvPr id="24" name="AutoShape 24"/>
          <p:cNvSpPr/>
          <p:nvPr>
            <p:custDataLst>
              <p:tags r:id="rId18"/>
            </p:custDataLst>
          </p:nvPr>
        </p:nvSpPr>
        <p:spPr>
          <a:xfrm>
            <a:off x="6756400" y="55245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a:solidFill>
                  <a:srgbClr val="374151"/>
                </a:solidFill>
                <a:latin typeface="微软雅黑" panose="020B0503020204020204" charset="-122"/>
                <a:ea typeface="微软雅黑" panose="020B0503020204020204" charset="-122"/>
                <a:cs typeface="微软雅黑" panose="020B0503020204020204" charset="-122"/>
              </a:rPr>
              <a:t>市级汇总接边处理不到位</a:t>
            </a:r>
            <a:endParaRPr lang="en-US" sz="1800">
              <a:solidFill>
                <a:srgbClr val="37415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26890" r="26890"/>
          <a:stretch>
            <a:fillRect/>
          </a:stretch>
        </p:blipFill>
        <p:spPr>
          <a:xfrm>
            <a:off x="0" y="939800"/>
            <a:ext cx="12192000" cy="5918200"/>
          </a:xfrm>
          <a:prstGeom prst="rect">
            <a:avLst/>
          </a:prstGeom>
          <a:noFill/>
          <a:ln w="25400" cap="flat" cmpd="sng">
            <a:noFill/>
            <a:prstDash val="solid"/>
            <a:round/>
          </a:ln>
        </p:spPr>
      </p:pic>
      <p:sp>
        <p:nvSpPr>
          <p:cNvPr id="3" name="AutoShape 3"/>
          <p:cNvSpPr/>
          <p:nvPr/>
        </p:nvSpPr>
        <p:spPr>
          <a:xfrm>
            <a:off x="12700" y="965200"/>
            <a:ext cx="12217400" cy="5880100"/>
          </a:xfrm>
          <a:prstGeom prst="roundRect">
            <a:avLst>
              <a:gd name="adj" fmla="val 0"/>
            </a:avLst>
          </a:prstGeom>
          <a:solidFill>
            <a:srgbClr val="FFFFFF">
              <a:alpha val="72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2700" y="952500"/>
            <a:ext cx="12217400" cy="5880100"/>
          </a:xfrm>
          <a:prstGeom prst="roundRect">
            <a:avLst>
              <a:gd name="adj" fmla="val 0"/>
            </a:avLst>
          </a:prstGeom>
          <a:solidFill>
            <a:srgbClr val="FFFFFF">
              <a:alpha val="1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355600" y="1181100"/>
            <a:ext cx="11480800" cy="4191000"/>
          </a:xfrm>
          <a:prstGeom prst="roundRect">
            <a:avLst>
              <a:gd name="adj" fmla="val 0"/>
            </a:avLst>
          </a:prstGeom>
          <a:solidFill>
            <a:srgbClr val="FFFFFF">
              <a:alpha val="60000"/>
            </a:srgbClr>
          </a:solidFill>
          <a:ln w="25400" cap="flat" cmpd="sng">
            <a:solidFill>
              <a:srgbClr val="1E386B">
                <a:alpha val="100000"/>
              </a:srgbClr>
            </a:solidFill>
            <a:prstDash val="sysDash"/>
            <a:miter lim="10000000"/>
          </a:ln>
          <a:effectLst>
            <a:outerShdw blurRad="63500" algn="ctr" rotWithShape="0">
              <a:srgbClr val="000000">
                <a:alpha val="20000"/>
              </a:srgbClr>
            </a:outerShdw>
          </a:effectLst>
        </p:spPr>
        <p:txBody>
          <a:bodyPr vert="horz" wrap="square" lIns="63500" tIns="63500" rIns="63500" bIns="63500" rtlCol="0" anchor="ctr"/>
          <a:lstStyle/>
          <a:p>
            <a:pPr algn="ctr">
              <a:defRPr/>
            </a:pPr>
          </a:p>
        </p:txBody>
      </p:sp>
      <p:sp>
        <p:nvSpPr>
          <p:cNvPr id="6" name="AutoShape 6"/>
          <p:cNvSpPr/>
          <p:nvPr/>
        </p:nvSpPr>
        <p:spPr>
          <a:xfrm>
            <a:off x="0" y="0"/>
            <a:ext cx="12217400" cy="92710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381000" y="38100"/>
            <a:ext cx="11430000" cy="8509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92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问题一：</a:t>
            </a:r>
            <a:r>
              <a:rPr lang="en-US" sz="2800" b="1">
                <a:solidFill>
                  <a:srgbClr val="FFFFFF"/>
                </a:solidFill>
                <a:latin typeface="微软雅黑" panose="020B0503020204020204" charset="-122"/>
                <a:ea typeface="微软雅黑" panose="020B0503020204020204" charset="-122"/>
                <a:cs typeface="微软雅黑" panose="020B0503020204020204" charset="-122"/>
              </a:rPr>
              <a:t>评价结果与国土变更调查耕地数据强行一致</a:t>
            </a:r>
            <a:endParaRPr lang="en-US" sz="2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AutoShape 8"/>
          <p:cNvSpPr/>
          <p:nvPr/>
        </p:nvSpPr>
        <p:spPr>
          <a:xfrm>
            <a:off x="571500" y="1397000"/>
            <a:ext cx="11049000" cy="3810000"/>
          </a:xfrm>
          <a:prstGeom prst="rect">
            <a:avLst/>
          </a:prstGeom>
          <a:noFill/>
          <a:ln w="12700" cap="flat" cmpd="sng">
            <a:noFill/>
            <a:prstDash val="solid"/>
            <a:round/>
          </a:ln>
        </p:spPr>
        <p:txBody>
          <a:bodyPr vert="horz" wrap="square" lIns="127000" tIns="101600" rIns="127000" bIns="101600" rtlCol="0" anchor="t" anchorCtr="0"/>
          <a:lstStyle/>
          <a:p>
            <a:pPr indent="0" algn="just">
              <a:lnSpc>
                <a:spcPct val="108000"/>
              </a:lnSpc>
              <a:spcAft>
                <a:spcPts val="1200"/>
              </a:spcAft>
              <a:defRPr/>
            </a:pPr>
            <a:r>
              <a:rPr lang="en-US" sz="2000" b="1" i="0" u="none" strike="noStrike">
                <a:solidFill>
                  <a:srgbClr val="32478A"/>
                </a:solidFill>
                <a:latin typeface="微软雅黑" panose="020B0503020204020204" charset="-122"/>
                <a:ea typeface="微软雅黑" panose="020B0503020204020204" charset="-122"/>
                <a:cs typeface="微软雅黑" panose="020B0503020204020204" charset="-122"/>
                <a:sym typeface="微软雅黑" panose="020B0503020204020204" charset="-122"/>
              </a:rPr>
              <a:t>▌ 现象描述</a:t>
            </a:r>
            <a:endParaRPr lang="en-US" sz="2000"/>
          </a:p>
          <a:p>
            <a:pPr marL="0" indent="539750" algn="just" eaLnBrk="1" fontAlgn="auto" latinLnBrk="0" hangingPunct="1">
              <a:lnSpc>
                <a:spcPct val="117000"/>
              </a:lnSpc>
              <a:spcAft>
                <a:spcPts val="1600"/>
              </a:spcAft>
            </a:pPr>
            <a:r>
              <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部分县级成果存在明显的目标导向，即以“评价结果略高于2023年度国土变更调查耕地数据”为目标，据此人为调整评价指标、分级阈值或适宜类判定逻辑，以压缩“评价为宜耕”的图斑数量。</a:t>
            </a:r>
            <a:endPar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just">
              <a:lnSpc>
                <a:spcPct val="117000"/>
              </a:lnSpc>
              <a:spcAft>
                <a:spcPts val="1600"/>
              </a:spcAft>
            </a:pPr>
            <a:r>
              <a:rPr lang="en-US" sz="2000" b="1" i="0" u="none" strike="noStrike">
                <a:solidFill>
                  <a:srgbClr val="32478A"/>
                </a:solidFill>
                <a:latin typeface="微软雅黑" panose="020B0503020204020204" charset="-122"/>
                <a:ea typeface="微软雅黑" panose="020B0503020204020204" charset="-122"/>
                <a:cs typeface="微软雅黑" panose="020B0503020204020204" charset="-122"/>
                <a:sym typeface="微软雅黑" panose="020B0503020204020204" charset="-122"/>
              </a:rPr>
              <a:t>▌ 核心危害</a:t>
            </a:r>
            <a:endParaRPr lang="en-US" sz="2000" b="1" i="0" u="none" strike="noStrike">
              <a:solidFill>
                <a:srgbClr val="32478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539750" algn="just">
              <a:lnSpc>
                <a:spcPct val="117000"/>
              </a:lnSpc>
              <a:spcAft>
                <a:spcPts val="1600"/>
              </a:spcAft>
              <a:buSzTx/>
            </a:pPr>
            <a:r>
              <a:rPr lang="en-US" sz="1800">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这种做法违背了适宜性评价基于自然禀赋的科学原则。评价结果与现状耕地数据之间的偏差（即“耕地不宜耕”“非耕地宜耕”等错配图斑），正是优化耕地布局、实施林耕置换、退耕还林还草的科学依据。任何人为压缩偏差、追求与现状数据一致的行为，均违背评价原则，必须予以纠正。</a:t>
            </a:r>
            <a:endPar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AutoShape 9"/>
          <p:cNvSpPr/>
          <p:nvPr/>
        </p:nvSpPr>
        <p:spPr>
          <a:xfrm>
            <a:off x="0" y="5651500"/>
            <a:ext cx="12192000" cy="901700"/>
          </a:xfrm>
          <a:prstGeom prst="snip1Rect">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81000" y="5791200"/>
            <a:ext cx="11430000" cy="584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spc="2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坚持自然禀赋</a:t>
            </a:r>
            <a:r>
              <a:rPr lang="zh-CN" altLang="en-US" sz="2400" b="1" i="0" u="none" strike="noStrike" spc="2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为</a:t>
            </a:r>
            <a:r>
              <a:rPr lang="en-US" sz="2400" b="1" i="0" u="none" strike="noStrike" spc="2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导向</a:t>
            </a:r>
            <a:r>
              <a:rPr lang="zh-CN" altLang="en-US" sz="2400" b="1" i="0" u="none" strike="noStrike" spc="2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1" i="0" u="none" strike="noStrike" spc="2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拒绝人为干预评价结果</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92329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211455"/>
            <a:ext cx="10668000" cy="571500"/>
          </a:xfrm>
          <a:prstGeom prst="roundRect">
            <a:avLst>
              <a:gd name="adj" fmla="val 0"/>
            </a:avLst>
          </a:prstGeom>
          <a:noFill/>
          <a:ln w="25400" cap="flat" cmpd="sng">
            <a:noFill/>
            <a:prstDash val="solid"/>
            <a:round/>
          </a:ln>
        </p:spPr>
        <p:txBody>
          <a:bodyPr vert="horz" wrap="square" lIns="0" tIns="0" rIns="0" bIns="0" rtlCol="0" anchor="ctr" anchorCtr="0"/>
          <a:lstStyle/>
          <a:p>
            <a:pPr algn="ctr">
              <a:lnSpc>
                <a:spcPct val="92000"/>
              </a:lnSpc>
              <a:buSzTx/>
              <a:defRPr/>
            </a:pPr>
            <a:r>
              <a:rPr lang="en-US" sz="28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问题</a:t>
            </a:r>
            <a:r>
              <a:rPr lang="zh-CN" altLang="en-US" sz="28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二</a:t>
            </a:r>
            <a:r>
              <a:rPr lang="en-US" sz="28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800" b="1">
                <a:solidFill>
                  <a:srgbClr val="FFFFFF"/>
                </a:solidFill>
                <a:latin typeface="微软雅黑" panose="020B0503020204020204" charset="-122"/>
                <a:ea typeface="微软雅黑" panose="020B0503020204020204" charset="-122"/>
                <a:cs typeface="微软雅黑" panose="020B0503020204020204" charset="-122"/>
              </a:rPr>
              <a:t>限制性因素选取、数据源及分级标准存在系统性偏差</a:t>
            </a:r>
            <a:endParaRPr lang="en-US" sz="2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AutoShape 4"/>
          <p:cNvSpPr/>
          <p:nvPr>
            <p:custDataLst>
              <p:tags r:id="rId1"/>
            </p:custDataLst>
          </p:nvPr>
        </p:nvSpPr>
        <p:spPr>
          <a:xfrm>
            <a:off x="330835" y="1113790"/>
            <a:ext cx="11648440" cy="5502910"/>
          </a:xfrm>
          <a:prstGeom prst="roundRect">
            <a:avLst>
              <a:gd name="adj" fmla="val 3266"/>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6" name="AutoShape 6"/>
          <p:cNvSpPr/>
          <p:nvPr>
            <p:custDataLst>
              <p:tags r:id="rId2"/>
            </p:custDataLst>
          </p:nvPr>
        </p:nvSpPr>
        <p:spPr>
          <a:xfrm>
            <a:off x="549910" y="1172210"/>
            <a:ext cx="7573010" cy="64452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a:solidFill>
                  <a:srgbClr val="1E40AF"/>
                </a:solidFill>
                <a:latin typeface="微软雅黑" panose="020B0503020204020204" charset="-122"/>
                <a:ea typeface="微软雅黑" panose="020B0503020204020204" charset="-122"/>
                <a:cs typeface="微软雅黑" panose="020B0503020204020204" charset="-122"/>
              </a:rPr>
              <a:t>（一）限制性因素选取脱离区域实际，且存在认识误区</a:t>
            </a:r>
            <a:endParaRPr lang="en-US" sz="2400" b="1">
              <a:solidFill>
                <a:srgbClr val="1E40AF"/>
              </a:solidFill>
              <a:latin typeface="微软雅黑" panose="020B0503020204020204" charset="-122"/>
              <a:ea typeface="微软雅黑" panose="020B0503020204020204" charset="-122"/>
              <a:cs typeface="微软雅黑" panose="020B0503020204020204" charset="-122"/>
            </a:endParaRPr>
          </a:p>
        </p:txBody>
      </p:sp>
      <p:sp>
        <p:nvSpPr>
          <p:cNvPr id="7" name="AutoShape 7"/>
          <p:cNvSpPr/>
          <p:nvPr>
            <p:custDataLst>
              <p:tags r:id="rId3"/>
            </p:custDataLst>
          </p:nvPr>
        </p:nvSpPr>
        <p:spPr>
          <a:xfrm>
            <a:off x="699770" y="1985645"/>
            <a:ext cx="10730230" cy="4371975"/>
          </a:xfrm>
          <a:prstGeom prst="rect">
            <a:avLst/>
          </a:prstGeom>
          <a:noFill/>
          <a:ln w="12700" cap="flat" cmpd="sng">
            <a:noFill/>
            <a:prstDash val="solid"/>
            <a:round/>
          </a:ln>
        </p:spPr>
        <p:txBody>
          <a:bodyPr vert="horz" wrap="square" lIns="101600" tIns="76200" rIns="101600" bIns="76200" rtlCol="0" anchor="t" anchorCtr="0"/>
          <a:lstStyle/>
          <a:p>
            <a:pPr indent="0" algn="just">
              <a:lnSpc>
                <a:spcPct val="125000"/>
              </a:lnSpc>
              <a:defRPr/>
            </a:pPr>
            <a:r>
              <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 机械套用：</a:t>
            </a:r>
            <a:r>
              <a:rPr lang="en-US" sz="2000">
                <a:solidFill>
                  <a:srgbClr val="50555F"/>
                </a:solidFill>
                <a:latin typeface="微软雅黑" panose="020B0503020204020204" charset="-122"/>
                <a:ea typeface="微软雅黑" panose="020B0503020204020204" charset="-122"/>
                <a:cs typeface="微软雅黑" panose="020B0503020204020204" charset="-122"/>
              </a:rPr>
              <a:t>部分县级评价机械套用规范中的推荐指标体系，未结合本地气候、地形、水资源条件进行本地化调整。西北干旱区忽略水资源可获得性，南方山区忽略海拔和坡度的再分配效应。</a:t>
            </a:r>
            <a:endParaRPr lang="zh-CN" altLang="en-US" sz="2000"/>
          </a:p>
          <a:p>
            <a:pPr indent="0" algn="just">
              <a:lnSpc>
                <a:spcPct val="125000"/>
              </a:lnSpc>
            </a:pPr>
            <a:r>
              <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 指标滥用：</a:t>
            </a:r>
            <a:r>
              <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仅对喀斯特区域设计的基岩出露丰度指标被普遍使用。</a:t>
            </a:r>
            <a:endPar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just">
              <a:lnSpc>
                <a:spcPct val="125000"/>
              </a:lnSpc>
            </a:pPr>
            <a:r>
              <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 严重误解：</a:t>
            </a:r>
            <a:r>
              <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部分地方误以为</a:t>
            </a:r>
            <a:r>
              <a:rPr lang="en-US" altLang="zh-CN"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宜耕</a:t>
            </a:r>
            <a:r>
              <a:rPr lang="en-US" altLang="zh-CN"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就意味着必须退耕还林还草。这是对评价结果的严重误解。</a:t>
            </a:r>
            <a:endPar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457200" algn="just" eaLnBrk="1" fontAlgn="auto" latinLnBrk="0" hangingPunct="1">
              <a:lnSpc>
                <a:spcPct val="125000"/>
              </a:lnSpc>
            </a:pPr>
            <a:r>
              <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适宜性评价回答的是</a:t>
            </a:r>
            <a:r>
              <a:rPr lang="en-US" altLang="zh-CN"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这块土地自然禀赋最适合做什么</a:t>
            </a:r>
            <a:r>
              <a:rPr lang="en-US" altLang="zh-CN"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，而非</a:t>
            </a:r>
            <a:r>
              <a:rPr lang="en-US" altLang="zh-CN"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现状利用必须立即改变</a:t>
            </a:r>
            <a:r>
              <a:rPr lang="en-US" altLang="zh-CN"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宜耕</a:t>
            </a:r>
            <a:r>
              <a:rPr lang="en-US" altLang="zh-CN"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仅表明该土地的自然条件适合耕作，并不意味着现状园地、林地、草地必须无条件退耕。</a:t>
            </a:r>
            <a:endPar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457200" algn="just" eaLnBrk="1" fontAlgn="auto" latinLnBrk="0" hangingPunct="1">
              <a:lnSpc>
                <a:spcPct val="125000"/>
              </a:lnSpc>
            </a:pPr>
            <a:r>
              <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实际应用中，宜耕的非耕地需结合生态保护、国土绿化规划、农民意愿等多重因素，依法、自愿、有序开展耕地恢复补充。评价成果提供的是科学依据，而非行政命令。</a:t>
            </a:r>
            <a:endPar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92329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211455"/>
            <a:ext cx="10668000" cy="571500"/>
          </a:xfrm>
          <a:prstGeom prst="roundRect">
            <a:avLst>
              <a:gd name="adj" fmla="val 0"/>
            </a:avLst>
          </a:prstGeom>
          <a:noFill/>
          <a:ln w="25400" cap="flat" cmpd="sng">
            <a:noFill/>
            <a:prstDash val="solid"/>
            <a:round/>
          </a:ln>
        </p:spPr>
        <p:txBody>
          <a:bodyPr vert="horz" wrap="square" lIns="0" tIns="0" rIns="0" bIns="0" rtlCol="0" anchor="ctr" anchorCtr="0"/>
          <a:lstStyle/>
          <a:p>
            <a:pPr algn="ctr">
              <a:lnSpc>
                <a:spcPct val="92000"/>
              </a:lnSpc>
              <a:buSzTx/>
              <a:defRPr/>
            </a:pPr>
            <a:r>
              <a:rPr lang="en-US" sz="28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问题</a:t>
            </a:r>
            <a:r>
              <a:rPr lang="zh-CN" altLang="en-US" sz="28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二</a:t>
            </a:r>
            <a:r>
              <a:rPr lang="en-US" sz="28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800" b="1">
                <a:solidFill>
                  <a:srgbClr val="FFFFFF"/>
                </a:solidFill>
                <a:latin typeface="微软雅黑" panose="020B0503020204020204" charset="-122"/>
                <a:ea typeface="微软雅黑" panose="020B0503020204020204" charset="-122"/>
                <a:cs typeface="微软雅黑" panose="020B0503020204020204" charset="-122"/>
              </a:rPr>
              <a:t>限制性因素选取、数据源及分级标准存在系统性偏差</a:t>
            </a:r>
            <a:endParaRPr lang="en-US" sz="2800" b="1">
              <a:solidFill>
                <a:srgbClr val="FFFFFF"/>
              </a:solidFill>
              <a:latin typeface="微软雅黑" panose="020B0503020204020204" charset="-122"/>
              <a:ea typeface="微软雅黑" panose="020B0503020204020204" charset="-122"/>
              <a:cs typeface="微软雅黑" panose="020B0503020204020204" charset="-122"/>
            </a:endParaRPr>
          </a:p>
        </p:txBody>
      </p:sp>
      <p:pic>
        <p:nvPicPr>
          <p:cNvPr id="9" name="Picture 9"/>
          <p:cNvPicPr>
            <a:picLocks noChangeAspect="1"/>
          </p:cNvPicPr>
          <p:nvPr>
            <p:custDataLst>
              <p:tags r:id="rId1"/>
            </p:custDataLst>
          </p:nvPr>
        </p:nvPicPr>
        <p:blipFill>
          <a:blip r:embed="rId2"/>
          <a:srcRect/>
          <a:stretch>
            <a:fillRect/>
          </a:stretch>
        </p:blipFill>
        <p:spPr>
          <a:xfrm>
            <a:off x="753745" y="1714500"/>
            <a:ext cx="355600" cy="355600"/>
          </a:xfrm>
          <a:prstGeom prst="rect">
            <a:avLst/>
          </a:prstGeom>
          <a:noFill/>
          <a:ln w="25400" cap="flat" cmpd="sng">
            <a:noFill/>
            <a:prstDash val="solid"/>
            <a:round/>
          </a:ln>
        </p:spPr>
      </p:pic>
      <p:sp>
        <p:nvSpPr>
          <p:cNvPr id="5" name="AutoShape 4"/>
          <p:cNvSpPr/>
          <p:nvPr>
            <p:custDataLst>
              <p:tags r:id="rId3"/>
            </p:custDataLst>
          </p:nvPr>
        </p:nvSpPr>
        <p:spPr>
          <a:xfrm>
            <a:off x="330835" y="1113790"/>
            <a:ext cx="11648440" cy="5502910"/>
          </a:xfrm>
          <a:prstGeom prst="roundRect">
            <a:avLst>
              <a:gd name="adj" fmla="val 3266"/>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2" name="AutoShape 6"/>
          <p:cNvSpPr/>
          <p:nvPr>
            <p:custDataLst>
              <p:tags r:id="rId4"/>
            </p:custDataLst>
          </p:nvPr>
        </p:nvSpPr>
        <p:spPr>
          <a:xfrm>
            <a:off x="549910" y="1172210"/>
            <a:ext cx="7573010" cy="64452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zh-CN" altLang="en-US" sz="2400" b="1">
                <a:solidFill>
                  <a:srgbClr val="1E40AF"/>
                </a:solidFill>
                <a:latin typeface="微软雅黑" panose="020B0503020204020204" charset="-122"/>
                <a:ea typeface="微软雅黑" panose="020B0503020204020204" charset="-122"/>
                <a:cs typeface="微软雅黑" panose="020B0503020204020204" charset="-122"/>
              </a:rPr>
              <a:t>（二）箱线图的数据源有误</a:t>
            </a:r>
            <a:endParaRPr lang="zh-CN" altLang="en-US" sz="2400" b="1">
              <a:solidFill>
                <a:srgbClr val="1E40AF"/>
              </a:solidFill>
              <a:latin typeface="微软雅黑" panose="020B0503020204020204" charset="-122"/>
              <a:ea typeface="微软雅黑" panose="020B0503020204020204" charset="-122"/>
              <a:cs typeface="微软雅黑" panose="020B0503020204020204" charset="-122"/>
            </a:endParaRPr>
          </a:p>
        </p:txBody>
      </p:sp>
      <p:sp>
        <p:nvSpPr>
          <p:cNvPr id="11" name="AutoShape 11"/>
          <p:cNvSpPr/>
          <p:nvPr>
            <p:custDataLst>
              <p:tags r:id="rId5"/>
            </p:custDataLst>
          </p:nvPr>
        </p:nvSpPr>
        <p:spPr>
          <a:xfrm>
            <a:off x="665480" y="1949450"/>
            <a:ext cx="11008995" cy="3937000"/>
          </a:xfrm>
          <a:prstGeom prst="rect">
            <a:avLst/>
          </a:prstGeom>
          <a:noFill/>
          <a:ln w="12700" cap="flat" cmpd="sng">
            <a:noFill/>
            <a:prstDash val="solid"/>
            <a:round/>
          </a:ln>
        </p:spPr>
        <p:txBody>
          <a:bodyPr vert="horz" wrap="square" lIns="101600" tIns="76200" rIns="101600" bIns="76200" rtlCol="0" anchor="t" anchorCtr="0"/>
          <a:lstStyle/>
          <a:p>
            <a:pPr indent="0" algn="just">
              <a:lnSpc>
                <a:spcPct val="125000"/>
              </a:lnSpc>
              <a:defRPr/>
            </a:pPr>
            <a:r>
              <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 错误</a:t>
            </a:r>
            <a:r>
              <a:rPr lang="zh-CN" alt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现状</a:t>
            </a:r>
            <a:r>
              <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a:solidFill>
                  <a:srgbClr val="50555F"/>
                </a:solidFill>
                <a:latin typeface="微软雅黑" panose="020B0503020204020204" charset="-122"/>
                <a:ea typeface="微软雅黑" panose="020B0503020204020204" charset="-122"/>
                <a:cs typeface="微软雅黑" panose="020B0503020204020204" charset="-122"/>
              </a:rPr>
              <a:t>部分县域使用基于2023年土地利用现状数据或者2009年二调土地利用现状数据（耕地 </a:t>
            </a:r>
            <a:r>
              <a:rPr lang="en-US" sz="2000">
                <a:solidFill>
                  <a:srgbClr val="50555F"/>
                </a:solidFill>
                <a:latin typeface="微软雅黑" panose="020B0503020204020204" charset="-122"/>
                <a:ea typeface="微软雅黑" panose="020B0503020204020204" charset="-122"/>
                <a:cs typeface="Times New Roman" panose="02020603050405020304" charset="0"/>
              </a:rPr>
              <a:t>+</a:t>
            </a:r>
            <a:r>
              <a:rPr lang="en-US" sz="2000">
                <a:solidFill>
                  <a:srgbClr val="50555F"/>
                </a:solidFill>
                <a:latin typeface="微软雅黑" panose="020B0503020204020204" charset="-122"/>
                <a:ea typeface="微软雅黑" panose="020B0503020204020204" charset="-122"/>
                <a:cs typeface="微软雅黑" panose="020B0503020204020204" charset="-122"/>
              </a:rPr>
              <a:t>“可调整地类”的园地、林地、草地）制作箱线图，这些数据源反映的是受人为利用后的地表形态，不能代表自然地形本底，导致分级标准与自然分布规律脱节。同时，园地与林地的区分未充分利用土层厚度、地表砾石丰度和水资源条件与排水指标。</a:t>
            </a:r>
            <a:endParaRPr lang="zh-CN" altLang="en-US" sz="1100"/>
          </a:p>
          <a:p>
            <a:pPr indent="0" algn="just">
              <a:lnSpc>
                <a:spcPct val="125000"/>
              </a:lnSpc>
            </a:pPr>
            <a:endPar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just">
              <a:lnSpc>
                <a:spcPct val="125000"/>
              </a:lnSpc>
            </a:pPr>
            <a:r>
              <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 正确做法：</a:t>
            </a:r>
            <a:r>
              <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在具有明显垂直地带性的山区，使用</a:t>
            </a:r>
            <a:r>
              <a:rPr lang="en-US" altLang="zh-CN"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2000</a:t>
            </a:r>
            <a:r>
              <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年左右稳定时期影像的地类分类数据，结合</a:t>
            </a:r>
            <a:r>
              <a:rPr lang="en-US" altLang="zh-CN"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DEM</a:t>
            </a:r>
            <a:r>
              <a:rPr lang="zh-CN" alt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制作箱线图，对地形因子进行准确分级，实现限制因素的本地化。</a:t>
            </a:r>
            <a:endParaRPr lang="en-US" altLang="zh-CN"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文本框 13"/>
          <p:cNvSpPr txBox="1"/>
          <p:nvPr/>
        </p:nvSpPr>
        <p:spPr>
          <a:xfrm>
            <a:off x="4826000" y="1315720"/>
            <a:ext cx="6195695" cy="398780"/>
          </a:xfrm>
          <a:prstGeom prst="rect">
            <a:avLst/>
          </a:prstGeom>
          <a:noFill/>
        </p:spPr>
        <p:txBody>
          <a:bodyPr wrap="square" rtlCol="0">
            <a:spAutoFit/>
          </a:bodyPr>
          <a:p>
            <a:r>
              <a:rPr lang="en-US" sz="2000" b="1">
                <a:solidFill>
                  <a:srgbClr val="C00000"/>
                </a:solidFill>
                <a:latin typeface="微软雅黑" panose="020B0503020204020204" charset="-122"/>
                <a:ea typeface="微软雅黑" panose="020B0503020204020204" charset="-122"/>
                <a:cs typeface="微软雅黑" panose="020B0503020204020204" charset="-122"/>
              </a:rPr>
              <a:t>海拔、坡度是划分宜耕、宜林、宜草的关键地形因子</a:t>
            </a:r>
            <a:endParaRPr lang="en-US" sz="2000" b="1">
              <a:solidFill>
                <a:srgbClr val="C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 name="AutoShape 5"/>
          <p:cNvSpPr/>
          <p:nvPr/>
        </p:nvSpPr>
        <p:spPr>
          <a:xfrm>
            <a:off x="355600" y="1181100"/>
            <a:ext cx="11480800" cy="4854575"/>
          </a:xfrm>
          <a:prstGeom prst="rect">
            <a:avLst/>
          </a:prstGeom>
          <a:noFill/>
          <a:ln w="25400" cap="flat" cmpd="sng">
            <a:solidFill>
              <a:srgbClr val="1E386B">
                <a:alpha val="100000"/>
              </a:srgbClr>
            </a:solidFill>
            <a:prstDash val="sysDash"/>
            <a:miter lim="10000000"/>
          </a:ln>
          <a:effectLst>
            <a:outerShdw blurRad="63500" algn="ctr" rotWithShape="0">
              <a:srgbClr val="000000">
                <a:alpha val="40000"/>
              </a:srgbClr>
            </a:outerShdw>
          </a:effectLst>
        </p:spPr>
        <p:txBody>
          <a:bodyPr vert="horz" wrap="square" lIns="0" tIns="0" rIns="0" bIns="0" rtlCol="0" anchor="t"/>
          <a:lstStyle/>
          <a:p>
            <a:pPr algn="l">
              <a:defRPr/>
            </a:pPr>
          </a:p>
        </p:txBody>
      </p:sp>
      <p:sp>
        <p:nvSpPr>
          <p:cNvPr id="6" name="AutoShape 6"/>
          <p:cNvSpPr/>
          <p:nvPr/>
        </p:nvSpPr>
        <p:spPr>
          <a:xfrm>
            <a:off x="0" y="0"/>
            <a:ext cx="12217400" cy="92710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09600" y="1181100"/>
            <a:ext cx="10947400" cy="3937000"/>
          </a:xfrm>
          <a:prstGeom prst="rect">
            <a:avLst/>
          </a:prstGeom>
          <a:noFill/>
          <a:ln w="12700" cap="flat" cmpd="sng">
            <a:noFill/>
            <a:prstDash val="solid"/>
            <a:round/>
          </a:ln>
        </p:spPr>
        <p:txBody>
          <a:bodyPr vert="horz" wrap="square" lIns="127000" tIns="127000" rIns="127000" bIns="127000" rtlCol="0" anchor="t" anchorCtr="0"/>
          <a:lstStyle/>
          <a:p>
            <a:pPr indent="0" algn="l">
              <a:lnSpc>
                <a:spcPct val="168000"/>
              </a:lnSpc>
              <a:defRPr/>
            </a:pPr>
            <a:r>
              <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▍错误现状</a:t>
            </a:r>
            <a:endParaRPr lang="en-US" sz="2000" b="1">
              <a:solidFill>
                <a:srgbClr val="1E40AF"/>
              </a:solidFill>
              <a:latin typeface="微软雅黑" panose="020B0503020204020204" charset="-122"/>
              <a:ea typeface="微软雅黑" panose="020B0503020204020204" charset="-122"/>
              <a:cs typeface="微软雅黑" panose="020B0503020204020204" charset="-122"/>
            </a:endParaRPr>
          </a:p>
          <a:p>
            <a:pPr marL="127000" indent="0" algn="l">
              <a:lnSpc>
                <a:spcPct val="168000"/>
              </a:lnSpc>
            </a:pPr>
            <a:r>
              <a:rPr lang="en-US" sz="2000" b="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大部分县域未按均质化原则制作评价单元，将土种图斑与国土三调现状地类图斑进行叠加</a:t>
            </a:r>
            <a:endPar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l">
              <a:lnSpc>
                <a:spcPct val="168000"/>
              </a:lnSpc>
              <a:spcBef>
                <a:spcPts val="0"/>
              </a:spcBef>
              <a:buSzTx/>
              <a:defRPr/>
            </a:pPr>
            <a:r>
              <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▍直接后果</a:t>
            </a:r>
            <a:endPar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42900" indent="-152400" algn="l">
              <a:lnSpc>
                <a:spcPct val="168000"/>
              </a:lnSpc>
              <a:buClr>
                <a:srgbClr val="D9480F"/>
              </a:buClr>
              <a:buFont typeface="Wingdings" panose="05000000000000000000"/>
              <a:buChar char="n"/>
            </a:pPr>
            <a:r>
              <a:rPr lang="en-US" sz="2000" b="1" i="0" u="none" strike="noStrike">
                <a:solidFill>
                  <a:srgbClr val="D9480F"/>
                </a:solidFill>
                <a:latin typeface="微软雅黑" panose="020B0503020204020204" charset="-122"/>
                <a:ea typeface="微软雅黑" panose="020B0503020204020204" charset="-122"/>
                <a:cs typeface="微软雅黑" panose="020B0503020204020204" charset="-122"/>
                <a:sym typeface="微软雅黑" panose="020B0503020204020204" charset="-122"/>
              </a:rPr>
              <a:t>图斑细碎化：</a:t>
            </a:r>
            <a:r>
              <a:rPr lang="en-US" sz="20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同一土种分布区被切割，县级图斑数量可达数十万。</a:t>
            </a:r>
            <a:endParaRPr lang="en-US" sz="20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42900" indent="-152400" algn="l">
              <a:lnSpc>
                <a:spcPct val="168000"/>
              </a:lnSpc>
              <a:buClr>
                <a:srgbClr val="D9480F"/>
              </a:buClr>
              <a:buFont typeface="Wingdings" panose="05000000000000000000"/>
              <a:buChar char="n"/>
            </a:pPr>
            <a:r>
              <a:rPr lang="en-US" sz="2000" b="1" i="0" u="none" strike="noStrike">
                <a:solidFill>
                  <a:srgbClr val="D9480F"/>
                </a:solidFill>
                <a:latin typeface="微软雅黑" panose="020B0503020204020204" charset="-122"/>
                <a:ea typeface="微软雅黑" panose="020B0503020204020204" charset="-122"/>
                <a:cs typeface="微软雅黑" panose="020B0503020204020204" charset="-122"/>
                <a:sym typeface="微软雅黑" panose="020B0503020204020204" charset="-122"/>
              </a:rPr>
              <a:t>数据冗余：</a:t>
            </a:r>
            <a:r>
              <a:rPr lang="zh-CN" altLang="en-US" sz="20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造成数据冗余、导致</a:t>
            </a:r>
            <a:r>
              <a:rPr lang="en-US" sz="20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GIS运算困难，效率低下。</a:t>
            </a:r>
            <a:endParaRPr lang="en-US" sz="20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42900" indent="-152400" algn="l">
              <a:lnSpc>
                <a:spcPct val="168000"/>
              </a:lnSpc>
              <a:buClr>
                <a:srgbClr val="D9480F"/>
              </a:buClr>
              <a:buFont typeface="Wingdings" panose="05000000000000000000"/>
              <a:buChar char="n"/>
            </a:pPr>
            <a:r>
              <a:rPr lang="en-US" sz="2000" b="1" i="0" u="none" strike="noStrike">
                <a:solidFill>
                  <a:srgbClr val="D9480F"/>
                </a:solidFill>
                <a:latin typeface="微软雅黑" panose="020B0503020204020204" charset="-122"/>
                <a:ea typeface="微软雅黑" panose="020B0503020204020204" charset="-122"/>
                <a:cs typeface="微软雅黑" panose="020B0503020204020204" charset="-122"/>
                <a:sym typeface="微软雅黑" panose="020B0503020204020204" charset="-122"/>
              </a:rPr>
              <a:t>破坏完整性：</a:t>
            </a:r>
            <a:r>
              <a:rPr lang="zh-CN" altLang="en-US" sz="20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破坏了土壤类型的空间完整性，使得评价结果无法反映自然规律</a:t>
            </a:r>
            <a:endParaRPr lang="zh-CN" altLang="en-US" sz="20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42900" indent="-152400" algn="l">
              <a:lnSpc>
                <a:spcPct val="168000"/>
              </a:lnSpc>
              <a:buClr>
                <a:srgbClr val="D9480F"/>
              </a:buClr>
              <a:buFont typeface="Wingdings" panose="05000000000000000000"/>
              <a:buChar char="n"/>
            </a:pPr>
            <a:r>
              <a:rPr lang="en-US" sz="2000" b="1" i="0" u="none" strike="noStrike">
                <a:solidFill>
                  <a:srgbClr val="D9480F"/>
                </a:solidFill>
                <a:latin typeface="微软雅黑" panose="020B0503020204020204" charset="-122"/>
                <a:ea typeface="微软雅黑" panose="020B0503020204020204" charset="-122"/>
                <a:cs typeface="微软雅黑" panose="020B0503020204020204" charset="-122"/>
                <a:sym typeface="微软雅黑" panose="020B0503020204020204" charset="-122"/>
              </a:rPr>
              <a:t>影响汇总：</a:t>
            </a:r>
            <a:r>
              <a:rPr lang="en-US" sz="20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难以支撑市级1:25万汇总工作。</a:t>
            </a:r>
            <a:endParaRPr lang="en-US" sz="20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AutoShape 10"/>
          <p:cNvSpPr/>
          <p:nvPr/>
        </p:nvSpPr>
        <p:spPr>
          <a:xfrm>
            <a:off x="0" y="1016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问题三：评价单元处理不规范，图斑细碎化严重</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 name="AutoShape 5"/>
          <p:cNvSpPr/>
          <p:nvPr/>
        </p:nvSpPr>
        <p:spPr>
          <a:xfrm>
            <a:off x="355600" y="1181100"/>
            <a:ext cx="11480800" cy="4806315"/>
          </a:xfrm>
          <a:prstGeom prst="rect">
            <a:avLst/>
          </a:prstGeom>
          <a:noFill/>
          <a:ln w="25400" cap="flat" cmpd="sng">
            <a:solidFill>
              <a:srgbClr val="1E386B">
                <a:alpha val="100000"/>
              </a:srgbClr>
            </a:solidFill>
            <a:prstDash val="sysDash"/>
            <a:miter lim="10000000"/>
          </a:ln>
          <a:effectLst>
            <a:outerShdw blurRad="63500" algn="ctr" rotWithShape="0">
              <a:srgbClr val="000000">
                <a:alpha val="40000"/>
              </a:srgbClr>
            </a:outerShdw>
          </a:effectLst>
        </p:spPr>
        <p:txBody>
          <a:bodyPr vert="horz" wrap="square" lIns="0" tIns="0" rIns="0" bIns="0" rtlCol="0" anchor="ctr" anchorCtr="0"/>
          <a:lstStyle/>
          <a:p>
            <a:pPr algn="l">
              <a:defRPr/>
            </a:pPr>
          </a:p>
        </p:txBody>
      </p:sp>
      <p:sp>
        <p:nvSpPr>
          <p:cNvPr id="6" name="AutoShape 6"/>
          <p:cNvSpPr/>
          <p:nvPr/>
        </p:nvSpPr>
        <p:spPr>
          <a:xfrm>
            <a:off x="0" y="0"/>
            <a:ext cx="12217400" cy="92710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09600" y="1397000"/>
            <a:ext cx="10947400" cy="4417060"/>
          </a:xfrm>
          <a:prstGeom prst="rect">
            <a:avLst/>
          </a:prstGeom>
          <a:noFill/>
          <a:ln w="12700" cap="flat" cmpd="sng">
            <a:noFill/>
            <a:prstDash val="solid"/>
            <a:round/>
          </a:ln>
        </p:spPr>
        <p:txBody>
          <a:bodyPr vert="horz" wrap="square" lIns="127000" tIns="127000" rIns="127000" bIns="127000" rtlCol="0" anchor="t" anchorCtr="0"/>
          <a:lstStyle/>
          <a:p>
            <a:pPr indent="0" algn="l">
              <a:lnSpc>
                <a:spcPct val="108000"/>
              </a:lnSpc>
              <a:defRPr/>
            </a:pPr>
            <a:r>
              <a:rPr lang="en-US" sz="2000" b="1" i="0" u="none" strike="noStrike">
                <a:solidFill>
                  <a:srgbClr val="32478A"/>
                </a:solidFill>
                <a:latin typeface="微软雅黑" panose="020B0503020204020204" charset="-122"/>
                <a:ea typeface="微软雅黑" panose="020B0503020204020204" charset="-122"/>
                <a:cs typeface="微软雅黑" panose="020B0503020204020204" charset="-122"/>
                <a:sym typeface="微软雅黑" panose="020B0503020204020204" charset="-122"/>
              </a:rPr>
              <a:t>▌ 错误</a:t>
            </a:r>
            <a:r>
              <a:rPr lang="zh-CN" altLang="en-US" sz="2000" b="1" i="0" u="none" strike="noStrike">
                <a:solidFill>
                  <a:srgbClr val="32478A"/>
                </a:solidFill>
                <a:latin typeface="微软雅黑" panose="020B0503020204020204" charset="-122"/>
                <a:ea typeface="微软雅黑" panose="020B0503020204020204" charset="-122"/>
                <a:cs typeface="微软雅黑" panose="020B0503020204020204" charset="-122"/>
                <a:sym typeface="微软雅黑" panose="020B0503020204020204" charset="-122"/>
              </a:rPr>
              <a:t>现状</a:t>
            </a:r>
            <a:endParaRPr lang="en-US" sz="1100"/>
          </a:p>
          <a:p>
            <a:pPr marL="254000" indent="457200" algn="l" eaLnBrk="1" fontAlgn="auto" latinLnBrk="0" hangingPunct="1">
              <a:lnSpc>
                <a:spcPct val="147000"/>
              </a:lnSpc>
              <a:buClr>
                <a:srgbClr val="3C3C3C"/>
              </a:buClr>
              <a:buNone/>
            </a:pPr>
            <a:r>
              <a:rPr lang="en-US" sz="2000">
                <a:solidFill>
                  <a:srgbClr val="50555F"/>
                </a:solidFill>
                <a:latin typeface="微软雅黑" panose="020B0503020204020204" charset="-122"/>
                <a:ea typeface="微软雅黑" panose="020B0503020204020204" charset="-122"/>
                <a:cs typeface="微软雅黑" panose="020B0503020204020204" charset="-122"/>
              </a:rPr>
              <a:t>未按照规范规定（宜耕＞宜园＞宜林＞宜草＞不适宜）或者本区域经过专家论证确定的优先级进行判定，或者擅自修改适宜级与适宜类的判断矩阵，导致不同市县之间判断适宜类、程度的基本依据存在差异，同一地块出现适宜类摇摆现象。</a:t>
            </a:r>
            <a:endParaRPr lang="en-US" sz="2000">
              <a:solidFill>
                <a:srgbClr val="50555F"/>
              </a:solidFill>
              <a:latin typeface="微软雅黑" panose="020B0503020204020204" charset="-122"/>
              <a:ea typeface="微软雅黑" panose="020B0503020204020204" charset="-122"/>
              <a:cs typeface="微软雅黑" panose="020B0503020204020204" charset="-122"/>
            </a:endParaRPr>
          </a:p>
          <a:p>
            <a:pPr marL="254000" indent="457200" algn="l" eaLnBrk="1" fontAlgn="auto" latinLnBrk="0" hangingPunct="1">
              <a:lnSpc>
                <a:spcPct val="147000"/>
              </a:lnSpc>
              <a:buClr>
                <a:srgbClr val="3C3C3C"/>
              </a:buClr>
              <a:buNone/>
            </a:pPr>
            <a:r>
              <a:rPr lang="en-US" sz="2000">
                <a:solidFill>
                  <a:srgbClr val="50555F"/>
                </a:solidFill>
                <a:latin typeface="微软雅黑" panose="020B0503020204020204" charset="-122"/>
                <a:ea typeface="微软雅黑" panose="020B0503020204020204" charset="-122"/>
                <a:cs typeface="微软雅黑" panose="020B0503020204020204" charset="-122"/>
              </a:rPr>
              <a:t>对“适宜类”的判定随意调整，未核实限制因子是否不可改良。水稻土的水田与水浇地被误判为宜园地、宜林地等低级错误仍有发生，直接违背了评价的科学原则。</a:t>
            </a:r>
            <a:endParaRPr lang="en-US" sz="2000" b="1" i="0" u="none" strike="noStrike">
              <a:solidFill>
                <a:srgbClr val="C0392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pPr>
            <a:endParaRPr lang="en-US" sz="2000" b="1" i="0" u="none" strike="noStrike">
              <a:solidFill>
                <a:srgbClr val="C0392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38000"/>
              </a:lnSpc>
            </a:pPr>
            <a:r>
              <a:rPr lang="en-US" sz="2000" b="1" i="0" u="none" strike="noStrike">
                <a:solidFill>
                  <a:srgbClr val="C0392B"/>
                </a:solidFill>
                <a:latin typeface="微软雅黑" panose="020B0503020204020204" charset="-122"/>
                <a:ea typeface="微软雅黑" panose="020B0503020204020204" charset="-122"/>
                <a:cs typeface="微软雅黑" panose="020B0503020204020204" charset="-122"/>
                <a:sym typeface="微软雅黑" panose="020B0503020204020204" charset="-122"/>
              </a:rPr>
              <a:t>▌ 核心危害</a:t>
            </a:r>
            <a:endParaRPr lang="en-US" sz="2000" b="1" i="0" u="none" strike="noStrike">
              <a:solidFill>
                <a:srgbClr val="C0392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54000" indent="457200" algn="l">
              <a:lnSpc>
                <a:spcPct val="138000"/>
              </a:lnSpc>
              <a:buSzTx/>
            </a:pPr>
            <a:r>
              <a:rPr lang="en-US" sz="200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不同市县之间判断依据存在差异，同一地块出现适宜类摇摆现象，结果不稳定。</a:t>
            </a:r>
            <a:endParaRPr lang="en-US" sz="200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AutoShape 10"/>
          <p:cNvSpPr/>
          <p:nvPr/>
        </p:nvSpPr>
        <p:spPr>
          <a:xfrm>
            <a:off x="381000" y="101600"/>
            <a:ext cx="1143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问题四：适宜类判定逻辑错误</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6" name="AutoShape 6"/>
          <p:cNvSpPr/>
          <p:nvPr/>
        </p:nvSpPr>
        <p:spPr>
          <a:xfrm>
            <a:off x="0" y="0"/>
            <a:ext cx="12217400" cy="92710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381000" y="38100"/>
            <a:ext cx="11430000" cy="8509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问题五：成果验证流于形式，行政干预评价结果</a:t>
            </a:r>
            <a:endParaRPr lang="en-US" sz="1100"/>
          </a:p>
        </p:txBody>
      </p:sp>
      <p:sp>
        <p:nvSpPr>
          <p:cNvPr id="10" name="AutoShape 5"/>
          <p:cNvSpPr/>
          <p:nvPr/>
        </p:nvSpPr>
        <p:spPr>
          <a:xfrm>
            <a:off x="355600" y="1390015"/>
            <a:ext cx="11480800" cy="3632835"/>
          </a:xfrm>
          <a:prstGeom prst="rect">
            <a:avLst/>
          </a:prstGeom>
          <a:noFill/>
          <a:ln w="25400" cap="flat" cmpd="sng">
            <a:solidFill>
              <a:srgbClr val="1E386B">
                <a:alpha val="100000"/>
              </a:srgbClr>
            </a:solidFill>
            <a:prstDash val="sysDash"/>
            <a:miter lim="10000000"/>
          </a:ln>
          <a:effectLst>
            <a:outerShdw blurRad="63500" algn="ctr" rotWithShape="0">
              <a:srgbClr val="000000">
                <a:alpha val="40000"/>
              </a:srgbClr>
            </a:outerShdw>
          </a:effectLst>
        </p:spPr>
        <p:txBody>
          <a:bodyPr vert="horz" wrap="square" lIns="0" tIns="0" rIns="0" bIns="0" rtlCol="0" anchor="ctr" anchorCtr="0"/>
          <a:lstStyle/>
          <a:p>
            <a:pPr algn="l">
              <a:defRPr/>
            </a:pPr>
          </a:p>
        </p:txBody>
      </p:sp>
      <p:sp>
        <p:nvSpPr>
          <p:cNvPr id="11" name="AutoShape 7"/>
          <p:cNvSpPr/>
          <p:nvPr/>
        </p:nvSpPr>
        <p:spPr>
          <a:xfrm>
            <a:off x="381000" y="1758315"/>
            <a:ext cx="10947400" cy="3542665"/>
          </a:xfrm>
          <a:prstGeom prst="rect">
            <a:avLst/>
          </a:prstGeom>
          <a:noFill/>
          <a:ln w="12700" cap="flat" cmpd="sng">
            <a:noFill/>
            <a:prstDash val="solid"/>
            <a:round/>
          </a:ln>
        </p:spPr>
        <p:txBody>
          <a:bodyPr vert="horz" wrap="square" lIns="127000" tIns="127000" rIns="127000" bIns="127000" rtlCol="0" anchor="t" anchorCtr="0"/>
          <a:lstStyle/>
          <a:p>
            <a:pPr marL="254000" indent="457200" algn="l" eaLnBrk="1" fontAlgn="auto" latinLnBrk="0" hangingPunct="1">
              <a:lnSpc>
                <a:spcPct val="187000"/>
              </a:lnSpc>
              <a:buClr>
                <a:srgbClr val="3C3C3C"/>
              </a:buClr>
              <a:buNone/>
            </a:pPr>
            <a:r>
              <a:rPr lang="zh-CN" altLang="en-US" sz="2000">
                <a:solidFill>
                  <a:srgbClr val="50555F"/>
                </a:solidFill>
                <a:latin typeface="微软雅黑" panose="020B0503020204020204" charset="-122"/>
                <a:ea typeface="微软雅黑" panose="020B0503020204020204" charset="-122"/>
                <a:cs typeface="微软雅黑" panose="020B0503020204020204" charset="-122"/>
              </a:rPr>
              <a:t>部分县级成果存在受行政意图影响、人为调整评价结果的倾向。一些地方以</a:t>
            </a:r>
            <a:r>
              <a:rPr lang="en-US" altLang="zh-CN" sz="2000">
                <a:solidFill>
                  <a:srgbClr val="50555F"/>
                </a:solidFill>
                <a:latin typeface="微软雅黑" panose="020B0503020204020204" charset="-122"/>
                <a:ea typeface="微软雅黑" panose="020B0503020204020204" charset="-122"/>
                <a:cs typeface="微软雅黑" panose="020B0503020204020204" charset="-122"/>
              </a:rPr>
              <a:t>“</a:t>
            </a:r>
            <a:r>
              <a:rPr lang="zh-CN" altLang="en-US" sz="2000">
                <a:solidFill>
                  <a:srgbClr val="50555F"/>
                </a:solidFill>
                <a:latin typeface="微软雅黑" panose="020B0503020204020204" charset="-122"/>
                <a:ea typeface="微软雅黑" panose="020B0503020204020204" charset="-122"/>
                <a:cs typeface="微软雅黑" panose="020B0503020204020204" charset="-122"/>
              </a:rPr>
              <a:t>宜耕地数量不能太多</a:t>
            </a:r>
            <a:r>
              <a:rPr lang="en-US" altLang="zh-CN" sz="2000">
                <a:solidFill>
                  <a:srgbClr val="50555F"/>
                </a:solidFill>
                <a:latin typeface="微软雅黑" panose="020B0503020204020204" charset="-122"/>
                <a:ea typeface="微软雅黑" panose="020B0503020204020204" charset="-122"/>
                <a:cs typeface="微软雅黑" panose="020B0503020204020204" charset="-122"/>
              </a:rPr>
              <a:t>”</a:t>
            </a:r>
            <a:r>
              <a:rPr lang="zh-CN" altLang="en-US" sz="2000">
                <a:solidFill>
                  <a:srgbClr val="50555F"/>
                </a:solidFill>
                <a:latin typeface="微软雅黑" panose="020B0503020204020204" charset="-122"/>
                <a:ea typeface="微软雅黑" panose="020B0503020204020204" charset="-122"/>
                <a:cs typeface="微软雅黑" panose="020B0503020204020204" charset="-122"/>
              </a:rPr>
              <a:t>为由，对标国土三调变更地调查数据，要求压低限制因子等级或篡改适宜类判定结果，</a:t>
            </a:r>
            <a:r>
              <a:rPr lang="zh-CN" altLang="en-US" sz="2000">
                <a:solidFill>
                  <a:srgbClr val="FF0000"/>
                </a:solidFill>
                <a:latin typeface="微软雅黑" panose="020B0503020204020204" charset="-122"/>
                <a:ea typeface="微软雅黑" panose="020B0503020204020204" charset="-122"/>
                <a:cs typeface="微软雅黑" panose="020B0503020204020204" charset="-122"/>
              </a:rPr>
              <a:t>导致评价成果偏离自然资源禀赋真实状况</a:t>
            </a:r>
            <a:r>
              <a:rPr lang="zh-CN" altLang="en-US" sz="2000">
                <a:solidFill>
                  <a:srgbClr val="50555F"/>
                </a:solidFill>
                <a:latin typeface="微软雅黑" panose="020B0503020204020204" charset="-122"/>
                <a:ea typeface="微软雅黑" panose="020B0503020204020204" charset="-122"/>
                <a:cs typeface="微软雅黑" panose="020B0503020204020204" charset="-122"/>
              </a:rPr>
              <a:t>。同时，多数县级成果仅完成计算机叠加分析，缺少对</a:t>
            </a:r>
            <a:r>
              <a:rPr lang="en-US" altLang="zh-CN" sz="2000">
                <a:solidFill>
                  <a:srgbClr val="50555F"/>
                </a:solidFill>
                <a:latin typeface="微软雅黑" panose="020B0503020204020204" charset="-122"/>
                <a:ea typeface="微软雅黑" panose="020B0503020204020204" charset="-122"/>
                <a:cs typeface="微软雅黑" panose="020B0503020204020204" charset="-122"/>
              </a:rPr>
              <a:t>“</a:t>
            </a:r>
            <a:r>
              <a:rPr lang="zh-CN" altLang="en-US" sz="2000">
                <a:solidFill>
                  <a:srgbClr val="50555F"/>
                </a:solidFill>
                <a:latin typeface="微软雅黑" panose="020B0503020204020204" charset="-122"/>
                <a:ea typeface="微软雅黑" panose="020B0503020204020204" charset="-122"/>
                <a:cs typeface="微软雅黑" panose="020B0503020204020204" charset="-122"/>
              </a:rPr>
              <a:t>耕者不宜</a:t>
            </a:r>
            <a:r>
              <a:rPr lang="en-US" altLang="zh-CN" sz="2000">
                <a:solidFill>
                  <a:srgbClr val="50555F"/>
                </a:solidFill>
                <a:latin typeface="微软雅黑" panose="020B0503020204020204" charset="-122"/>
                <a:ea typeface="微软雅黑" panose="020B0503020204020204" charset="-122"/>
                <a:cs typeface="微软雅黑" panose="020B0503020204020204" charset="-122"/>
              </a:rPr>
              <a:t>”“</a:t>
            </a:r>
            <a:r>
              <a:rPr lang="zh-CN" altLang="en-US" sz="2000">
                <a:solidFill>
                  <a:srgbClr val="50555F"/>
                </a:solidFill>
                <a:latin typeface="微软雅黑" panose="020B0503020204020204" charset="-122"/>
                <a:ea typeface="微软雅黑" panose="020B0503020204020204" charset="-122"/>
                <a:cs typeface="微软雅黑" panose="020B0503020204020204" charset="-122"/>
              </a:rPr>
              <a:t>宜者不耕</a:t>
            </a:r>
            <a:r>
              <a:rPr lang="en-US" altLang="zh-CN" sz="2000">
                <a:solidFill>
                  <a:srgbClr val="50555F"/>
                </a:solidFill>
                <a:latin typeface="微软雅黑" panose="020B0503020204020204" charset="-122"/>
                <a:ea typeface="微软雅黑" panose="020B0503020204020204" charset="-122"/>
                <a:cs typeface="微软雅黑" panose="020B0503020204020204" charset="-122"/>
              </a:rPr>
              <a:t>”</a:t>
            </a:r>
            <a:r>
              <a:rPr lang="zh-CN" altLang="en-US" sz="2000">
                <a:solidFill>
                  <a:srgbClr val="50555F"/>
                </a:solidFill>
                <a:latin typeface="微软雅黑" panose="020B0503020204020204" charset="-122"/>
                <a:ea typeface="微软雅黑" panose="020B0503020204020204" charset="-122"/>
                <a:cs typeface="微软雅黑" panose="020B0503020204020204" charset="-122"/>
              </a:rPr>
              <a:t>等关键错配图斑的限制性因素数据审查与遥感影像室内校核。</a:t>
            </a:r>
            <a:endParaRPr lang="zh-CN" altLang="en-US" sz="2000">
              <a:solidFill>
                <a:srgbClr val="50555F"/>
              </a:solidFill>
              <a:latin typeface="微软雅黑" panose="020B0503020204020204" charset="-122"/>
              <a:ea typeface="微软雅黑" panose="020B0503020204020204" charset="-122"/>
              <a:cs typeface="微软雅黑" panose="020B0503020204020204" charset="-122"/>
            </a:endParaRPr>
          </a:p>
          <a:p>
            <a:pPr indent="0" algn="l">
              <a:lnSpc>
                <a:spcPct val="108000"/>
              </a:lnSpc>
            </a:pPr>
            <a:endParaRPr lang="en-US" sz="2000" b="1" i="0" u="none" strike="noStrike">
              <a:solidFill>
                <a:srgbClr val="C0392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38000"/>
              </a:lnSpc>
            </a:pPr>
            <a:endParaRPr lang="en-US" sz="200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6" name="AutoShape 6"/>
          <p:cNvSpPr/>
          <p:nvPr/>
        </p:nvSpPr>
        <p:spPr>
          <a:xfrm>
            <a:off x="0" y="0"/>
            <a:ext cx="12217400" cy="92710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381000" y="38100"/>
            <a:ext cx="11430000" cy="8509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问题六：市级汇总接边处理不到位</a:t>
            </a:r>
            <a:endParaRPr lang="en-US" sz="1100"/>
          </a:p>
        </p:txBody>
      </p:sp>
      <p:sp>
        <p:nvSpPr>
          <p:cNvPr id="11" name="AutoShape 5"/>
          <p:cNvSpPr/>
          <p:nvPr/>
        </p:nvSpPr>
        <p:spPr>
          <a:xfrm>
            <a:off x="355600" y="1390015"/>
            <a:ext cx="11480800" cy="3632835"/>
          </a:xfrm>
          <a:prstGeom prst="rect">
            <a:avLst/>
          </a:prstGeom>
          <a:noFill/>
          <a:ln w="25400" cap="flat" cmpd="sng">
            <a:solidFill>
              <a:srgbClr val="1E386B">
                <a:alpha val="100000"/>
              </a:srgbClr>
            </a:solidFill>
            <a:prstDash val="sysDash"/>
            <a:miter lim="10000000"/>
          </a:ln>
          <a:effectLst>
            <a:outerShdw blurRad="63500" algn="ctr" rotWithShape="0">
              <a:srgbClr val="000000">
                <a:alpha val="40000"/>
              </a:srgbClr>
            </a:outerShdw>
          </a:effectLst>
        </p:spPr>
        <p:txBody>
          <a:bodyPr vert="horz" wrap="square" lIns="0" tIns="0" rIns="0" bIns="0" rtlCol="0" anchor="ctr" anchorCtr="0"/>
          <a:lstStyle/>
          <a:p>
            <a:pPr algn="l">
              <a:defRPr/>
            </a:pPr>
          </a:p>
        </p:txBody>
      </p:sp>
      <p:sp>
        <p:nvSpPr>
          <p:cNvPr id="12" name="AutoShape 7"/>
          <p:cNvSpPr/>
          <p:nvPr/>
        </p:nvSpPr>
        <p:spPr>
          <a:xfrm>
            <a:off x="381000" y="1758315"/>
            <a:ext cx="10947400" cy="3542665"/>
          </a:xfrm>
          <a:prstGeom prst="rect">
            <a:avLst/>
          </a:prstGeom>
          <a:noFill/>
          <a:ln w="12700" cap="flat" cmpd="sng">
            <a:noFill/>
            <a:prstDash val="solid"/>
            <a:round/>
          </a:ln>
        </p:spPr>
        <p:txBody>
          <a:bodyPr vert="horz" wrap="square" lIns="127000" tIns="127000" rIns="127000" bIns="127000" rtlCol="0" anchor="t" anchorCtr="0"/>
          <a:lstStyle/>
          <a:p>
            <a:pPr marL="254000" indent="457200" algn="l" eaLnBrk="1" fontAlgn="auto" latinLnBrk="0" hangingPunct="1">
              <a:lnSpc>
                <a:spcPct val="187000"/>
              </a:lnSpc>
              <a:buClr>
                <a:srgbClr val="3C3C3C"/>
              </a:buClr>
              <a:buNone/>
            </a:pPr>
            <a:r>
              <a:rPr lang="zh-CN" altLang="en-US" sz="200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相邻县域在共同边界上，对同一地理位置、相似土壤类型的地块评价结果不一致，且仅做了几何拼接，未进行属性逻辑的一致性检查。</a:t>
            </a:r>
            <a:endParaRPr lang="zh-CN" altLang="en-US" sz="200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54000" indent="457200" algn="l" eaLnBrk="1" fontAlgn="auto" latinLnBrk="0" hangingPunct="1">
              <a:lnSpc>
                <a:spcPct val="187000"/>
              </a:lnSpc>
              <a:buClr>
                <a:srgbClr val="3C3C3C"/>
              </a:buClr>
              <a:buNone/>
            </a:pPr>
            <a:r>
              <a:rPr lang="zh-CN" altLang="en-US" sz="200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由于</a:t>
            </a:r>
            <a:r>
              <a:rPr lang="zh-CN" altLang="en-US" sz="2000"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没有进行有效地制图综合</a:t>
            </a:r>
            <a:r>
              <a:rPr lang="zh-CN" altLang="en-US" sz="200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，造成一条边有几百个图斑，给接边</a:t>
            </a:r>
            <a:r>
              <a:rPr lang="zh-CN" altLang="en-US" sz="2000"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造成巨大的工作量</a:t>
            </a:r>
            <a:r>
              <a:rPr lang="zh-CN" altLang="en-US" sz="200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rPr>
              <a:t>。市级汇总时无法形成逻辑完整的图件，跨县域布局缺乏统一空间基础。</a:t>
            </a:r>
            <a:endParaRPr lang="zh-CN" altLang="en-US" sz="2000" i="0" u="none" strike="noStrike">
              <a:solidFill>
                <a:srgbClr val="50555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0"/>
          </a:xfrm>
          <a:prstGeom prst="roundRect">
            <a:avLst>
              <a:gd name="adj" fmla="val 0"/>
            </a:avLst>
          </a:prstGeom>
          <a:solidFill>
            <a:srgbClr val="32478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04 整改要</a:t>
            </a:r>
            <a:r>
              <a:rPr lang="zh-CN" altLang="en-US" sz="3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点</a:t>
            </a:r>
            <a:endParaRPr lang="zh-CN" altLang="en-US" sz="3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nvSpPr>
        <p:spPr>
          <a:xfrm>
            <a:off x="596900" y="1219200"/>
            <a:ext cx="10820400" cy="5295900"/>
          </a:xfrm>
          <a:prstGeom prst="roundRect">
            <a:avLst>
              <a:gd name="adj" fmla="val 3117"/>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381000" tIns="317500" rIns="381000" bIns="317500" rtlCol="0" anchor="t" anchorCtr="0"/>
          <a:lstStyle/>
          <a:p>
            <a:pPr indent="0" algn="l">
              <a:lnSpc>
                <a:spcPct val="150000"/>
              </a:lnSpc>
              <a:defRPr/>
            </a:pPr>
            <a:r>
              <a:rPr lang="en-US" sz="2400" b="1" i="0" u="none" strike="noStrike">
                <a:solidFill>
                  <a:srgbClr val="003366"/>
                </a:solidFill>
                <a:latin typeface="微软雅黑" panose="020B0503020204020204" charset="-122"/>
                <a:ea typeface="微软雅黑" panose="020B0503020204020204" charset="-122"/>
                <a:cs typeface="微软雅黑" panose="020B0503020204020204" charset="-122"/>
                <a:sym typeface="微软雅黑" panose="020B0503020204020204" charset="-122"/>
              </a:rPr>
              <a:t>▌ 整改总览</a:t>
            </a:r>
            <a:endParaRPr lang="en-US" sz="2400"/>
          </a:p>
          <a:p>
            <a:pPr indent="457200" algn="just">
              <a:lnSpc>
                <a:spcPct val="150000"/>
              </a:lnSpc>
              <a:spcAft>
                <a:spcPts val="0"/>
              </a:spcAft>
              <a:buSzTx/>
              <a:defRPr/>
            </a:pPr>
            <a:r>
              <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针对上述问题，专题组提出以下六项刚性整改要求。各省须逐条对照落实，确保成果质量，避免同类问题重复发生。</a:t>
            </a:r>
            <a:endPar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2400" b="1" i="0" u="none" strike="noStrike">
                <a:solidFill>
                  <a:srgbClr val="003366"/>
                </a:solidFill>
                <a:latin typeface="微软雅黑" panose="020B0503020204020204" charset="-122"/>
                <a:ea typeface="微软雅黑" panose="020B0503020204020204" charset="-122"/>
                <a:cs typeface="微软雅黑" panose="020B0503020204020204" charset="-122"/>
                <a:sym typeface="微软雅黑" panose="020B0503020204020204" charset="-122"/>
              </a:rPr>
              <a:t>▌ 六</a:t>
            </a:r>
            <a:r>
              <a:rPr lang="zh-CN" altLang="en-US" sz="2400" b="1" i="0" u="none" strike="noStrike">
                <a:solidFill>
                  <a:srgbClr val="003366"/>
                </a:solidFill>
                <a:latin typeface="微软雅黑" panose="020B0503020204020204" charset="-122"/>
                <a:ea typeface="微软雅黑" panose="020B0503020204020204" charset="-122"/>
                <a:cs typeface="微软雅黑" panose="020B0503020204020204" charset="-122"/>
                <a:sym typeface="微软雅黑" panose="020B0503020204020204" charset="-122"/>
              </a:rPr>
              <a:t>个要点</a:t>
            </a:r>
            <a:endParaRPr lang="zh-CN" altLang="en-US" sz="2400" b="1" i="0" u="none" strike="noStrike">
              <a:solidFill>
                <a:srgbClr val="0033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一、重制评价单元，规范土地利用现状图缩编处理</a:t>
            </a:r>
            <a:br>
              <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二、规范限制性因素选取、数据源及分级标准</a:t>
            </a:r>
            <a:br>
              <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三、严格审查“耕者不宜、宜者不耕”的限制性因素</a:t>
            </a:r>
            <a:br>
              <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四、规范跨县域接边，实行上级统筹</a:t>
            </a:r>
            <a:br>
              <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五、严格执行面积守恒与属性可追溯</a:t>
            </a:r>
            <a:br>
              <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rPr>
              <a:t>六、启动市级1:25万汇总，省级技术单位提前介入</a:t>
            </a:r>
            <a:endParaRPr lang="en-US" sz="1800" b="0" i="0" u="none" strike="noStrike">
              <a:solidFill>
                <a:srgbClr val="4B556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 name="AutoShape 5"/>
          <p:cNvSpPr/>
          <p:nvPr/>
        </p:nvSpPr>
        <p:spPr>
          <a:xfrm>
            <a:off x="355600" y="1181100"/>
            <a:ext cx="11480800" cy="3572510"/>
          </a:xfrm>
          <a:prstGeom prst="rect">
            <a:avLst/>
          </a:prstGeom>
          <a:noFill/>
          <a:ln w="25400" cap="flat" cmpd="sng">
            <a:solidFill>
              <a:srgbClr val="1E386B">
                <a:alpha val="100000"/>
              </a:srgbClr>
            </a:solidFill>
            <a:prstDash val="sysDash"/>
            <a:miter lim="10000000"/>
          </a:ln>
          <a:effectLst>
            <a:outerShdw blurRad="63500" algn="ctr" rotWithShape="0">
              <a:srgbClr val="000000">
                <a:alpha val="40000"/>
              </a:srgbClr>
            </a:outerShdw>
          </a:effectLst>
        </p:spPr>
        <p:txBody>
          <a:bodyPr vert="horz" wrap="square" lIns="0" tIns="0" rIns="0" bIns="0" rtlCol="0" anchor="ctr" anchorCtr="0"/>
          <a:lstStyle/>
          <a:p>
            <a:pPr algn="l">
              <a:defRPr/>
            </a:pPr>
          </a:p>
        </p:txBody>
      </p:sp>
      <p:sp>
        <p:nvSpPr>
          <p:cNvPr id="6" name="AutoShape 6"/>
          <p:cNvSpPr/>
          <p:nvPr/>
        </p:nvSpPr>
        <p:spPr>
          <a:xfrm>
            <a:off x="0" y="0"/>
            <a:ext cx="12217400" cy="92710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381000" y="38100"/>
            <a:ext cx="11430000" cy="8509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92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整改要求一：</a:t>
            </a:r>
            <a:r>
              <a:rPr lang="en-US" sz="28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重制评价单元，规范土地利用现状图缩编处理</a:t>
            </a:r>
            <a:endParaRPr lang="en-US" sz="2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767080" y="1408430"/>
            <a:ext cx="10657840" cy="2884170"/>
          </a:xfrm>
          <a:prstGeom prst="rect">
            <a:avLst/>
          </a:prstGeom>
          <a:noFill/>
        </p:spPr>
        <p:txBody>
          <a:bodyPr wrap="square" rtlCol="0">
            <a:noAutofit/>
          </a:bodyPr>
          <a:p>
            <a:pPr indent="457200" algn="just">
              <a:lnSpc>
                <a:spcPct val="150000"/>
              </a:lnSpc>
              <a:buSzTx/>
              <a:defRPr/>
            </a:pPr>
            <a:r>
              <a:rPr lang="en-US" sz="1800">
                <a:solidFill>
                  <a:srgbClr val="4B5563"/>
                </a:solidFill>
                <a:latin typeface="微软雅黑" panose="020B0503020204020204" charset="-122"/>
                <a:ea typeface="微软雅黑" panose="020B0503020204020204" charset="-122"/>
                <a:cs typeface="微软雅黑" panose="020B0503020204020204" charset="-122"/>
              </a:rPr>
              <a:t>尚未开展的县，必须对1:1万土地利用现状数据进行</a:t>
            </a:r>
            <a:r>
              <a:rPr lang="en-US" sz="1800">
                <a:solidFill>
                  <a:srgbClr val="FF0000"/>
                </a:solidFill>
                <a:latin typeface="微软雅黑" panose="020B0503020204020204" charset="-122"/>
                <a:ea typeface="微软雅黑" panose="020B0503020204020204" charset="-122"/>
                <a:cs typeface="微软雅黑" panose="020B0503020204020204" charset="-122"/>
              </a:rPr>
              <a:t>缩编处理</a:t>
            </a:r>
            <a:r>
              <a:rPr lang="en-US" sz="1800">
                <a:solidFill>
                  <a:srgbClr val="4B5563"/>
                </a:solidFill>
                <a:latin typeface="微软雅黑" panose="020B0503020204020204" charset="-122"/>
                <a:ea typeface="微软雅黑" panose="020B0503020204020204" charset="-122"/>
                <a:cs typeface="微软雅黑" panose="020B0503020204020204" charset="-122"/>
              </a:rPr>
              <a:t>，与县级成果制图的目标</a:t>
            </a:r>
            <a:r>
              <a:rPr lang="en-US" sz="1800">
                <a:solidFill>
                  <a:srgbClr val="FF0000"/>
                </a:solidFill>
                <a:latin typeface="微软雅黑" panose="020B0503020204020204" charset="-122"/>
                <a:ea typeface="微软雅黑" panose="020B0503020204020204" charset="-122"/>
                <a:cs typeface="微软雅黑" panose="020B0503020204020204" charset="-122"/>
              </a:rPr>
              <a:t>比例尺（按1:5万综合）相匹配</a:t>
            </a:r>
            <a:r>
              <a:rPr lang="en-US" sz="1800">
                <a:solidFill>
                  <a:srgbClr val="4B5563"/>
                </a:solidFill>
                <a:latin typeface="微软雅黑" panose="020B0503020204020204" charset="-122"/>
                <a:ea typeface="微软雅黑" panose="020B0503020204020204" charset="-122"/>
                <a:cs typeface="微软雅黑" panose="020B0503020204020204" charset="-122"/>
              </a:rPr>
              <a:t>。缩编的核心优点在于、保持土种图斑的空间完整性，避免同一土种被切割为大量细碎评价单元；减少数据冗余，提升GIS运算效率；保障“图形空间聚类+属性汇总”的逐级汇总技术路线的可操作性。</a:t>
            </a:r>
            <a:endParaRPr lang="en-US" sz="1800">
              <a:solidFill>
                <a:srgbClr val="4B5563"/>
              </a:solidFill>
              <a:latin typeface="微软雅黑" panose="020B0503020204020204" charset="-122"/>
              <a:ea typeface="微软雅黑" panose="020B0503020204020204" charset="-122"/>
              <a:cs typeface="微软雅黑" panose="020B0503020204020204" charset="-122"/>
            </a:endParaRPr>
          </a:p>
          <a:p>
            <a:pPr indent="457200" algn="just">
              <a:lnSpc>
                <a:spcPct val="150000"/>
              </a:lnSpc>
              <a:buSzTx/>
              <a:defRPr/>
            </a:pPr>
            <a:r>
              <a:rPr lang="en-US" sz="1800">
                <a:solidFill>
                  <a:srgbClr val="4B5563"/>
                </a:solidFill>
                <a:latin typeface="微软雅黑" panose="020B0503020204020204" charset="-122"/>
                <a:ea typeface="微软雅黑" panose="020B0503020204020204" charset="-122"/>
                <a:cs typeface="微软雅黑" panose="020B0503020204020204" charset="-122"/>
              </a:rPr>
              <a:t>已按规范以土种图斑为基础完成评价单元划分、且未叠加过细现状图斑的县，可不另行缩编，但须经省级专家审核确认其评价单元均质性和数量合理性。</a:t>
            </a:r>
            <a:endParaRPr lang="en-US" sz="1800">
              <a:solidFill>
                <a:srgbClr val="4B556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901065"/>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65100"/>
            <a:ext cx="10668000" cy="571500"/>
          </a:xfrm>
          <a:prstGeom prst="roundRect">
            <a:avLst>
              <a:gd name="adj" fmla="val 0"/>
            </a:avLst>
          </a:prstGeom>
          <a:noFill/>
          <a:ln w="25400" cap="flat" cmpd="sng">
            <a:noFill/>
            <a:prstDash val="solid"/>
            <a:round/>
          </a:ln>
        </p:spPr>
        <p:txBody>
          <a:bodyPr vert="horz" wrap="square" lIns="0" tIns="0" rIns="0" bIns="0" rtlCol="0" anchor="ctr" anchorCtr="0"/>
          <a:lstStyle/>
          <a:p>
            <a:pPr algn="ctr">
              <a:lnSpc>
                <a:spcPct val="92000"/>
              </a:lnSpc>
              <a:buSzTx/>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整改要求二：</a:t>
            </a:r>
            <a:r>
              <a:rPr lang="zh-CN" alt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规范限制性因素选取、数据源及分级标准</a:t>
            </a:r>
            <a:endParaRPr lang="en-US" sz="2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AutoShape 4"/>
          <p:cNvSpPr/>
          <p:nvPr>
            <p:custDataLst>
              <p:tags r:id="rId1"/>
            </p:custDataLst>
          </p:nvPr>
        </p:nvSpPr>
        <p:spPr>
          <a:xfrm>
            <a:off x="161925" y="1027430"/>
            <a:ext cx="4740275" cy="5314950"/>
          </a:xfrm>
          <a:prstGeom prst="roundRect">
            <a:avLst>
              <a:gd name="adj" fmla="val 3266"/>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6" name="AutoShape 6"/>
          <p:cNvSpPr/>
          <p:nvPr>
            <p:custDataLst>
              <p:tags r:id="rId2"/>
            </p:custDataLst>
          </p:nvPr>
        </p:nvSpPr>
        <p:spPr>
          <a:xfrm>
            <a:off x="309880" y="1103630"/>
            <a:ext cx="4446905" cy="83248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（一）合理选取限制性因素，落实本地化论证</a:t>
            </a:r>
            <a:endParaRPr lang="en-US" sz="1100"/>
          </a:p>
        </p:txBody>
      </p:sp>
      <p:sp>
        <p:nvSpPr>
          <p:cNvPr id="7" name="AutoShape 7"/>
          <p:cNvSpPr/>
          <p:nvPr>
            <p:custDataLst>
              <p:tags r:id="rId3"/>
            </p:custDataLst>
          </p:nvPr>
        </p:nvSpPr>
        <p:spPr>
          <a:xfrm>
            <a:off x="372745" y="1873885"/>
            <a:ext cx="4203065" cy="4098290"/>
          </a:xfrm>
          <a:prstGeom prst="rect">
            <a:avLst/>
          </a:prstGeom>
          <a:noFill/>
          <a:ln w="12700" cap="flat" cmpd="sng">
            <a:noFill/>
            <a:prstDash val="solid"/>
            <a:round/>
          </a:ln>
        </p:spPr>
        <p:txBody>
          <a:bodyPr vert="horz" wrap="square" lIns="127000" tIns="101600" rIns="127000" bIns="101600" rtlCol="0" anchor="t" anchorCtr="0"/>
          <a:lstStyle/>
          <a:p>
            <a:pPr indent="457200" algn="just">
              <a:lnSpc>
                <a:spcPct val="150000"/>
              </a:lnSpc>
              <a:buSzTx/>
              <a:defRPr/>
            </a:pPr>
            <a:r>
              <a:rPr lang="en-US" sz="1800">
                <a:solidFill>
                  <a:srgbClr val="4B5563"/>
                </a:solidFill>
                <a:latin typeface="微软雅黑" panose="020B0503020204020204" charset="-122"/>
                <a:ea typeface="微软雅黑" panose="020B0503020204020204" charset="-122"/>
                <a:cs typeface="微软雅黑" panose="020B0503020204020204" charset="-122"/>
              </a:rPr>
              <a:t>限制性因素的选取应遵循“少而精”原则，以能够区分适宜类与适宜程度的最小因子集合为准。岩石出露丰度不作为通用限制性因素，仅在地表岩石出露普遍、对耕作构成实际障碍的喀斯特区域，可根据本地实际情况选入指标体系，并须在限制因子本地化说明中详细论证选取依据。</a:t>
            </a:r>
            <a:endParaRPr lang="en-US" sz="1800">
              <a:solidFill>
                <a:srgbClr val="4B5563"/>
              </a:solidFill>
              <a:latin typeface="微软雅黑" panose="020B0503020204020204" charset="-122"/>
              <a:ea typeface="微软雅黑" panose="020B0503020204020204" charset="-122"/>
              <a:cs typeface="微软雅黑" panose="020B0503020204020204" charset="-122"/>
            </a:endParaRPr>
          </a:p>
        </p:txBody>
      </p:sp>
      <p:sp>
        <p:nvSpPr>
          <p:cNvPr id="8" name="AutoShape 8"/>
          <p:cNvSpPr/>
          <p:nvPr>
            <p:custDataLst>
              <p:tags r:id="rId4"/>
            </p:custDataLst>
          </p:nvPr>
        </p:nvSpPr>
        <p:spPr>
          <a:xfrm>
            <a:off x="5080000" y="1027430"/>
            <a:ext cx="6893560" cy="5315585"/>
          </a:xfrm>
          <a:prstGeom prst="roundRect">
            <a:avLst>
              <a:gd name="adj" fmla="val 3015"/>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0" name="AutoShape 10"/>
          <p:cNvSpPr/>
          <p:nvPr>
            <p:custDataLst>
              <p:tags r:id="rId5"/>
            </p:custDataLst>
          </p:nvPr>
        </p:nvSpPr>
        <p:spPr>
          <a:xfrm>
            <a:off x="5243195" y="1103630"/>
            <a:ext cx="5598160" cy="406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（二）规范箱线图的制作方法，明确影像获取途径</a:t>
            </a:r>
            <a:endParaRPr lang="en-US" sz="1100"/>
          </a:p>
        </p:txBody>
      </p:sp>
      <p:sp>
        <p:nvSpPr>
          <p:cNvPr id="11" name="AutoShape 11"/>
          <p:cNvSpPr/>
          <p:nvPr>
            <p:custDataLst>
              <p:tags r:id="rId6"/>
            </p:custDataLst>
          </p:nvPr>
        </p:nvSpPr>
        <p:spPr>
          <a:xfrm>
            <a:off x="5243830" y="1535430"/>
            <a:ext cx="6470015" cy="4877435"/>
          </a:xfrm>
          <a:prstGeom prst="rect">
            <a:avLst/>
          </a:prstGeom>
          <a:noFill/>
          <a:ln w="12700" cap="flat" cmpd="sng">
            <a:noFill/>
            <a:prstDash val="solid"/>
            <a:round/>
          </a:ln>
        </p:spPr>
        <p:txBody>
          <a:bodyPr vert="horz" wrap="square" lIns="127000" tIns="101600" rIns="127000" bIns="101600" rtlCol="0" anchor="t" anchorCtr="0"/>
          <a:lstStyle/>
          <a:p>
            <a:pPr indent="457200" algn="l">
              <a:lnSpc>
                <a:spcPct val="150000"/>
              </a:lnSpc>
              <a:buSzTx/>
              <a:defRPr/>
            </a:pPr>
            <a:r>
              <a:rPr lang="en-US" sz="1800">
                <a:solidFill>
                  <a:srgbClr val="4B5563"/>
                </a:solidFill>
                <a:latin typeface="微软雅黑" panose="020B0503020204020204" charset="-122"/>
                <a:ea typeface="微软雅黑" panose="020B0503020204020204" charset="-122"/>
                <a:cs typeface="微软雅黑" panose="020B0503020204020204" charset="-122"/>
              </a:rPr>
              <a:t>必须采用20年前（约2000—2005年）的遥感影像地类数据，结合DEM制作箱线图。可以准确反映未受人为利用的显著影响的地表垂直分布情况。</a:t>
            </a:r>
            <a:endParaRPr lang="en-US" sz="1800">
              <a:solidFill>
                <a:srgbClr val="4B5563"/>
              </a:solidFill>
              <a:latin typeface="微软雅黑" panose="020B0503020204020204" charset="-122"/>
              <a:ea typeface="微软雅黑" panose="020B0503020204020204" charset="-122"/>
              <a:cs typeface="微软雅黑" panose="020B0503020204020204" charset="-122"/>
            </a:endParaRPr>
          </a:p>
          <a:p>
            <a:pPr indent="457200" algn="l">
              <a:lnSpc>
                <a:spcPct val="150000"/>
              </a:lnSpc>
              <a:buSzTx/>
              <a:defRPr/>
            </a:pPr>
            <a:r>
              <a:rPr lang="en-US" sz="1800" b="0" i="0" u="none" strike="noStrike">
                <a:solidFill>
                  <a:srgbClr val="4B5563"/>
                </a:solidFill>
                <a:latin typeface="Times New Roman" panose="02020603050405020304" charset="0"/>
                <a:ea typeface="微软雅黑" panose="020B0503020204020204" charset="-122"/>
                <a:cs typeface="Times New Roman" panose="02020603050405020304" charset="0"/>
                <a:sym typeface="微软雅黑" panose="020B0503020204020204" charset="-122"/>
              </a:rPr>
              <a:t>通过公开数据源下载遥感影像分类数据；在地理空间数据云上下载DEM数据。获取省级数据后，再裁剪至县域范围使用。以箱线图揭示的各土地利用类型的海拔、坡度分布特征（起始值、中位数、四分之三位等），作为制定本地区宜耕、宜园、宜林、宜草分级标准的重要参考。在海拔、坡度初步区分的基础上，进一步采用土层厚度和砾石含量两个指标，对园地与林地进行细化区分、土层较厚、砾石含量较低的地块优先判定为宜园；土层较薄、砾石含量较高的地块优先判定为宜林。</a:t>
            </a:r>
            <a:endParaRPr lang="en-US" sz="1800" b="0" i="0" u="none" strike="noStrike">
              <a:solidFill>
                <a:srgbClr val="4B5563"/>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p:txBody>
      </p:sp>
      <p:sp>
        <p:nvSpPr>
          <p:cNvPr id="12" name="文本框 11"/>
          <p:cNvSpPr txBox="1"/>
          <p:nvPr/>
        </p:nvSpPr>
        <p:spPr>
          <a:xfrm>
            <a:off x="5517515" y="6438265"/>
            <a:ext cx="6456045" cy="306705"/>
          </a:xfrm>
          <a:prstGeom prst="rect">
            <a:avLst/>
          </a:prstGeom>
          <a:noFill/>
        </p:spPr>
        <p:txBody>
          <a:bodyPr wrap="square" rtlCol="0">
            <a:spAutoFit/>
          </a:bodyPr>
          <a:p>
            <a:r>
              <a:rPr lang="zh-CN" altLang="en-US">
                <a:solidFill>
                  <a:srgbClr val="4B5563"/>
                </a:solidFill>
                <a:latin typeface="Times New Roman" panose="02020603050405020304" charset="0"/>
                <a:ea typeface="微软雅黑" panose="020B0503020204020204" charset="-122"/>
                <a:cs typeface="Times New Roman" panose="02020603050405020304" charset="0"/>
                <a:sym typeface="微软雅黑" panose="020B0503020204020204" charset="-122"/>
              </a:rPr>
              <a:t>公开数据源：</a:t>
            </a:r>
            <a:r>
              <a:rPr lang="en-US">
                <a:solidFill>
                  <a:srgbClr val="4B5563"/>
                </a:solidFill>
                <a:latin typeface="Times New Roman" panose="02020603050405020304" charset="0"/>
                <a:ea typeface="微软雅黑" panose="020B0503020204020204" charset="-122"/>
                <a:cs typeface="Times New Roman" panose="02020603050405020304" charset="0"/>
                <a:sym typeface="微软雅黑" panose="020B0503020204020204" charset="-122"/>
              </a:rPr>
              <a:t>（https://www.cnblogs.com/icydengyw/p/17184448.html）</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 name="AutoShape 5"/>
          <p:cNvSpPr/>
          <p:nvPr/>
        </p:nvSpPr>
        <p:spPr>
          <a:xfrm>
            <a:off x="355600" y="1143000"/>
            <a:ext cx="11480800" cy="4569460"/>
          </a:xfrm>
          <a:prstGeom prst="roundRect">
            <a:avLst>
              <a:gd name="adj" fmla="val 0"/>
            </a:avLst>
          </a:prstGeom>
          <a:solidFill>
            <a:srgbClr val="FFFFFF">
              <a:alpha val="80000"/>
            </a:srgbClr>
          </a:solidFill>
          <a:ln w="25400" cap="flat" cmpd="sng">
            <a:solidFill>
              <a:srgbClr val="1E386B">
                <a:alpha val="100000"/>
              </a:srgbClr>
            </a:solidFill>
            <a:prstDash val="sysDash"/>
            <a:miter lim="10000000"/>
          </a:ln>
          <a:effectLst>
            <a:outerShdw blurRad="63500" algn="ctr" rotWithShape="0">
              <a:srgbClr val="000000">
                <a:alpha val="20000"/>
              </a:srgbClr>
            </a:outerShdw>
          </a:effectLst>
        </p:spPr>
        <p:txBody>
          <a:bodyPr vert="horz" wrap="square" lIns="63500" tIns="63500" rIns="63500" bIns="63500" rtlCol="0" anchor="ctr"/>
          <a:lstStyle/>
          <a:p>
            <a:pPr algn="ctr">
              <a:defRPr/>
            </a:pPr>
          </a:p>
        </p:txBody>
      </p:sp>
      <p:sp>
        <p:nvSpPr>
          <p:cNvPr id="6" name="AutoShape 6"/>
          <p:cNvSpPr/>
          <p:nvPr/>
        </p:nvSpPr>
        <p:spPr>
          <a:xfrm>
            <a:off x="0" y="0"/>
            <a:ext cx="12217400" cy="92710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381000" y="76200"/>
            <a:ext cx="11430000" cy="762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92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整改要求三：</a:t>
            </a:r>
            <a:r>
              <a:rPr lang="zh-CN" alt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严格审查</a:t>
            </a:r>
            <a:r>
              <a:rPr lang="en-US" altLang="zh-CN"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耕者不宜、宜者不耕</a:t>
            </a:r>
            <a:r>
              <a:rPr lang="en-US" altLang="zh-CN"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的限制性因素</a:t>
            </a:r>
            <a:endParaRPr lang="en-US" sz="1100"/>
          </a:p>
        </p:txBody>
      </p:sp>
      <p:sp>
        <p:nvSpPr>
          <p:cNvPr id="11" name="矩形 10"/>
          <p:cNvSpPr/>
          <p:nvPr/>
        </p:nvSpPr>
        <p:spPr>
          <a:xfrm>
            <a:off x="533400" y="1261745"/>
            <a:ext cx="4064000" cy="384175"/>
          </a:xfrm>
          <a:prstGeom prst="rect">
            <a:avLst/>
          </a:prstGeom>
          <a:noFill/>
          <a:ln w="254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sz="2000" b="1">
                <a:solidFill>
                  <a:srgbClr val="1E40AF"/>
                </a:solidFill>
                <a:latin typeface="微软雅黑" panose="020B0503020204020204" charset="-122"/>
                <a:ea typeface="微软雅黑" panose="020B0503020204020204" charset="-122"/>
                <a:cs typeface="微软雅黑" panose="020B0503020204020204" charset="-122"/>
                <a:sym typeface="+mn-ea"/>
              </a:rPr>
              <a:t>（一）室内校核与实地核实相结合</a:t>
            </a:r>
            <a:endParaRPr lang="zh-CN" altLang="en-US" sz="2000" b="1">
              <a:solidFill>
                <a:srgbClr val="1E40AF"/>
              </a:solidFill>
              <a:latin typeface="微软雅黑" panose="020B0503020204020204" charset="-122"/>
              <a:ea typeface="微软雅黑" panose="020B0503020204020204" charset="-122"/>
              <a:cs typeface="微软雅黑" panose="020B0503020204020204" charset="-122"/>
              <a:sym typeface="+mn-ea"/>
            </a:endParaRPr>
          </a:p>
        </p:txBody>
      </p:sp>
      <p:sp>
        <p:nvSpPr>
          <p:cNvPr id="12" name="矩形 11"/>
          <p:cNvSpPr/>
          <p:nvPr/>
        </p:nvSpPr>
        <p:spPr>
          <a:xfrm>
            <a:off x="664210" y="1718310"/>
            <a:ext cx="9763760" cy="3942715"/>
          </a:xfrm>
          <a:prstGeom prst="rect">
            <a:avLst/>
          </a:prstGeom>
          <a:noFill/>
          <a:ln w="12700" cap="flat" cmpd="sng">
            <a:noFill/>
            <a:prstDash val="solid"/>
            <a:round/>
          </a:ln>
        </p:spPr>
        <p:txBody>
          <a:bodyPr vert="horz" wrap="square" lIns="127000" tIns="101600" rIns="127000" bIns="101600" rtlCol="0" anchor="t" anchorCtr="0">
            <a:noAutofit/>
          </a:bodyPr>
          <a:lstStyle/>
          <a:p>
            <a:pPr lvl="0" indent="457200" algn="just">
              <a:lnSpc>
                <a:spcPct val="180000"/>
              </a:lnSpc>
              <a:buSzTx/>
              <a:defRPr/>
            </a:pP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对评价结果中</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现状为耕地但评价为不宜耕</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（以下简称</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宜者不耕</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）以及</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现状为非耕地但评价为宜耕</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（以下简称</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耕者不宜</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）的图斑，必须</a:t>
            </a:r>
            <a:r>
              <a:rPr lang="en-US" sz="1800">
                <a:solidFill>
                  <a:srgbClr val="FF0000"/>
                </a:solidFill>
                <a:latin typeface="微软雅黑" panose="020B0503020204020204" charset="-122"/>
                <a:ea typeface="微软雅黑" panose="020B0503020204020204" charset="-122"/>
                <a:cs typeface="微软雅黑" panose="020B0503020204020204" charset="-122"/>
                <a:sym typeface="+mn-ea"/>
              </a:rPr>
              <a:t>逐图斑开展限制性因素数据审查与遥感影像室内校核</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。具体工作包括：</a:t>
            </a:r>
            <a:endParaRPr lang="en-US" sz="1800">
              <a:solidFill>
                <a:srgbClr val="4B5563"/>
              </a:solidFill>
              <a:latin typeface="微软雅黑" panose="020B0503020204020204" charset="-122"/>
              <a:ea typeface="微软雅黑" panose="020B0503020204020204" charset="-122"/>
              <a:cs typeface="微软雅黑" panose="020B0503020204020204" charset="-122"/>
              <a:sym typeface="+mn-ea"/>
            </a:endParaRPr>
          </a:p>
          <a:p>
            <a:pPr lvl="0" indent="457200" algn="just">
              <a:lnSpc>
                <a:spcPct val="180000"/>
              </a:lnSpc>
              <a:buSzTx/>
              <a:defRPr/>
            </a:pP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 </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核查该类图斑所识别的限制因子（如坡度、土层厚度、砾石含量、盐碱化、酸化等）所依据的数据源是否合规、分级阈值是否合理；</a:t>
            </a:r>
            <a:endParaRPr lang="en-US" sz="1800">
              <a:solidFill>
                <a:srgbClr val="4B5563"/>
              </a:solidFill>
              <a:latin typeface="微软雅黑" panose="020B0503020204020204" charset="-122"/>
              <a:ea typeface="微软雅黑" panose="020B0503020204020204" charset="-122"/>
              <a:cs typeface="微软雅黑" panose="020B0503020204020204" charset="-122"/>
              <a:sym typeface="+mn-ea"/>
            </a:endParaRPr>
          </a:p>
          <a:p>
            <a:pPr lvl="0" indent="457200" algn="just">
              <a:lnSpc>
                <a:spcPct val="180000"/>
              </a:lnSpc>
              <a:buSzTx/>
              <a:defRPr/>
            </a:pP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 </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利用高分辨率遥感影像对图斑的地表覆盖、地形特征进行交叉验证；</a:t>
            </a:r>
            <a:endParaRPr lang="en-US" sz="1800">
              <a:solidFill>
                <a:srgbClr val="4B5563"/>
              </a:solidFill>
              <a:latin typeface="微软雅黑" panose="020B0503020204020204" charset="-122"/>
              <a:ea typeface="微软雅黑" panose="020B0503020204020204" charset="-122"/>
              <a:cs typeface="微软雅黑" panose="020B0503020204020204" charset="-122"/>
              <a:sym typeface="+mn-ea"/>
            </a:endParaRPr>
          </a:p>
          <a:p>
            <a:pPr lvl="0" indent="457200" algn="just">
              <a:lnSpc>
                <a:spcPct val="180000"/>
              </a:lnSpc>
              <a:buSzTx/>
              <a:defRPr/>
            </a:pP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 </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经室内校核确认存在问题或无法判定的，再开展实地踏勘核实。</a:t>
            </a:r>
            <a:endParaRPr lang="en-US" sz="1800">
              <a:solidFill>
                <a:srgbClr val="4B5563"/>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 name="AutoShape 5"/>
          <p:cNvSpPr/>
          <p:nvPr/>
        </p:nvSpPr>
        <p:spPr>
          <a:xfrm>
            <a:off x="355600" y="1143000"/>
            <a:ext cx="11480800" cy="4318000"/>
          </a:xfrm>
          <a:prstGeom prst="roundRect">
            <a:avLst>
              <a:gd name="adj" fmla="val 0"/>
            </a:avLst>
          </a:prstGeom>
          <a:solidFill>
            <a:srgbClr val="FFFFFF">
              <a:alpha val="80000"/>
            </a:srgbClr>
          </a:solidFill>
          <a:ln w="25400" cap="flat" cmpd="sng">
            <a:solidFill>
              <a:srgbClr val="1E386B">
                <a:alpha val="100000"/>
              </a:srgbClr>
            </a:solidFill>
            <a:prstDash val="sysDash"/>
            <a:miter lim="10000000"/>
          </a:ln>
          <a:effectLst>
            <a:outerShdw blurRad="63500" algn="ctr" rotWithShape="0">
              <a:srgbClr val="000000">
                <a:alpha val="20000"/>
              </a:srgbClr>
            </a:outerShdw>
          </a:effectLst>
        </p:spPr>
        <p:txBody>
          <a:bodyPr vert="horz" wrap="square" lIns="63500" tIns="63500" rIns="63500" bIns="63500" rtlCol="0" anchor="ctr"/>
          <a:lstStyle/>
          <a:p>
            <a:pPr algn="ctr">
              <a:defRPr/>
            </a:pPr>
          </a:p>
        </p:txBody>
      </p:sp>
      <p:sp>
        <p:nvSpPr>
          <p:cNvPr id="6" name="AutoShape 6"/>
          <p:cNvSpPr/>
          <p:nvPr/>
        </p:nvSpPr>
        <p:spPr>
          <a:xfrm>
            <a:off x="0" y="0"/>
            <a:ext cx="12217400" cy="92710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381000" y="76200"/>
            <a:ext cx="11430000" cy="762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92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整改要求三：</a:t>
            </a:r>
            <a:r>
              <a:rPr lang="zh-CN" alt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严格审查</a:t>
            </a:r>
            <a:r>
              <a:rPr lang="en-US" altLang="zh-CN"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耕者不宜、宜者不耕</a:t>
            </a:r>
            <a:r>
              <a:rPr lang="en-US" altLang="zh-CN"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的限制性因素</a:t>
            </a:r>
            <a:endParaRPr lang="en-US" sz="1100"/>
          </a:p>
        </p:txBody>
      </p:sp>
      <p:sp>
        <p:nvSpPr>
          <p:cNvPr id="11" name="矩形 10"/>
          <p:cNvSpPr/>
          <p:nvPr/>
        </p:nvSpPr>
        <p:spPr>
          <a:xfrm>
            <a:off x="533400" y="1261745"/>
            <a:ext cx="4064000" cy="384175"/>
          </a:xfrm>
          <a:prstGeom prst="rect">
            <a:avLst/>
          </a:prstGeom>
          <a:noFill/>
          <a:ln w="254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sz="2000" b="1">
                <a:solidFill>
                  <a:srgbClr val="1E40AF"/>
                </a:solidFill>
                <a:latin typeface="微软雅黑" panose="020B0503020204020204" charset="-122"/>
                <a:ea typeface="微软雅黑" panose="020B0503020204020204" charset="-122"/>
                <a:cs typeface="微软雅黑" panose="020B0503020204020204" charset="-122"/>
                <a:sym typeface="+mn-ea"/>
              </a:rPr>
              <a:t>（二）严禁人为干预评价结果</a:t>
            </a:r>
            <a:endParaRPr lang="zh-CN" altLang="en-US" sz="2000" b="1">
              <a:solidFill>
                <a:srgbClr val="1E40AF"/>
              </a:solidFill>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nvSpPr>
        <p:spPr>
          <a:xfrm>
            <a:off x="726440" y="1831340"/>
            <a:ext cx="10738485" cy="368300"/>
          </a:xfrm>
          <a:prstGeom prst="rect">
            <a:avLst/>
          </a:prstGeom>
          <a:noFill/>
        </p:spPr>
        <p:txBody>
          <a:bodyPr wrap="square" rtlCol="0">
            <a:spAutoFit/>
          </a:bodyPr>
          <a:p>
            <a:r>
              <a:rPr lang="en-US" sz="1800">
                <a:solidFill>
                  <a:srgbClr val="FF0000"/>
                </a:solidFill>
                <a:latin typeface="微软雅黑" panose="020B0503020204020204" charset="-122"/>
                <a:ea typeface="微软雅黑" panose="020B0503020204020204" charset="-122"/>
                <a:cs typeface="微软雅黑" panose="020B0503020204020204" charset="-122"/>
              </a:rPr>
              <a:t>本专题评价的是自然资源禀赋条件下的土壤农业利用适宜性，而非现状耕地数量或任何行政预期目标。</a:t>
            </a:r>
            <a:endParaRPr lang="en-US" sz="180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3" name="矩形 2"/>
          <p:cNvSpPr/>
          <p:nvPr/>
        </p:nvSpPr>
        <p:spPr>
          <a:xfrm>
            <a:off x="757555" y="2199640"/>
            <a:ext cx="10627360" cy="2696210"/>
          </a:xfrm>
          <a:prstGeom prst="rect">
            <a:avLst/>
          </a:prstGeom>
          <a:noFill/>
          <a:ln w="12700" cap="flat" cmpd="sng">
            <a:noFill/>
            <a:prstDash val="solid"/>
            <a:round/>
          </a:ln>
        </p:spPr>
        <p:txBody>
          <a:bodyPr vert="horz" wrap="square" lIns="127000" tIns="101600" rIns="127000" bIns="101600" rtlCol="0" anchor="t" anchorCtr="0">
            <a:noAutofit/>
          </a:bodyPr>
          <a:lstStyle/>
          <a:p>
            <a:pPr lvl="0" indent="457200" algn="just">
              <a:lnSpc>
                <a:spcPct val="190000"/>
              </a:lnSpc>
              <a:buSzTx/>
              <a:defRPr/>
            </a:pP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任何地方不得以</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宜耕地数量过多</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等为由，要求技术单位人为调整限制因子分级、篡改适宜类判定结果或压缩错配图斑数量；要求评价范围需扣除</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三区三线</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相关空间；要求不开展与二调耕地、可调整地类及三调耕地即可恢复、工程可恢复地类的匹配比对分析。</a:t>
            </a:r>
            <a:endParaRPr lang="en-US" sz="1800">
              <a:solidFill>
                <a:srgbClr val="4B5563"/>
              </a:solidFill>
              <a:latin typeface="微软雅黑" panose="020B0503020204020204" charset="-122"/>
              <a:ea typeface="微软雅黑" panose="020B0503020204020204" charset="-122"/>
              <a:cs typeface="微软雅黑" panose="020B0503020204020204" charset="-122"/>
              <a:sym typeface="+mn-ea"/>
            </a:endParaRPr>
          </a:p>
          <a:p>
            <a:pPr lvl="0" indent="457200" algn="just">
              <a:lnSpc>
                <a:spcPct val="190000"/>
              </a:lnSpc>
              <a:buSzTx/>
              <a:defRPr/>
            </a:pPr>
            <a:r>
              <a:rPr lang="en-US" sz="1800">
                <a:solidFill>
                  <a:srgbClr val="FF0000"/>
                </a:solidFill>
                <a:latin typeface="微软雅黑" panose="020B0503020204020204" charset="-122"/>
                <a:ea typeface="微软雅黑" panose="020B0503020204020204" charset="-122"/>
                <a:cs typeface="微软雅黑" panose="020B0503020204020204" charset="-122"/>
                <a:sym typeface="+mn-ea"/>
              </a:rPr>
              <a:t>一经发现，视为成果造假，整县成果退回，并追究相关行政和技术责任</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。本专题成果的核心使命是科学贯彻</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良田粮用</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en-US" sz="1800">
                <a:solidFill>
                  <a:srgbClr val="4B5563"/>
                </a:solidFill>
                <a:latin typeface="微软雅黑" panose="020B0503020204020204" charset="-122"/>
                <a:ea typeface="微软雅黑" panose="020B0503020204020204" charset="-122"/>
                <a:cs typeface="微软雅黑" panose="020B0503020204020204" charset="-122"/>
                <a:sym typeface="+mn-ea"/>
              </a:rPr>
              <a:t>原则，为后续耕地保护与布局优化提供真实、可靠的自然本底依据。</a:t>
            </a:r>
            <a:endParaRPr lang="en-US" sz="1800">
              <a:solidFill>
                <a:srgbClr val="4B5563"/>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 name="AutoShape 5"/>
          <p:cNvSpPr/>
          <p:nvPr/>
        </p:nvSpPr>
        <p:spPr>
          <a:xfrm>
            <a:off x="355600" y="1080135"/>
            <a:ext cx="11480800" cy="5099050"/>
          </a:xfrm>
          <a:prstGeom prst="roundRect">
            <a:avLst>
              <a:gd name="adj" fmla="val 0"/>
            </a:avLst>
          </a:prstGeom>
          <a:solidFill>
            <a:srgbClr val="FFFFFF">
              <a:alpha val="80000"/>
            </a:srgbClr>
          </a:solidFill>
          <a:ln w="25400" cap="flat" cmpd="sng">
            <a:solidFill>
              <a:srgbClr val="1E386B">
                <a:alpha val="100000"/>
              </a:srgbClr>
            </a:solidFill>
            <a:prstDash val="sysDash"/>
            <a:miter lim="10000000"/>
          </a:ln>
          <a:effectLst>
            <a:outerShdw blurRad="63500" algn="ctr" rotWithShape="0">
              <a:srgbClr val="000000">
                <a:alpha val="20000"/>
              </a:srgbClr>
            </a:outerShdw>
          </a:effectLst>
        </p:spPr>
        <p:txBody>
          <a:bodyPr vert="horz" wrap="square" lIns="63500" tIns="63500" rIns="63500" bIns="63500" rtlCol="0" anchor="ctr"/>
          <a:lstStyle/>
          <a:p>
            <a:pPr algn="ctr">
              <a:defRPr/>
            </a:pPr>
          </a:p>
        </p:txBody>
      </p:sp>
      <p:sp>
        <p:nvSpPr>
          <p:cNvPr id="6" name="AutoShape 6"/>
          <p:cNvSpPr/>
          <p:nvPr/>
        </p:nvSpPr>
        <p:spPr>
          <a:xfrm>
            <a:off x="0" y="0"/>
            <a:ext cx="12217400" cy="92710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381000" y="76200"/>
            <a:ext cx="11430000" cy="762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92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整改要求三：</a:t>
            </a:r>
            <a:r>
              <a:rPr lang="zh-CN" alt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严格审查</a:t>
            </a:r>
            <a:r>
              <a:rPr lang="en-US" altLang="zh-CN"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耕者不宜、宜者不耕</a:t>
            </a:r>
            <a:r>
              <a:rPr lang="en-US" altLang="zh-CN"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的限制性因素</a:t>
            </a:r>
            <a:endParaRPr lang="en-US" sz="1100"/>
          </a:p>
        </p:txBody>
      </p:sp>
      <p:sp>
        <p:nvSpPr>
          <p:cNvPr id="11" name="矩形 10"/>
          <p:cNvSpPr/>
          <p:nvPr/>
        </p:nvSpPr>
        <p:spPr>
          <a:xfrm>
            <a:off x="533400" y="1261745"/>
            <a:ext cx="7318375" cy="384175"/>
          </a:xfrm>
          <a:prstGeom prst="rect">
            <a:avLst/>
          </a:prstGeom>
          <a:noFill/>
          <a:ln w="254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sz="2000" b="1">
                <a:solidFill>
                  <a:srgbClr val="1E40AF"/>
                </a:solidFill>
                <a:latin typeface="微软雅黑" panose="020B0503020204020204" charset="-122"/>
                <a:ea typeface="微软雅黑" panose="020B0503020204020204" charset="-122"/>
                <a:cs typeface="微软雅黑" panose="020B0503020204020204" charset="-122"/>
                <a:sym typeface="+mn-ea"/>
              </a:rPr>
              <a:t>（三）县级三普办须在自然资源部门耕保规划认证中切实负责</a:t>
            </a:r>
            <a:endParaRPr lang="zh-CN" altLang="en-US" sz="2000" b="1">
              <a:solidFill>
                <a:srgbClr val="1E40AF"/>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694690" y="1515745"/>
            <a:ext cx="10627360" cy="2696210"/>
          </a:xfrm>
          <a:prstGeom prst="rect">
            <a:avLst/>
          </a:prstGeom>
          <a:noFill/>
          <a:ln w="12700" cap="flat" cmpd="sng">
            <a:noFill/>
            <a:prstDash val="solid"/>
            <a:round/>
          </a:ln>
        </p:spPr>
        <p:txBody>
          <a:bodyPr vert="horz" wrap="square" lIns="127000" tIns="101600" rIns="127000" bIns="101600" rtlCol="0" anchor="t" anchorCtr="0">
            <a:noAutofit/>
          </a:bodyPr>
          <a:lstStyle/>
          <a:p>
            <a:pPr lvl="0" indent="457200" algn="just">
              <a:lnSpc>
                <a:spcPct val="190000"/>
              </a:lnSpc>
              <a:buSzTx/>
              <a:defRPr/>
            </a:pPr>
            <a:r>
              <a:rPr lang="zh-CN" altLang="en-US" sz="1800">
                <a:solidFill>
                  <a:srgbClr val="4B5563"/>
                </a:solidFill>
                <a:latin typeface="微软雅黑" panose="020B0503020204020204" charset="-122"/>
                <a:ea typeface="微软雅黑" panose="020B0503020204020204" charset="-122"/>
                <a:cs typeface="微软雅黑" panose="020B0503020204020204" charset="-122"/>
                <a:sym typeface="+mn-ea"/>
              </a:rPr>
              <a:t>后期自然资源部门组织开展耕地保护与国土绿化空间规划到县级论证中，县级三普办必须正式出具本专题的</a:t>
            </a:r>
            <a:r>
              <a:rPr lang="zh-CN" altLang="en-US" sz="1800">
                <a:solidFill>
                  <a:srgbClr val="FF0000"/>
                </a:solidFill>
                <a:latin typeface="微软雅黑" panose="020B0503020204020204" charset="-122"/>
                <a:ea typeface="微软雅黑" panose="020B0503020204020204" charset="-122"/>
                <a:cs typeface="微软雅黑" panose="020B0503020204020204" charset="-122"/>
                <a:sym typeface="+mn-ea"/>
              </a:rPr>
              <a:t>三项成果</a:t>
            </a:r>
            <a:r>
              <a:rPr lang="zh-CN" altLang="en-US" sz="1800">
                <a:solidFill>
                  <a:srgbClr val="4B5563"/>
                </a:solidFill>
                <a:latin typeface="微软雅黑" panose="020B0503020204020204" charset="-122"/>
                <a:ea typeface="微软雅黑" panose="020B0503020204020204" charset="-122"/>
                <a:cs typeface="微软雅黑" panose="020B0503020204020204" charset="-122"/>
                <a:sym typeface="+mn-ea"/>
              </a:rPr>
              <a:t>：</a:t>
            </a:r>
            <a:endParaRPr lang="zh-CN" altLang="en-US" sz="1800">
              <a:solidFill>
                <a:srgbClr val="4B5563"/>
              </a:solidFill>
              <a:latin typeface="微软雅黑" panose="020B0503020204020204" charset="-122"/>
              <a:ea typeface="微软雅黑" panose="020B0503020204020204" charset="-122"/>
              <a:cs typeface="微软雅黑" panose="020B0503020204020204" charset="-122"/>
              <a:sym typeface="+mn-ea"/>
            </a:endParaRPr>
          </a:p>
          <a:p>
            <a:pPr lvl="0" indent="457200" algn="just">
              <a:lnSpc>
                <a:spcPct val="190000"/>
              </a:lnSpc>
              <a:buSzTx/>
              <a:defRPr/>
            </a:pPr>
            <a:r>
              <a:rPr lang="en-US" altLang="zh-CN" sz="1800">
                <a:solidFill>
                  <a:srgbClr val="4B5563"/>
                </a:solidFill>
                <a:latin typeface="微软雅黑" panose="020B0503020204020204" charset="-122"/>
                <a:ea typeface="微软雅黑" panose="020B0503020204020204" charset="-122"/>
                <a:cs typeface="微软雅黑" panose="020B0503020204020204" charset="-122"/>
                <a:sym typeface="+mn-ea"/>
              </a:rPr>
              <a:t>1.</a:t>
            </a:r>
            <a:r>
              <a:rPr lang="zh-CN" altLang="en-US" sz="1800">
                <a:solidFill>
                  <a:srgbClr val="4B5563"/>
                </a:solidFill>
                <a:latin typeface="微软雅黑" panose="020B0503020204020204" charset="-122"/>
                <a:ea typeface="微软雅黑" panose="020B0503020204020204" charset="-122"/>
                <a:cs typeface="微软雅黑" panose="020B0503020204020204" charset="-122"/>
                <a:sym typeface="+mn-ea"/>
              </a:rPr>
              <a:t>土壤农业利用适宜性评价图；</a:t>
            </a:r>
            <a:endParaRPr lang="zh-CN" altLang="en-US" sz="1800">
              <a:solidFill>
                <a:srgbClr val="4B5563"/>
              </a:solidFill>
              <a:latin typeface="微软雅黑" panose="020B0503020204020204" charset="-122"/>
              <a:ea typeface="微软雅黑" panose="020B0503020204020204" charset="-122"/>
              <a:cs typeface="微软雅黑" panose="020B0503020204020204" charset="-122"/>
              <a:sym typeface="+mn-ea"/>
            </a:endParaRPr>
          </a:p>
          <a:p>
            <a:pPr lvl="0" indent="457200" algn="just">
              <a:lnSpc>
                <a:spcPct val="190000"/>
              </a:lnSpc>
              <a:buSzTx/>
              <a:defRPr/>
            </a:pPr>
            <a:r>
              <a:rPr lang="en-US" altLang="zh-CN" sz="1800">
                <a:solidFill>
                  <a:srgbClr val="4B5563"/>
                </a:solidFill>
                <a:latin typeface="微软雅黑" panose="020B0503020204020204" charset="-122"/>
                <a:ea typeface="微软雅黑" panose="020B0503020204020204" charset="-122"/>
                <a:cs typeface="微软雅黑" panose="020B0503020204020204" charset="-122"/>
                <a:sym typeface="+mn-ea"/>
              </a:rPr>
              <a:t>2.</a:t>
            </a:r>
            <a:r>
              <a:rPr lang="zh-CN" altLang="en-US" sz="1800">
                <a:solidFill>
                  <a:srgbClr val="4B5563"/>
                </a:solidFill>
                <a:latin typeface="微软雅黑" panose="020B0503020204020204" charset="-122"/>
                <a:ea typeface="微软雅黑" panose="020B0503020204020204" charset="-122"/>
                <a:cs typeface="微软雅黑" panose="020B0503020204020204" charset="-122"/>
                <a:sym typeface="+mn-ea"/>
              </a:rPr>
              <a:t>可耕地</a:t>
            </a:r>
            <a:r>
              <a:rPr lang="en-US" altLang="zh-CN"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zh-CN" altLang="en-US" sz="1800">
                <a:solidFill>
                  <a:srgbClr val="4B5563"/>
                </a:solidFill>
                <a:latin typeface="微软雅黑" panose="020B0503020204020204" charset="-122"/>
                <a:ea typeface="微软雅黑" panose="020B0503020204020204" charset="-122"/>
                <a:cs typeface="微软雅黑" panose="020B0503020204020204" charset="-122"/>
                <a:sym typeface="+mn-ea"/>
              </a:rPr>
              <a:t>可退耕资源潜力分布图；</a:t>
            </a:r>
            <a:endParaRPr lang="zh-CN" altLang="en-US" sz="1800">
              <a:solidFill>
                <a:srgbClr val="4B5563"/>
              </a:solidFill>
              <a:latin typeface="微软雅黑" panose="020B0503020204020204" charset="-122"/>
              <a:ea typeface="微软雅黑" panose="020B0503020204020204" charset="-122"/>
              <a:cs typeface="微软雅黑" panose="020B0503020204020204" charset="-122"/>
              <a:sym typeface="+mn-ea"/>
            </a:endParaRPr>
          </a:p>
          <a:p>
            <a:pPr lvl="0" indent="457200" algn="just">
              <a:lnSpc>
                <a:spcPct val="190000"/>
              </a:lnSpc>
              <a:buSzTx/>
              <a:defRPr/>
            </a:pPr>
            <a:r>
              <a:rPr lang="en-US" altLang="zh-CN" sz="1800">
                <a:solidFill>
                  <a:srgbClr val="4B5563"/>
                </a:solidFill>
                <a:latin typeface="微软雅黑" panose="020B0503020204020204" charset="-122"/>
                <a:ea typeface="微软雅黑" panose="020B0503020204020204" charset="-122"/>
                <a:cs typeface="微软雅黑" panose="020B0503020204020204" charset="-122"/>
                <a:sym typeface="+mn-ea"/>
              </a:rPr>
              <a:t>3.</a:t>
            </a:r>
            <a:r>
              <a:rPr lang="zh-CN" altLang="en-US" sz="1800">
                <a:solidFill>
                  <a:srgbClr val="4B5563"/>
                </a:solidFill>
                <a:latin typeface="微软雅黑" panose="020B0503020204020204" charset="-122"/>
                <a:ea typeface="微软雅黑" panose="020B0503020204020204" charset="-122"/>
                <a:cs typeface="微软雅黑" panose="020B0503020204020204" charset="-122"/>
                <a:sym typeface="+mn-ea"/>
              </a:rPr>
              <a:t>县级到乡镇的评价结果和可耕地</a:t>
            </a:r>
            <a:r>
              <a:rPr lang="en-US" altLang="zh-CN" sz="1800">
                <a:solidFill>
                  <a:srgbClr val="4B5563"/>
                </a:solidFill>
                <a:latin typeface="微软雅黑" panose="020B0503020204020204" charset="-122"/>
                <a:ea typeface="微软雅黑" panose="020B0503020204020204" charset="-122"/>
                <a:cs typeface="微软雅黑" panose="020B0503020204020204" charset="-122"/>
                <a:sym typeface="+mn-ea"/>
              </a:rPr>
              <a:t>/</a:t>
            </a:r>
            <a:r>
              <a:rPr lang="zh-CN" altLang="en-US" sz="1800">
                <a:solidFill>
                  <a:srgbClr val="4B5563"/>
                </a:solidFill>
                <a:latin typeface="微软雅黑" panose="020B0503020204020204" charset="-122"/>
                <a:ea typeface="微软雅黑" panose="020B0503020204020204" charset="-122"/>
                <a:cs typeface="微软雅黑" panose="020B0503020204020204" charset="-122"/>
                <a:sym typeface="+mn-ea"/>
              </a:rPr>
              <a:t>可退耕数据表。</a:t>
            </a:r>
            <a:endParaRPr lang="zh-CN" altLang="en-US" sz="1800">
              <a:solidFill>
                <a:srgbClr val="4B5563"/>
              </a:solidFill>
              <a:latin typeface="微软雅黑" panose="020B0503020204020204" charset="-122"/>
              <a:ea typeface="微软雅黑" panose="020B0503020204020204" charset="-122"/>
              <a:cs typeface="微软雅黑" panose="020B0503020204020204" charset="-122"/>
              <a:sym typeface="+mn-ea"/>
            </a:endParaRPr>
          </a:p>
          <a:p>
            <a:pPr lvl="0" indent="457200" algn="just">
              <a:lnSpc>
                <a:spcPct val="190000"/>
              </a:lnSpc>
              <a:buSzTx/>
              <a:defRPr/>
            </a:pPr>
            <a:r>
              <a:rPr lang="zh-CN" altLang="en-US" sz="1800">
                <a:solidFill>
                  <a:srgbClr val="4B5563"/>
                </a:solidFill>
                <a:latin typeface="微软雅黑" panose="020B0503020204020204" charset="-122"/>
                <a:ea typeface="微软雅黑" panose="020B0503020204020204" charset="-122"/>
                <a:cs typeface="微软雅黑" panose="020B0503020204020204" charset="-122"/>
                <a:sym typeface="+mn-ea"/>
              </a:rPr>
              <a:t>县级三普办须依据上述图件，对自然资源部门提出的耕地保护与国土绿化空间专项规划方案进行对比分析，确认其是否与本专题评价成果相协调，并提交正式书面建议。凡规划方案与适宜性评价成果存在重大冲突且无合理解释的，县级三普办有权提出异议，并抄报上级土壤普查办。</a:t>
            </a:r>
            <a:endParaRPr lang="zh-CN" altLang="en-US" sz="1800">
              <a:solidFill>
                <a:srgbClr val="4B5563"/>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14300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266700"/>
            <a:ext cx="10668000" cy="5715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整改要求四、五、六</a:t>
            </a:r>
            <a:endParaRPr lang="en-US" sz="1100"/>
          </a:p>
        </p:txBody>
      </p:sp>
      <p:sp>
        <p:nvSpPr>
          <p:cNvPr id="4" name="AutoShape 4"/>
          <p:cNvSpPr/>
          <p:nvPr>
            <p:custDataLst>
              <p:tags r:id="rId1"/>
            </p:custDataLst>
          </p:nvPr>
        </p:nvSpPr>
        <p:spPr>
          <a:xfrm>
            <a:off x="156210" y="1271270"/>
            <a:ext cx="11849735" cy="5487670"/>
          </a:xfrm>
          <a:prstGeom prst="roundRect">
            <a:avLst>
              <a:gd name="adj" fmla="val 3266"/>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7" name="AutoShape 7"/>
          <p:cNvSpPr/>
          <p:nvPr>
            <p:custDataLst>
              <p:tags r:id="rId2"/>
            </p:custDataLst>
          </p:nvPr>
        </p:nvSpPr>
        <p:spPr>
          <a:xfrm>
            <a:off x="244475" y="2389505"/>
            <a:ext cx="11591925" cy="2427605"/>
          </a:xfrm>
          <a:prstGeom prst="rect">
            <a:avLst/>
          </a:prstGeom>
          <a:noFill/>
          <a:ln w="12700" cap="flat" cmpd="sng">
            <a:noFill/>
            <a:prstDash val="solid"/>
            <a:round/>
          </a:ln>
        </p:spPr>
        <p:txBody>
          <a:bodyPr vert="horz" wrap="square" lIns="101600" tIns="101600" rIns="101600" bIns="101600" rtlCol="0" anchor="t" anchorCtr="0"/>
          <a:lstStyle/>
          <a:p>
            <a:pPr algn="l">
              <a:lnSpc>
                <a:spcPct val="148000"/>
              </a:lnSpc>
              <a:buSzTx/>
              <a:defRPr/>
            </a:pPr>
            <a:r>
              <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 整改要求五：严格执行面积守恒与属性可追溯</a:t>
            </a:r>
            <a:endPar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7000" indent="457200" algn="l" eaLnBrk="1" fontAlgn="auto" latinLnBrk="0" hangingPunct="1">
              <a:lnSpc>
                <a:spcPct val="148000"/>
              </a:lnSpc>
              <a:buSzTx/>
            </a:pPr>
            <a:r>
              <a:rPr lang="en-US" sz="18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市级、省级汇总必须</a:t>
            </a:r>
            <a:r>
              <a:rPr lang="en-US" sz="1800" b="0"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严格遵循“面积守恒、图斑可追溯”原则</a:t>
            </a:r>
            <a:r>
              <a:rPr lang="en-US" sz="18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市级汇总时，须对各县上报的评价成果进行面积平衡检查，各县适宜类、适宜程度面积汇总后应与市级行政辖区纳入评价对象的农用地和其他土地总面积保持一致，不需要面积平差。汇总后的评价单元属性必须完整保留原始县级图斑的关键字段（原县级行政区代码、土种类型、适宜类、适宜程度、核心限制因子等），确保每一汇总图斑可回溯至原始县级评价单元。</a:t>
            </a:r>
            <a:endParaRPr lang="en-US" sz="18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AutoShape 11"/>
          <p:cNvSpPr/>
          <p:nvPr>
            <p:custDataLst>
              <p:tags r:id="rId3"/>
            </p:custDataLst>
          </p:nvPr>
        </p:nvSpPr>
        <p:spPr>
          <a:xfrm>
            <a:off x="244475" y="4560570"/>
            <a:ext cx="11400790" cy="2297430"/>
          </a:xfrm>
          <a:prstGeom prst="rect">
            <a:avLst/>
          </a:prstGeom>
          <a:noFill/>
          <a:ln w="12700" cap="flat" cmpd="sng">
            <a:noFill/>
            <a:prstDash val="solid"/>
            <a:round/>
          </a:ln>
        </p:spPr>
        <p:txBody>
          <a:bodyPr vert="horz" wrap="square" lIns="101600" tIns="101600" rIns="101600" bIns="101600" rtlCol="0" anchor="t" anchorCtr="0"/>
          <a:lstStyle/>
          <a:p>
            <a:pPr algn="l">
              <a:lnSpc>
                <a:spcPct val="138000"/>
              </a:lnSpc>
              <a:buSzTx/>
              <a:defRPr/>
            </a:pPr>
            <a:r>
              <a:rPr lang="en-US" sz="20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 整改要求六：</a:t>
            </a:r>
            <a:r>
              <a:rPr lang="en-US" sz="2000" b="1">
                <a:solidFill>
                  <a:srgbClr val="1E40AF"/>
                </a:solidFill>
                <a:latin typeface="微软雅黑" panose="020B0503020204020204" charset="-122"/>
                <a:ea typeface="微软雅黑" panose="020B0503020204020204" charset="-122"/>
                <a:cs typeface="微软雅黑" panose="020B0503020204020204" charset="-122"/>
              </a:rPr>
              <a:t>启动市级1:25万汇总，省级技术单位提前介入</a:t>
            </a:r>
            <a:endParaRPr lang="en-US" sz="2000" b="1">
              <a:solidFill>
                <a:srgbClr val="1E40AF"/>
              </a:solidFill>
              <a:latin typeface="微软雅黑" panose="020B0503020204020204" charset="-122"/>
              <a:ea typeface="微软雅黑" panose="020B0503020204020204" charset="-122"/>
              <a:cs typeface="微软雅黑" panose="020B0503020204020204" charset="-122"/>
            </a:endParaRPr>
          </a:p>
          <a:p>
            <a:pPr marL="127000" indent="457200" algn="l">
              <a:lnSpc>
                <a:spcPct val="138000"/>
              </a:lnSpc>
              <a:buSzTx/>
            </a:pPr>
            <a:r>
              <a:rPr lang="en-US" sz="18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每个地市必须按照答疑手册和省市级汇总要求，尽快召开地市级汇总技术交流会，做到对县级成果全覆盖审核；至少完成两组相邻县接边检查；启动1:25万比例尺市级汇总，检验县级成果的可汇总性。</a:t>
            </a:r>
            <a:endParaRPr lang="en-US" sz="18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7000" indent="457200" algn="l">
              <a:lnSpc>
                <a:spcPct val="138000"/>
              </a:lnSpc>
              <a:buSzTx/>
            </a:pPr>
            <a:r>
              <a:rPr lang="en-US" sz="1800" b="0" i="0" u="none" strike="noStrike">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省级汇总技术单位不得等待县级全部完成或土壤图、属性图全面完成后再开展工作。</a:t>
            </a:r>
            <a:r>
              <a:rPr lang="en-US" sz="18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须提前选取典型地市开展汇总试运行，倒逼县级成果准确，以保证逐级汇总任务真实可靠。</a:t>
            </a:r>
            <a:endParaRPr lang="en-US" sz="18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 name="文本框 11"/>
          <p:cNvSpPr txBox="1"/>
          <p:nvPr/>
        </p:nvSpPr>
        <p:spPr>
          <a:xfrm>
            <a:off x="244475" y="1230630"/>
            <a:ext cx="11591925" cy="1280160"/>
          </a:xfrm>
          <a:prstGeom prst="rect">
            <a:avLst/>
          </a:prstGeom>
          <a:noFill/>
        </p:spPr>
        <p:txBody>
          <a:bodyPr wrap="square" rtlCol="0">
            <a:spAutoFit/>
          </a:bodyPr>
          <a:p>
            <a:pPr indent="0" algn="l">
              <a:lnSpc>
                <a:spcPct val="138000"/>
              </a:lnSpc>
              <a:defRPr/>
            </a:pPr>
            <a:r>
              <a:rPr lang="en-US" sz="2000" b="1">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 整改要求四：规范跨县域接边</a:t>
            </a:r>
            <a:endParaRPr lang="en-US" sz="2000"/>
          </a:p>
          <a:p>
            <a:pPr marL="127000" indent="457200" algn="l" eaLnBrk="1" fontAlgn="auto" latinLnBrk="0" hangingPunct="1">
              <a:lnSpc>
                <a:spcPct val="138000"/>
              </a:lnSpc>
              <a:buSzTx/>
            </a:pPr>
            <a:r>
              <a:rPr lang="en-US" sz="1800">
                <a:solidFill>
                  <a:srgbClr val="555555"/>
                </a:solidFill>
                <a:latin typeface="微软雅黑" panose="020B0503020204020204" charset="-122"/>
                <a:ea typeface="微软雅黑" panose="020B0503020204020204" charset="-122"/>
                <a:cs typeface="微软雅黑" panose="020B0503020204020204" charset="-122"/>
              </a:rPr>
              <a:t>由市级土壤普查办牵头，组织相邻县技术人员集中办公，统一提取边界图斑，逐类研判差异，</a:t>
            </a:r>
            <a:r>
              <a:rPr lang="en-US" sz="1800">
                <a:solidFill>
                  <a:srgbClr val="FF0000"/>
                </a:solidFill>
                <a:latin typeface="微软雅黑" panose="020B0503020204020204" charset="-122"/>
                <a:ea typeface="微软雅黑" panose="020B0503020204020204" charset="-122"/>
                <a:cs typeface="微软雅黑" panose="020B0503020204020204" charset="-122"/>
              </a:rPr>
              <a:t>按照下发的答疑手册和市级省级汇总技术要求统一修改</a:t>
            </a:r>
            <a:r>
              <a:rPr lang="en-US" sz="1800">
                <a:solidFill>
                  <a:srgbClr val="555555"/>
                </a:solidFill>
                <a:latin typeface="微软雅黑" panose="020B0503020204020204" charset="-122"/>
                <a:ea typeface="微软雅黑" panose="020B0503020204020204" charset="-122"/>
                <a:cs typeface="微软雅黑" panose="020B0503020204020204" charset="-122"/>
              </a:rPr>
              <a:t>。修改后须进行拓扑检查，确保无缝隙、无重叠。</a:t>
            </a:r>
            <a:endParaRPr lang="en-US" sz="1800">
              <a:solidFill>
                <a:srgbClr val="55555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0"/>
          </a:xfrm>
          <a:prstGeom prst="roundRect">
            <a:avLst>
              <a:gd name="adj" fmla="val 0"/>
            </a:avLst>
          </a:prstGeom>
          <a:solidFill>
            <a:srgbClr val="32478A">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05 责任压实与保障措施</a:t>
            </a:r>
            <a:endParaRPr lang="en-US" sz="1100"/>
          </a:p>
        </p:txBody>
      </p:sp>
      <p:sp>
        <p:nvSpPr>
          <p:cNvPr id="5" name="AutoShape 4"/>
          <p:cNvSpPr/>
          <p:nvPr>
            <p:custDataLst>
              <p:tags r:id="rId1"/>
            </p:custDataLst>
          </p:nvPr>
        </p:nvSpPr>
        <p:spPr>
          <a:xfrm>
            <a:off x="156210" y="1161415"/>
            <a:ext cx="11849735" cy="4747260"/>
          </a:xfrm>
          <a:prstGeom prst="roundRect">
            <a:avLst>
              <a:gd name="adj" fmla="val 3266"/>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4" name="文本框 3"/>
          <p:cNvSpPr txBox="1"/>
          <p:nvPr/>
        </p:nvSpPr>
        <p:spPr>
          <a:xfrm>
            <a:off x="484505" y="1161415"/>
            <a:ext cx="10913745" cy="4493895"/>
          </a:xfrm>
          <a:prstGeom prst="rect">
            <a:avLst/>
          </a:prstGeom>
          <a:noFill/>
        </p:spPr>
        <p:txBody>
          <a:bodyPr wrap="square" rtlCol="0">
            <a:noAutofit/>
          </a:bodyPr>
          <a:p>
            <a:pPr indent="457200" algn="just">
              <a:lnSpc>
                <a:spcPct val="190000"/>
              </a:lnSpc>
              <a:buSzTx/>
              <a:buNone/>
              <a:defRPr/>
            </a:pPr>
            <a:r>
              <a:rPr lang="en-US" altLang="zh-CN" sz="2000">
                <a:solidFill>
                  <a:srgbClr val="FF0000"/>
                </a:solidFill>
                <a:latin typeface="微软雅黑" panose="020B0503020204020204" charset="-122"/>
                <a:ea typeface="微软雅黑" panose="020B0503020204020204" charset="-122"/>
                <a:cs typeface="微软雅黑" panose="020B0503020204020204" charset="-122"/>
              </a:rPr>
              <a:t>第一，县级是整改第一责任主体。</a:t>
            </a:r>
            <a:r>
              <a:rPr lang="en-US" altLang="zh-CN" sz="2000">
                <a:solidFill>
                  <a:srgbClr val="4B5563"/>
                </a:solidFill>
                <a:latin typeface="微软雅黑" panose="020B0503020204020204" charset="-122"/>
                <a:ea typeface="微软雅黑" panose="020B0503020204020204" charset="-122"/>
                <a:cs typeface="微软雅黑" panose="020B0503020204020204" charset="-122"/>
              </a:rPr>
              <a:t>县三普办专题负责同志须亲自抓。凡整改不到位、敷衍了事的，上级土壤普查办可通报批评。</a:t>
            </a:r>
            <a:endParaRPr lang="en-US" altLang="zh-CN" sz="2000">
              <a:solidFill>
                <a:srgbClr val="4B5563"/>
              </a:solidFill>
              <a:latin typeface="微软雅黑" panose="020B0503020204020204" charset="-122"/>
              <a:ea typeface="微软雅黑" panose="020B0503020204020204" charset="-122"/>
              <a:cs typeface="微软雅黑" panose="020B0503020204020204" charset="-122"/>
            </a:endParaRPr>
          </a:p>
          <a:p>
            <a:pPr indent="457200" algn="just">
              <a:lnSpc>
                <a:spcPct val="190000"/>
              </a:lnSpc>
              <a:buSzTx/>
              <a:buNone/>
              <a:defRPr/>
            </a:pPr>
            <a:r>
              <a:rPr lang="en-US" altLang="zh-CN" sz="2000">
                <a:solidFill>
                  <a:srgbClr val="FF0000"/>
                </a:solidFill>
                <a:latin typeface="微软雅黑" panose="020B0503020204020204" charset="-122"/>
                <a:ea typeface="微软雅黑" panose="020B0503020204020204" charset="-122"/>
                <a:cs typeface="微软雅黑" panose="020B0503020204020204" charset="-122"/>
              </a:rPr>
              <a:t>第二，省、市两级要切实负起审核和帮扶责任。</a:t>
            </a:r>
            <a:r>
              <a:rPr lang="en-US" altLang="zh-CN" sz="2000">
                <a:solidFill>
                  <a:srgbClr val="4B5563"/>
                </a:solidFill>
                <a:latin typeface="微软雅黑" panose="020B0503020204020204" charset="-122"/>
                <a:ea typeface="微软雅黑" panose="020B0503020204020204" charset="-122"/>
                <a:cs typeface="微软雅黑" panose="020B0503020204020204" charset="-122"/>
              </a:rPr>
              <a:t>省级技术承担单位不能坐等地市级成果，要尽早对地市级技术单位指导到位，下沉到问题突出的县，开展技术指导。市级要提前介入县级整改过程，避免验收时集中暴露问题。</a:t>
            </a:r>
            <a:endParaRPr lang="en-US" altLang="zh-CN" sz="2000">
              <a:solidFill>
                <a:srgbClr val="4B5563"/>
              </a:solidFill>
              <a:latin typeface="微软雅黑" panose="020B0503020204020204" charset="-122"/>
              <a:ea typeface="微软雅黑" panose="020B0503020204020204" charset="-122"/>
              <a:cs typeface="微软雅黑" panose="020B0503020204020204" charset="-122"/>
            </a:endParaRPr>
          </a:p>
          <a:p>
            <a:pPr indent="457200" algn="just">
              <a:lnSpc>
                <a:spcPct val="190000"/>
              </a:lnSpc>
              <a:buSzTx/>
              <a:buNone/>
              <a:defRPr/>
            </a:pPr>
            <a:r>
              <a:rPr lang="en-US" altLang="zh-CN" sz="2000">
                <a:solidFill>
                  <a:srgbClr val="FF0000"/>
                </a:solidFill>
                <a:latin typeface="微软雅黑" panose="020B0503020204020204" charset="-122"/>
                <a:ea typeface="微软雅黑" panose="020B0503020204020204" charset="-122"/>
                <a:cs typeface="微软雅黑" panose="020B0503020204020204" charset="-122"/>
              </a:rPr>
              <a:t>第三，国家级专家组将持续开展实地或线上指导，组织相关专家对整改后的县级成果和地市级汇总成果进行抽查。</a:t>
            </a:r>
            <a:r>
              <a:rPr lang="en-US" altLang="zh-CN" sz="2000">
                <a:solidFill>
                  <a:srgbClr val="4B5563"/>
                </a:solidFill>
                <a:latin typeface="微软雅黑" panose="020B0503020204020204" charset="-122"/>
                <a:ea typeface="微软雅黑" panose="020B0503020204020204" charset="-122"/>
                <a:cs typeface="微软雅黑" panose="020B0503020204020204" charset="-122"/>
              </a:rPr>
              <a:t>凡抽查仍发现重大问题的，成果退回重新编制，并追究相关人员责任。</a:t>
            </a:r>
            <a:endParaRPr lang="en-US" altLang="zh-CN" sz="2000">
              <a:solidFill>
                <a:srgbClr val="4B556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143000"/>
          </a:xfrm>
          <a:prstGeom prst="roundRect">
            <a:avLst>
              <a:gd name="adj" fmla="val 0"/>
            </a:avLst>
          </a:prstGeom>
          <a:solidFill>
            <a:srgbClr val="3247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778000" y="279400"/>
            <a:ext cx="8636000" cy="584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06 </a:t>
            </a:r>
            <a:r>
              <a:rPr lang="zh-CN" alt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结语</a:t>
            </a:r>
            <a:r>
              <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1100"/>
          </a:p>
        </p:txBody>
      </p:sp>
      <p:sp>
        <p:nvSpPr>
          <p:cNvPr id="18" name="AutoShape 4"/>
          <p:cNvSpPr/>
          <p:nvPr>
            <p:custDataLst>
              <p:tags r:id="rId1"/>
            </p:custDataLst>
          </p:nvPr>
        </p:nvSpPr>
        <p:spPr>
          <a:xfrm>
            <a:off x="156210" y="1272540"/>
            <a:ext cx="11849735" cy="5388610"/>
          </a:xfrm>
          <a:prstGeom prst="roundRect">
            <a:avLst>
              <a:gd name="adj" fmla="val 3266"/>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9" name="文本框 18"/>
          <p:cNvSpPr txBox="1"/>
          <p:nvPr/>
        </p:nvSpPr>
        <p:spPr>
          <a:xfrm>
            <a:off x="594360" y="1310005"/>
            <a:ext cx="11099165" cy="5134610"/>
          </a:xfrm>
          <a:prstGeom prst="rect">
            <a:avLst/>
          </a:prstGeom>
          <a:noFill/>
        </p:spPr>
        <p:txBody>
          <a:bodyPr wrap="square" rtlCol="0">
            <a:noAutofit/>
          </a:bodyPr>
          <a:p>
            <a:pPr indent="457200" algn="just">
              <a:lnSpc>
                <a:spcPct val="190000"/>
              </a:lnSpc>
              <a:buSzTx/>
              <a:defRPr/>
            </a:pPr>
            <a:r>
              <a:rPr lang="zh-CN" altLang="en-US" sz="2400">
                <a:solidFill>
                  <a:srgbClr val="4B5563"/>
                </a:solidFill>
                <a:latin typeface="微软雅黑" panose="020B0503020204020204" charset="-122"/>
                <a:ea typeface="微软雅黑" panose="020B0503020204020204" charset="-122"/>
                <a:cs typeface="微软雅黑" panose="020B0503020204020204" charset="-122"/>
              </a:rPr>
              <a:t>土壤农业利用适宜性评价，是贯彻习近平总书记</a:t>
            </a:r>
            <a:r>
              <a:rPr lang="en-US" altLang="zh-CN" sz="2400">
                <a:solidFill>
                  <a:srgbClr val="4B5563"/>
                </a:solidFill>
                <a:latin typeface="微软雅黑" panose="020B0503020204020204" charset="-122"/>
                <a:ea typeface="微软雅黑" panose="020B0503020204020204" charset="-122"/>
                <a:cs typeface="微软雅黑" panose="020B0503020204020204" charset="-122"/>
              </a:rPr>
              <a:t>“</a:t>
            </a:r>
            <a:r>
              <a:rPr lang="zh-CN" altLang="en-US" sz="2400">
                <a:solidFill>
                  <a:srgbClr val="4B5563"/>
                </a:solidFill>
                <a:latin typeface="微软雅黑" panose="020B0503020204020204" charset="-122"/>
                <a:ea typeface="微软雅黑" panose="020B0503020204020204" charset="-122"/>
                <a:cs typeface="微软雅黑" panose="020B0503020204020204" charset="-122"/>
              </a:rPr>
              <a:t>良田粮用</a:t>
            </a:r>
            <a:r>
              <a:rPr lang="en-US" altLang="zh-CN" sz="2400">
                <a:solidFill>
                  <a:srgbClr val="4B5563"/>
                </a:solidFill>
                <a:latin typeface="微软雅黑" panose="020B0503020204020204" charset="-122"/>
                <a:ea typeface="微软雅黑" panose="020B0503020204020204" charset="-122"/>
                <a:cs typeface="微软雅黑" panose="020B0503020204020204" charset="-122"/>
              </a:rPr>
              <a:t>”“</a:t>
            </a:r>
            <a:r>
              <a:rPr lang="zh-CN" altLang="en-US" sz="2400">
                <a:solidFill>
                  <a:srgbClr val="4B5563"/>
                </a:solidFill>
                <a:latin typeface="微软雅黑" panose="020B0503020204020204" charset="-122"/>
                <a:ea typeface="微软雅黑" panose="020B0503020204020204" charset="-122"/>
                <a:cs typeface="微软雅黑" panose="020B0503020204020204" charset="-122"/>
              </a:rPr>
              <a:t>果树苗木上山上坡</a:t>
            </a:r>
            <a:r>
              <a:rPr lang="en-US" altLang="zh-CN" sz="2400">
                <a:solidFill>
                  <a:srgbClr val="4B5563"/>
                </a:solidFill>
                <a:latin typeface="微软雅黑" panose="020B0503020204020204" charset="-122"/>
                <a:ea typeface="微软雅黑" panose="020B0503020204020204" charset="-122"/>
                <a:cs typeface="微软雅黑" panose="020B0503020204020204" charset="-122"/>
              </a:rPr>
              <a:t>”“</a:t>
            </a:r>
            <a:r>
              <a:rPr lang="zh-CN" altLang="en-US" sz="2400">
                <a:solidFill>
                  <a:srgbClr val="4B5563"/>
                </a:solidFill>
                <a:latin typeface="微软雅黑" panose="020B0503020204020204" charset="-122"/>
                <a:ea typeface="微软雅黑" panose="020B0503020204020204" charset="-122"/>
                <a:cs typeface="微软雅黑" panose="020B0503020204020204" charset="-122"/>
              </a:rPr>
              <a:t>不适宜耕地退耕还林还草</a:t>
            </a:r>
            <a:r>
              <a:rPr lang="en-US" altLang="zh-CN" sz="2400">
                <a:solidFill>
                  <a:srgbClr val="4B5563"/>
                </a:solidFill>
                <a:latin typeface="微软雅黑" panose="020B0503020204020204" charset="-122"/>
                <a:ea typeface="微软雅黑" panose="020B0503020204020204" charset="-122"/>
                <a:cs typeface="微软雅黑" panose="020B0503020204020204" charset="-122"/>
              </a:rPr>
              <a:t>”</a:t>
            </a:r>
            <a:r>
              <a:rPr lang="zh-CN" altLang="en-US" sz="2400">
                <a:solidFill>
                  <a:srgbClr val="4B5563"/>
                </a:solidFill>
                <a:latin typeface="微软雅黑" panose="020B0503020204020204" charset="-122"/>
                <a:ea typeface="微软雅黑" panose="020B0503020204020204" charset="-122"/>
                <a:cs typeface="微软雅黑" panose="020B0503020204020204" charset="-122"/>
              </a:rPr>
              <a:t>等重要指示，落实耕地布局优化与保护、粮食安全的重大国策。</a:t>
            </a:r>
            <a:endParaRPr lang="zh-CN" altLang="en-US" sz="2400">
              <a:solidFill>
                <a:srgbClr val="4B5563"/>
              </a:solidFill>
              <a:latin typeface="微软雅黑" panose="020B0503020204020204" charset="-122"/>
              <a:ea typeface="微软雅黑" panose="020B0503020204020204" charset="-122"/>
              <a:cs typeface="微软雅黑" panose="020B0503020204020204" charset="-122"/>
            </a:endParaRPr>
          </a:p>
          <a:p>
            <a:pPr indent="457200" algn="just">
              <a:lnSpc>
                <a:spcPct val="190000"/>
              </a:lnSpc>
              <a:buSzTx/>
              <a:defRPr/>
            </a:pPr>
            <a:r>
              <a:rPr lang="zh-CN" altLang="en-US" sz="2400">
                <a:solidFill>
                  <a:srgbClr val="4B5563"/>
                </a:solidFill>
                <a:latin typeface="微软雅黑" panose="020B0503020204020204" charset="-122"/>
                <a:ea typeface="微软雅黑" panose="020B0503020204020204" charset="-122"/>
                <a:cs typeface="微软雅黑" panose="020B0503020204020204" charset="-122"/>
              </a:rPr>
              <a:t>县级成果是整个评价体系的基础，基础不牢，后续各级汇总将失去科学依据。请各地迅速组织技术力量，逐条整改、逐图斑过关、逐级上报。专题组将全程提供技术支撑，确保全国土壤农业利用适宜性评价成果统一、可比、可用，经得起科学检验和历史检验。</a:t>
            </a:r>
            <a:endParaRPr lang="zh-CN" altLang="en-US" sz="2400">
              <a:solidFill>
                <a:srgbClr val="4B556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1219200"/>
            <a:ext cx="12192000" cy="2800175"/>
          </a:xfrm>
          <a:custGeom>
            <a:avLst/>
            <a:gdLst/>
            <a:ahLst/>
            <a:cxnLst/>
            <a:rect l="l" t="t" r="r" b="b"/>
            <a:pathLst>
              <a:path w="12192000" h="2800175">
                <a:moveTo>
                  <a:pt x="0" y="2800175"/>
                </a:moveTo>
                <a:lnTo>
                  <a:pt x="12192000" y="2800175"/>
                </a:lnTo>
                <a:lnTo>
                  <a:pt x="12192000" y="0"/>
                </a:lnTo>
                <a:lnTo>
                  <a:pt x="0" y="0"/>
                </a:lnTo>
                <a:lnTo>
                  <a:pt x="0" y="2800175"/>
                </a:lnTo>
                <a:close/>
              </a:path>
            </a:pathLst>
          </a:custGeom>
          <a:solidFill>
            <a:srgbClr val="2F5597">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651000"/>
            <a:ext cx="12192000" cy="19050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9600" b="1" i="0" u="none" strike="noStrike">
                <a:solidFill>
                  <a:srgbClr val="FFFFFF"/>
                </a:solidFill>
                <a:effectLst>
                  <a:outerShdw blurRad="63500" dist="50800" dir="2700000" algn="tl" rotWithShape="0">
                    <a:srgbClr val="000000">
                      <a:alpha val="50000"/>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Q&amp;A</a:t>
            </a:r>
            <a:endParaRPr lang="en-US" sz="1100"/>
          </a:p>
        </p:txBody>
      </p:sp>
      <p:sp>
        <p:nvSpPr>
          <p:cNvPr id="4" name="AutoShape 4"/>
          <p:cNvSpPr/>
          <p:nvPr/>
        </p:nvSpPr>
        <p:spPr>
          <a:xfrm>
            <a:off x="0" y="4572000"/>
            <a:ext cx="12192000" cy="12065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7200" b="1" i="0" u="none" strike="noStrike">
                <a:solidFill>
                  <a:srgbClr val="C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谢 谢 聆 听！</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445.8,&quot;left&quot;:321,&quot;top&quot;:75,&quot;width&quot;:558}"/>
</p:tagLst>
</file>

<file path=ppt/tags/tag2.xml><?xml version="1.0" encoding="utf-8"?>
<p:tagLst xmlns:p="http://schemas.openxmlformats.org/presentationml/2006/main">
  <p:tag name="KSO_WM_DIAGRAM_VIRTUALLY_FRAME" val="{&quot;height&quot;:445.8,&quot;left&quot;:321,&quot;top&quot;:75,&quot;width&quot;:558}"/>
</p:tagLst>
</file>

<file path=ppt/tags/tag3.xml><?xml version="1.0" encoding="utf-8"?>
<p:tagLst xmlns:p="http://schemas.openxmlformats.org/presentationml/2006/main">
  <p:tag name="KSO_WM_DIAGRAM_VIRTUALLY_FRAME" val="{&quot;height&quot;:445.8,&quot;left&quot;:321,&quot;top&quot;:75,&quot;width&quot;:558}"/>
</p:tagLst>
</file>

<file path=ppt/tags/tag4.xml><?xml version="1.0" encoding="utf-8"?>
<p:tagLst xmlns:p="http://schemas.openxmlformats.org/presentationml/2006/main">
  <p:tag name="KSO_WM_DIAGRAM_VIRTUALLY_FRAME" val="{&quot;height&quot;:445.8,&quot;left&quot;:321,&quot;top&quot;:75,&quot;width&quot;:558}"/>
</p:tagLst>
</file>

<file path=ppt/tags/tag5.xml><?xml version="1.0" encoding="utf-8"?>
<p:tagLst xmlns:p="http://schemas.openxmlformats.org/presentationml/2006/main">
  <p:tag name="KSO_WM_DIAGRAM_VIRTUALLY_FRAME" val="{&quot;height&quot;:445.8,&quot;left&quot;:321,&quot;top&quot;:75,&quot;width&quot;:558}"/>
</p:tagLst>
</file>

<file path=ppt/tags/tag6.xml><?xml version="1.0" encoding="utf-8"?>
<p:tagLst xmlns:p="http://schemas.openxmlformats.org/presentationml/2006/main">
  <p:tag name="KSO_WM_DIAGRAM_VIRTUALLY_FRAME" val="{&quot;height&quot;:445.8,&quot;left&quot;:321,&quot;top&quot;:75,&quot;width&quot;:558}"/>
</p:tagLst>
</file>

<file path=ppt/tags/tag7.xml><?xml version="1.0" encoding="utf-8"?>
<p:tagLst xmlns:p="http://schemas.openxmlformats.org/presentationml/2006/main">
  <p:tag name="KSO_WM_DIAGRAM_VIRTUALLY_FRAME" val="{&quot;height&quot;:445.8,&quot;left&quot;:321,&quot;top&quot;:75,&quot;width&quot;:558}"/>
</p:tagLst>
</file>

<file path=ppt/tags/tag8.xml><?xml version="1.0" encoding="utf-8"?>
<p:tagLst xmlns:p="http://schemas.openxmlformats.org/presentationml/2006/main">
  <p:tag name="KSO_WM_DIAGRAM_VIRTUALLY_FRAME" val="{&quot;height&quot;:445.8,&quot;left&quot;:321,&quot;top&quot;:75,&quot;width&quot;:558}"/>
</p:tagLst>
</file>

<file path=ppt/tags/tag9.xml><?xml version="1.0" encoding="utf-8"?>
<p:tagLst xmlns:p="http://schemas.openxmlformats.org/presentationml/2006/main">
  <p:tag name="KSO_WM_DIAGRAM_VIRTUALLY_FRAME" val="{&quot;height&quot;:445.8,&quot;left&quot;:321,&quot;top&quot;:75,&quot;width&quot;:558}"/>
</p:tagLst>
</file>

<file path=ppt/tags/tag10.xml><?xml version="1.0" encoding="utf-8"?>
<p:tagLst xmlns:p="http://schemas.openxmlformats.org/presentationml/2006/main">
  <p:tag name="KSO_WM_DIAGRAM_VIRTUALLY_FRAME" val="{&quot;height&quot;:445.8,&quot;left&quot;:321,&quot;top&quot;:75,&quot;width&quot;:558}"/>
</p:tagLst>
</file>

<file path=ppt/tags/tag11.xml><?xml version="1.0" encoding="utf-8"?>
<p:tagLst xmlns:p="http://schemas.openxmlformats.org/presentationml/2006/main">
  <p:tag name="KSO_WM_DIAGRAM_VIRTUALLY_FRAME" val="{&quot;height&quot;:445.8,&quot;left&quot;:321,&quot;top&quot;:75,&quot;width&quot;:558}"/>
</p:tagLst>
</file>

<file path=ppt/tags/tag12.xml><?xml version="1.0" encoding="utf-8"?>
<p:tagLst xmlns:p="http://schemas.openxmlformats.org/presentationml/2006/main">
  <p:tag name="KSO_WM_DIAGRAM_VIRTUALLY_FRAME" val="{&quot;height&quot;:445.8,&quot;left&quot;:321,&quot;top&quot;:75,&quot;width&quot;:558}"/>
</p:tagLst>
</file>

<file path=ppt/tags/tag13.xml><?xml version="1.0" encoding="utf-8"?>
<p:tagLst xmlns:p="http://schemas.openxmlformats.org/presentationml/2006/main">
  <p:tag name="KSO_WM_DIAGRAM_VIRTUALLY_FRAME" val="{&quot;height&quot;:240,&quot;left&quot;:67,&quot;top&quot;:260,&quot;width&quot;:795}"/>
</p:tagLst>
</file>

<file path=ppt/tags/tag14.xml><?xml version="1.0" encoding="utf-8"?>
<p:tagLst xmlns:p="http://schemas.openxmlformats.org/presentationml/2006/main">
  <p:tag name="KSO_WM_DIAGRAM_VIRTUALLY_FRAME" val="{&quot;height&quot;:240,&quot;left&quot;:67,&quot;top&quot;:260,&quot;width&quot;:795}"/>
</p:tagLst>
</file>

<file path=ppt/tags/tag15.xml><?xml version="1.0" encoding="utf-8"?>
<p:tagLst xmlns:p="http://schemas.openxmlformats.org/presentationml/2006/main">
  <p:tag name="KSO_WM_DIAGRAM_VIRTUALLY_FRAME" val="{&quot;height&quot;:240,&quot;left&quot;:67,&quot;top&quot;:260,&quot;width&quot;:795}"/>
</p:tagLst>
</file>

<file path=ppt/tags/tag16.xml><?xml version="1.0" encoding="utf-8"?>
<p:tagLst xmlns:p="http://schemas.openxmlformats.org/presentationml/2006/main">
  <p:tag name="KSO_WM_DIAGRAM_VIRTUALLY_FRAME" val="{&quot;height&quot;:240,&quot;left&quot;:67,&quot;top&quot;:260,&quot;width&quot;:795}"/>
</p:tagLst>
</file>

<file path=ppt/tags/tag17.xml><?xml version="1.0" encoding="utf-8"?>
<p:tagLst xmlns:p="http://schemas.openxmlformats.org/presentationml/2006/main">
  <p:tag name="KSO_WM_DIAGRAM_VIRTUALLY_FRAME" val="{&quot;height&quot;:240,&quot;left&quot;:67,&quot;top&quot;:260,&quot;width&quot;:795}"/>
</p:tagLst>
</file>

<file path=ppt/tags/tag18.xml><?xml version="1.0" encoding="utf-8"?>
<p:tagLst xmlns:p="http://schemas.openxmlformats.org/presentationml/2006/main">
  <p:tag name="KSO_WM_DIAGRAM_VIRTUALLY_FRAME" val="{&quot;height&quot;:240,&quot;left&quot;:67,&quot;top&quot;:260,&quot;width&quot;:795}"/>
</p:tagLst>
</file>

<file path=ppt/tags/tag19.xml><?xml version="1.0" encoding="utf-8"?>
<p:tagLst xmlns:p="http://schemas.openxmlformats.org/presentationml/2006/main">
  <p:tag name="KSO_WM_DIAGRAM_VIRTUALLY_FRAME" val="{&quot;height&quot;:240,&quot;left&quot;:67,&quot;top&quot;:260,&quot;width&quot;:795}"/>
</p:tagLst>
</file>

<file path=ppt/tags/tag20.xml><?xml version="1.0" encoding="utf-8"?>
<p:tagLst xmlns:p="http://schemas.openxmlformats.org/presentationml/2006/main">
  <p:tag name="KSO_WM_DIAGRAM_VIRTUALLY_FRAME" val="{&quot;height&quot;:240,&quot;left&quot;:67,&quot;top&quot;:260,&quot;width&quot;:795}"/>
</p:tagLst>
</file>

<file path=ppt/tags/tag21.xml><?xml version="1.0" encoding="utf-8"?>
<p:tagLst xmlns:p="http://schemas.openxmlformats.org/presentationml/2006/main">
  <p:tag name="KSO_WM_DIAGRAM_VIRTUALLY_FRAME" val="{&quot;height&quot;:240,&quot;left&quot;:67,&quot;top&quot;:260,&quot;width&quot;:795}"/>
</p:tagLst>
</file>

<file path=ppt/tags/tag22.xml><?xml version="1.0" encoding="utf-8"?>
<p:tagLst xmlns:p="http://schemas.openxmlformats.org/presentationml/2006/main">
  <p:tag name="KSO_WM_DIAGRAM_VIRTUALLY_FRAME" val="{&quot;height&quot;:240,&quot;left&quot;:67,&quot;top&quot;:260,&quot;width&quot;:795}"/>
</p:tagLst>
</file>

<file path=ppt/tags/tag23.xml><?xml version="1.0" encoding="utf-8"?>
<p:tagLst xmlns:p="http://schemas.openxmlformats.org/presentationml/2006/main">
  <p:tag name="KSO_WM_DIAGRAM_VIRTUALLY_FRAME" val="{&quot;height&quot;:240,&quot;left&quot;:67,&quot;top&quot;:260,&quot;width&quot;:795}"/>
</p:tagLst>
</file>

<file path=ppt/tags/tag24.xml><?xml version="1.0" encoding="utf-8"?>
<p:tagLst xmlns:p="http://schemas.openxmlformats.org/presentationml/2006/main">
  <p:tag name="KSO_WM_DIAGRAM_VIRTUALLY_FRAME" val="{&quot;height&quot;:240,&quot;left&quot;:67,&quot;top&quot;:260,&quot;width&quot;:795}"/>
</p:tagLst>
</file>

<file path=ppt/tags/tag25.xml><?xml version="1.0" encoding="utf-8"?>
<p:tagLst xmlns:p="http://schemas.openxmlformats.org/presentationml/2006/main">
  <p:tag name="KSO_WM_DIAGRAM_VIRTUALLY_FRAME" val="{&quot;height&quot;:240,&quot;left&quot;:67,&quot;top&quot;:260,&quot;width&quot;:795}"/>
</p:tagLst>
</file>

<file path=ppt/tags/tag26.xml><?xml version="1.0" encoding="utf-8"?>
<p:tagLst xmlns:p="http://schemas.openxmlformats.org/presentationml/2006/main">
  <p:tag name="KSO_WM_DIAGRAM_VIRTUALLY_FRAME" val="{&quot;height&quot;:240,&quot;left&quot;:67,&quot;top&quot;:260,&quot;width&quot;:795}"/>
</p:tagLst>
</file>

<file path=ppt/tags/tag27.xml><?xml version="1.0" encoding="utf-8"?>
<p:tagLst xmlns:p="http://schemas.openxmlformats.org/presentationml/2006/main">
  <p:tag name="KSO_WM_DIAGRAM_VIRTUALLY_FRAME" val="{&quot;height&quot;:240,&quot;left&quot;:67,&quot;top&quot;:260,&quot;width&quot;:795}"/>
</p:tagLst>
</file>

<file path=ppt/tags/tag28.xml><?xml version="1.0" encoding="utf-8"?>
<p:tagLst xmlns:p="http://schemas.openxmlformats.org/presentationml/2006/main">
  <p:tag name="KSO_WM_DIAGRAM_VIRTUALLY_FRAME" val="{&quot;height&quot;:240,&quot;left&quot;:67,&quot;top&quot;:260,&quot;width&quot;:795}"/>
</p:tagLst>
</file>

<file path=ppt/tags/tag29.xml><?xml version="1.0" encoding="utf-8"?>
<p:tagLst xmlns:p="http://schemas.openxmlformats.org/presentationml/2006/main">
  <p:tag name="KSO_WM_DIAGRAM_VIRTUALLY_FRAME" val="{&quot;height&quot;:240,&quot;left&quot;:67,&quot;top&quot;:260,&quot;width&quot;:795}"/>
</p:tagLst>
</file>

<file path=ppt/tags/tag30.xml><?xml version="1.0" encoding="utf-8"?>
<p:tagLst xmlns:p="http://schemas.openxmlformats.org/presentationml/2006/main">
  <p:tag name="KSO_WM_DIAGRAM_VIRTUALLY_FRAME" val="{&quot;height&quot;:240,&quot;left&quot;:67,&quot;top&quot;:260,&quot;width&quot;:795}"/>
</p:tagLst>
</file>

<file path=ppt/tags/tag31.xml><?xml version="1.0" encoding="utf-8"?>
<p:tagLst xmlns:p="http://schemas.openxmlformats.org/presentationml/2006/main">
  <p:tag name="KSO_WM_DIAGRAM_VIRTUALLY_FRAME" val="{&quot;height&quot;:441.55,&quot;left&quot;:60,&quot;top&quot;:87.7,&quot;width&quot;:840}"/>
</p:tagLst>
</file>

<file path=ppt/tags/tag32.xml><?xml version="1.0" encoding="utf-8"?>
<p:tagLst xmlns:p="http://schemas.openxmlformats.org/presentationml/2006/main">
  <p:tag name="KSO_WM_DIAGRAM_VIRTUALLY_FRAME" val="{&quot;height&quot;:441.55,&quot;left&quot;:60,&quot;top&quot;:87.7,&quot;width&quot;:840}"/>
</p:tagLst>
</file>

<file path=ppt/tags/tag33.xml><?xml version="1.0" encoding="utf-8"?>
<p:tagLst xmlns:p="http://schemas.openxmlformats.org/presentationml/2006/main">
  <p:tag name="KSO_WM_DIAGRAM_VIRTUALLY_FRAME" val="{&quot;height&quot;:441.55,&quot;left&quot;:60,&quot;top&quot;:87.7,&quot;width&quot;:840}"/>
</p:tagLst>
</file>

<file path=ppt/tags/tag34.xml><?xml version="1.0" encoding="utf-8"?>
<p:tagLst xmlns:p="http://schemas.openxmlformats.org/presentationml/2006/main">
  <p:tag name="KSO_WM_DIAGRAM_VIRTUALLY_FRAME" val="{&quot;height&quot;:441.55,&quot;left&quot;:60,&quot;top&quot;:87.7,&quot;width&quot;:840}"/>
</p:tagLst>
</file>

<file path=ppt/tags/tag35.xml><?xml version="1.0" encoding="utf-8"?>
<p:tagLst xmlns:p="http://schemas.openxmlformats.org/presentationml/2006/main">
  <p:tag name="KSO_WM_DIAGRAM_VIRTUALLY_FRAME" val="{&quot;height&quot;:441.55,&quot;left&quot;:60,&quot;top&quot;:87.7,&quot;width&quot;:840}"/>
</p:tagLst>
</file>

<file path=ppt/tags/tag36.xml><?xml version="1.0" encoding="utf-8"?>
<p:tagLst xmlns:p="http://schemas.openxmlformats.org/presentationml/2006/main">
  <p:tag name="KSO_WM_DIAGRAM_VIRTUALLY_FRAME" val="{&quot;height&quot;:441.55,&quot;left&quot;:60,&quot;top&quot;:87.7,&quot;width&quot;:840}"/>
</p:tagLst>
</file>

<file path=ppt/tags/tag37.xml><?xml version="1.0" encoding="utf-8"?>
<p:tagLst xmlns:p="http://schemas.openxmlformats.org/presentationml/2006/main">
  <p:tag name="KSO_WM_DIAGRAM_VIRTUALLY_FRAME" val="{&quot;height&quot;:441.55,&quot;left&quot;:60,&quot;top&quot;:87.7,&quot;width&quot;:840}"/>
</p:tagLst>
</file>

<file path=ppt/tags/tag38.xml><?xml version="1.0" encoding="utf-8"?>
<p:tagLst xmlns:p="http://schemas.openxmlformats.org/presentationml/2006/main">
  <p:tag name="KSO_WM_DIAGRAM_VIRTUALLY_FRAME" val="{&quot;height&quot;:440.1,&quot;left&quot;:12.75,&quot;top&quot;:80.9,&quot;width&quot;:947.25}"/>
</p:tagLst>
</file>

<file path=ppt/tags/tag39.xml><?xml version="1.0" encoding="utf-8"?>
<p:tagLst xmlns:p="http://schemas.openxmlformats.org/presentationml/2006/main">
  <p:tag name="KSO_WM_DIAGRAM_VIRTUALLY_FRAME" val="{&quot;height&quot;:440.1,&quot;left&quot;:12.75,&quot;top&quot;:80.9,&quot;width&quot;:947.25}"/>
</p:tagLst>
</file>

<file path=ppt/tags/tag40.xml><?xml version="1.0" encoding="utf-8"?>
<p:tagLst xmlns:p="http://schemas.openxmlformats.org/presentationml/2006/main">
  <p:tag name="KSO_WM_DIAGRAM_VIRTUALLY_FRAME" val="{&quot;height&quot;:440.1,&quot;left&quot;:12.75,&quot;top&quot;:80.9,&quot;width&quot;:947.25}"/>
</p:tagLst>
</file>

<file path=ppt/tags/tag41.xml><?xml version="1.0" encoding="utf-8"?>
<p:tagLst xmlns:p="http://schemas.openxmlformats.org/presentationml/2006/main">
  <p:tag name="KSO_WM_DIAGRAM_VIRTUALLY_FRAME" val="{&quot;height&quot;:440.1,&quot;left&quot;:12.75,&quot;top&quot;:80.9,&quot;width&quot;:947.25}"/>
</p:tagLst>
</file>

<file path=ppt/tags/tag42.xml><?xml version="1.0" encoding="utf-8"?>
<p:tagLst xmlns:p="http://schemas.openxmlformats.org/presentationml/2006/main">
  <p:tag name="KSO_WM_DIAGRAM_VIRTUALLY_FRAME" val="{&quot;height&quot;:440.1,&quot;left&quot;:12.75,&quot;top&quot;:80.9,&quot;width&quot;:947.25}"/>
</p:tagLst>
</file>

<file path=ppt/tags/tag43.xml><?xml version="1.0" encoding="utf-8"?>
<p:tagLst xmlns:p="http://schemas.openxmlformats.org/presentationml/2006/main">
  <p:tag name="KSO_WM_DIAGRAM_VIRTUALLY_FRAME" val="{&quot;height&quot;:440.1,&quot;left&quot;:12.75,&quot;top&quot;:80.9,&quot;width&quot;:947.25}"/>
</p:tagLst>
</file>

<file path=ppt/tags/tag44.xml><?xml version="1.0" encoding="utf-8"?>
<p:tagLst xmlns:p="http://schemas.openxmlformats.org/presentationml/2006/main">
  <p:tag name="KSO_WM_DIAGRAM_VIRTUALLY_FRAME" val="{&quot;height&quot;:398,&quot;left&quot;:60,&quot;top&quot;:123,&quot;width&quot;:840}"/>
</p:tagLst>
</file>

<file path=ppt/tags/tag45.xml><?xml version="1.0" encoding="utf-8"?>
<p:tagLst xmlns:p="http://schemas.openxmlformats.org/presentationml/2006/main">
  <p:tag name="KSO_WM_DIAGRAM_VIRTUALLY_FRAME" val="{&quot;height&quot;:398,&quot;left&quot;:60,&quot;top&quot;:123,&quot;width&quot;:840}"/>
</p:tagLst>
</file>

<file path=ppt/tags/tag46.xml><?xml version="1.0" encoding="utf-8"?>
<p:tagLst xmlns:p="http://schemas.openxmlformats.org/presentationml/2006/main">
  <p:tag name="KSO_WM_DIAGRAM_VIRTUALLY_FRAME" val="{&quot;height&quot;:398,&quot;left&quot;:60,&quot;top&quot;:123,&quot;width&quot;:840}"/>
</p:tagLst>
</file>

<file path=ppt/tags/tag47.xml><?xml version="1.0" encoding="utf-8"?>
<p:tagLst xmlns:p="http://schemas.openxmlformats.org/presentationml/2006/main">
  <p:tag name="KSO_WM_DIAGRAM_VIRTUALLY_FRAME" val="{&quot;height&quot;:398,&quot;left&quot;:60,&quot;top&quot;:123,&quot;width&quot;:840}"/>
</p:tagLst>
</file>

<file path=ppt/tags/tag48.xml><?xml version="1.0" encoding="utf-8"?>
<p:tagLst xmlns:p="http://schemas.openxmlformats.org/presentationml/2006/main">
  <p:tag name="KSO_WM_DIAGRAM_VIRTUALLY_FRAME" val="{&quot;height&quot;:398,&quot;left&quot;:60,&quot;top&quot;:123,&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5884</Words>
  <Application>WPS 演示</Application>
  <PresentationFormat/>
  <Paragraphs>244</Paragraphs>
  <Slides>24</Slides>
  <Notes>0</Notes>
  <HiddenSlides>0</HiddenSlides>
  <MMClips>0</MMClips>
  <ScaleCrop>false</ScaleCrop>
  <HeadingPairs>
    <vt:vector size="6" baseType="variant">
      <vt:variant>
        <vt:lpstr>已用的字体</vt:lpstr>
      </vt:variant>
      <vt:variant>
        <vt:i4>12</vt:i4>
      </vt:variant>
      <vt:variant>
        <vt:lpstr>主题</vt:lpstr>
      </vt:variant>
      <vt:variant>
        <vt:i4>7</vt:i4>
      </vt:variant>
      <vt:variant>
        <vt:lpstr>幻灯片标题</vt:lpstr>
      </vt:variant>
      <vt:variant>
        <vt:i4>24</vt:i4>
      </vt:variant>
    </vt:vector>
  </HeadingPairs>
  <TitlesOfParts>
    <vt:vector size="43" baseType="lpstr">
      <vt:lpstr>Arial</vt:lpstr>
      <vt:lpstr>宋体</vt:lpstr>
      <vt:lpstr>Wingdings</vt:lpstr>
      <vt:lpstr>Arial</vt:lpstr>
      <vt:lpstr>微软雅黑</vt:lpstr>
      <vt:lpstr>Songti SC</vt:lpstr>
      <vt:lpstr>ESRI AMFM Electric</vt:lpstr>
      <vt:lpstr>Arial Unicode MS</vt:lpstr>
      <vt:lpstr>Wingdings</vt:lpstr>
      <vt:lpstr>Times New Roman</vt:lpstr>
      <vt:lpstr>Songti SC</vt:lpstr>
      <vt:lpstr>Wingdings</vt:lpstr>
      <vt:lpstr>Office 主题​​</vt:lpstr>
      <vt:lpstr>默认主题</vt:lpstr>
      <vt:lpstr>2_默认主题</vt:lpstr>
      <vt:lpstr>3_默认主题</vt:lpstr>
      <vt:lpstr>1_默认主题</vt:lpstr>
      <vt:lpstr>5_默认主题</vt:lpstr>
      <vt:lpstr>4_默认主题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星星鲲很别致</cp:lastModifiedBy>
  <cp:revision>164</cp:revision>
  <dcterms:created xsi:type="dcterms:W3CDTF">2026-04-16T04:00:00Z</dcterms:created>
  <dcterms:modified xsi:type="dcterms:W3CDTF">2026-04-16T09:43:49Z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7F30E29F45064EAFAF6293520E7B2549_13</vt:lpwstr>
  </property>
  <property fmtid="{D5CDD505-2E9C-101B-9397-08002B2CF9AE}" pid="3" name="KSOProductBuildVer">
    <vt:lpwstr>2052-12.1.0.25225</vt:lpwstr>
  </property>
</Properties>
</file>