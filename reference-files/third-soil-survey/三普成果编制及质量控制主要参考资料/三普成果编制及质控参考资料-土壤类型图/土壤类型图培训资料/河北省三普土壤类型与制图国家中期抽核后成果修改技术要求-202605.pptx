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1"/>
  </p:notesMasterIdLst>
  <p:sldIdLst>
    <p:sldId id="257" r:id="rId4"/>
    <p:sldId id="258" r:id="rId5"/>
    <p:sldId id="312" r:id="rId6"/>
    <p:sldId id="315" r:id="rId7"/>
    <p:sldId id="316" r:id="rId8"/>
    <p:sldId id="317" r:id="rId9"/>
    <p:sldId id="318" r:id="rId10"/>
    <p:sldId id="358" r:id="rId12"/>
    <p:sldId id="360" r:id="rId13"/>
    <p:sldId id="359" r:id="rId14"/>
    <p:sldId id="361" r:id="rId15"/>
    <p:sldId id="319" r:id="rId16"/>
    <p:sldId id="320" r:id="rId17"/>
    <p:sldId id="321" r:id="rId18"/>
    <p:sldId id="322" r:id="rId19"/>
    <p:sldId id="329" r:id="rId20"/>
    <p:sldId id="363" r:id="rId21"/>
    <p:sldId id="364" r:id="rId22"/>
    <p:sldId id="366" r:id="rId23"/>
    <p:sldId id="367" r:id="rId24"/>
    <p:sldId id="368" r:id="rId25"/>
    <p:sldId id="365" r:id="rId26"/>
    <p:sldId id="369" r:id="rId27"/>
    <p:sldId id="370" r:id="rId28"/>
    <p:sldId id="371" r:id="rId29"/>
    <p:sldId id="374" r:id="rId30"/>
    <p:sldId id="372" r:id="rId31"/>
    <p:sldId id="375" r:id="rId32"/>
    <p:sldId id="376" r:id="rId33"/>
    <p:sldId id="378" r:id="rId34"/>
    <p:sldId id="362" r:id="rId35"/>
    <p:sldId id="350" r:id="rId36"/>
    <p:sldId id="380" r:id="rId37"/>
    <p:sldId id="379" r:id="rId38"/>
    <p:sldId id="381" r:id="rId39"/>
    <p:sldId id="386" r:id="rId40"/>
    <p:sldId id="382" r:id="rId41"/>
    <p:sldId id="383" r:id="rId42"/>
    <p:sldId id="384" r:id="rId43"/>
    <p:sldId id="385" r:id="rId44"/>
    <p:sldId id="387" r:id="rId45"/>
    <p:sldId id="389" r:id="rId46"/>
    <p:sldId id="388" r:id="rId47"/>
    <p:sldId id="357" r:id="rId48"/>
  </p:sldIdLst>
  <p:sldSz cx="12192000" cy="6858000" type="screen16x9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" lastIdx="1" clrIdx="0"/>
  <p:cmAuthor id="2" name="作者" initials="作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171CED"/>
    <a:srgbClr val="FD5C0C"/>
    <a:srgbClr val="F6F5C5"/>
    <a:srgbClr val="F7FD9D"/>
    <a:srgbClr val="EFFB8F"/>
    <a:srgbClr val="F7FC7E"/>
    <a:srgbClr val="F8F4C9"/>
    <a:srgbClr val="2513D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55" d="100"/>
          <a:sy n="55" d="100"/>
        </p:scale>
        <p:origin x="-978" y="-90"/>
      </p:cViewPr>
      <p:guideLst>
        <p:guide orient="horz" pos="2114"/>
        <p:guide pos="3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47" name=""/>
        <p:cNvGrpSpPr/>
        <p:nvPr/>
      </p:nvGrpSpPr>
      <p:grpSpPr/>
      <p:sp>
        <p:nvSpPr>
          <p:cNvPr id="104978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104978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04978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978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78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104978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"/>
        <p:cNvGrpSpPr/>
        <p:nvPr/>
      </p:nvGrpSpPr>
      <p:grpSpPr/>
      <p:sp>
        <p:nvSpPr>
          <p:cNvPr id="1049368" name="幻灯片图像占位符 1"/>
          <p:cNvSpPr/>
          <p:nvPr>
            <p:ph type="sldImg" idx="2"/>
          </p:nvPr>
        </p:nvSpPr>
        <p:spPr/>
      </p:sp>
      <p:sp>
        <p:nvSpPr>
          <p:cNvPr id="1049369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2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496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00">
    <p:bg>
      <p:bgPr>
        <a:solidFill>
          <a:schemeClr val="bg1"/>
        </a:solidFill>
        <a:effectLst/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title"/>
          </p:nvPr>
        </p:nvSpPr>
        <p:spPr>
          <a:xfrm>
            <a:off x="1530985" y="412115"/>
            <a:ext cx="9746615" cy="916940"/>
          </a:xfrm>
        </p:spPr>
        <p:txBody>
          <a:bodyPr/>
          <a:lstStyle>
            <a:lvl1pPr>
              <a:defRPr sz="3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8596" name="内容占位符 2"/>
          <p:cNvSpPr>
            <a:spLocks noGrp="1"/>
          </p:cNvSpPr>
          <p:nvPr>
            <p:ph idx="1"/>
          </p:nvPr>
        </p:nvSpPr>
        <p:spPr>
          <a:xfrm>
            <a:off x="1569720" y="1624330"/>
            <a:ext cx="9669780" cy="4114800"/>
          </a:xfrm>
        </p:spPr>
        <p:txBody>
          <a:bodyPr/>
          <a:lstStyle>
            <a:lvl1pPr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2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2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8597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5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69050"/>
            <a:ext cx="38608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85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7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48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64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5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5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54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59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660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662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6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6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5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组合 7"/>
          <p:cNvGrpSpPr/>
          <p:nvPr userDrawn="1"/>
        </p:nvGrpSpPr>
        <p:grpSpPr>
          <a:xfrm>
            <a:off x="114300" y="192088"/>
            <a:ext cx="1425575" cy="6176962"/>
            <a:chOff x="328" y="115"/>
            <a:chExt cx="2520" cy="9592"/>
          </a:xfrm>
        </p:grpSpPr>
        <p:pic>
          <p:nvPicPr>
            <p:cNvPr id="2097316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b="79472"/>
            <a:stretch>
              <a:fillRect/>
            </a:stretch>
          </p:blipFill>
          <p:spPr>
            <a:xfrm>
              <a:off x="328" y="115"/>
              <a:ext cx="2520" cy="21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97317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t="28683"/>
            <a:stretch>
              <a:fillRect/>
            </a:stretch>
          </p:blipFill>
          <p:spPr>
            <a:xfrm>
              <a:off x="328" y="2259"/>
              <a:ext cx="2520" cy="74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9627" name="标题 1"/>
          <p:cNvSpPr>
            <a:spLocks noGrp="1"/>
          </p:cNvSpPr>
          <p:nvPr>
            <p:ph type="title"/>
          </p:nvPr>
        </p:nvSpPr>
        <p:spPr>
          <a:xfrm>
            <a:off x="1661160" y="609600"/>
            <a:ext cx="9616440" cy="1143000"/>
          </a:xfrm>
        </p:spPr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28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29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69050"/>
            <a:ext cx="38608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3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7"/>
          <p:cNvGrpSpPr/>
          <p:nvPr userDrawn="1"/>
        </p:nvGrpSpPr>
        <p:grpSpPr>
          <a:xfrm>
            <a:off x="104775" y="244475"/>
            <a:ext cx="1425575" cy="6175375"/>
            <a:chOff x="328" y="115"/>
            <a:chExt cx="2520" cy="9592"/>
          </a:xfrm>
        </p:grpSpPr>
        <p:pic>
          <p:nvPicPr>
            <p:cNvPr id="2097209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b="79472"/>
            <a:stretch>
              <a:fillRect/>
            </a:stretch>
          </p:blipFill>
          <p:spPr>
            <a:xfrm>
              <a:off x="328" y="115"/>
              <a:ext cx="2520" cy="21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97210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t="28683"/>
            <a:stretch>
              <a:fillRect/>
            </a:stretch>
          </p:blipFill>
          <p:spPr>
            <a:xfrm>
              <a:off x="328" y="2259"/>
              <a:ext cx="2520" cy="74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8723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72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421438"/>
            <a:ext cx="38608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872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29663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5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6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6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6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66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7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37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104963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6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5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4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4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4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5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1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63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622209" cy="5486400"/>
          </a:xfrm>
        </p:spPr>
        <p:txBody>
          <a:bodyPr vert="eaVert"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870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870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104870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7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87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5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3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4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4974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4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00">
    <p:bg>
      <p:bgPr>
        <a:solidFill>
          <a:schemeClr val="bg1"/>
        </a:solidFill>
        <a:effectLst/>
      </p:bgPr>
    </p:bg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>
          <a:xfrm>
            <a:off x="1530985" y="412115"/>
            <a:ext cx="9746615" cy="916940"/>
          </a:xfrm>
        </p:spPr>
        <p:txBody>
          <a:bodyPr/>
          <a:lstStyle>
            <a:lvl1pPr>
              <a:defRPr sz="3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8618" name="内容占位符 2"/>
          <p:cNvSpPr>
            <a:spLocks noGrp="1"/>
          </p:cNvSpPr>
          <p:nvPr>
            <p:ph idx="1"/>
          </p:nvPr>
        </p:nvSpPr>
        <p:spPr>
          <a:xfrm>
            <a:off x="1569720" y="1624330"/>
            <a:ext cx="9669780" cy="4114800"/>
          </a:xfrm>
        </p:spPr>
        <p:txBody>
          <a:bodyPr/>
          <a:lstStyle>
            <a:lvl1pPr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2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2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69050"/>
            <a:ext cx="38608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44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45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74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4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4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4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50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51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5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5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5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7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77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7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77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7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7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7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5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组合 7"/>
          <p:cNvGrpSpPr/>
          <p:nvPr userDrawn="1"/>
        </p:nvGrpSpPr>
        <p:grpSpPr>
          <a:xfrm>
            <a:off x="114300" y="192088"/>
            <a:ext cx="1425575" cy="6176962"/>
            <a:chOff x="328" y="115"/>
            <a:chExt cx="2520" cy="9592"/>
          </a:xfrm>
        </p:grpSpPr>
        <p:pic>
          <p:nvPicPr>
            <p:cNvPr id="2097320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b="79472"/>
            <a:stretch>
              <a:fillRect/>
            </a:stretch>
          </p:blipFill>
          <p:spPr>
            <a:xfrm>
              <a:off x="328" y="115"/>
              <a:ext cx="2520" cy="21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97321" name="图片 75781" descr="第四章标图"/>
            <p:cNvPicPr>
              <a:picLocks noChangeAspect="1"/>
            </p:cNvPicPr>
            <p:nvPr userDrawn="1"/>
          </p:nvPicPr>
          <p:blipFill>
            <a:blip r:embed="rId2"/>
            <a:srcRect t="28683"/>
            <a:stretch>
              <a:fillRect/>
            </a:stretch>
          </p:blipFill>
          <p:spPr>
            <a:xfrm>
              <a:off x="328" y="2259"/>
              <a:ext cx="2520" cy="74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9780" name="标题 1"/>
          <p:cNvSpPr>
            <a:spLocks noGrp="1"/>
          </p:cNvSpPr>
          <p:nvPr>
            <p:ph type="title"/>
          </p:nvPr>
        </p:nvSpPr>
        <p:spPr>
          <a:xfrm>
            <a:off x="1661160" y="609600"/>
            <a:ext cx="9616440" cy="1143000"/>
          </a:xfrm>
        </p:spPr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81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82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69050"/>
            <a:ext cx="38608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8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69050"/>
            <a:ext cx="2540000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8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99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421438"/>
            <a:ext cx="38608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00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29663" y="6421438"/>
            <a:ext cx="2540000" cy="28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5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6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6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76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7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56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104975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4975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5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6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5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6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5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34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622209" cy="5486400"/>
          </a:xfrm>
        </p:spPr>
        <p:txBody>
          <a:bodyPr vert="eaVert"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5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49729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49730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104973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973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104973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2" name=""/>
        <p:cNvGrpSpPr/>
        <p:nvPr/>
      </p:nvGrpSpPr>
      <p:grpSpPr/>
      <p:sp>
        <p:nvSpPr>
          <p:cNvPr id="1048590" name="标题 14337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91" name="文本占位符 14338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592" name="日期占位符 14339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593" name="页脚占位符 14340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1048594" name="灯片编号占位符 14341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0" name=""/>
        <p:cNvGrpSpPr/>
        <p:nvPr/>
      </p:nvGrpSpPr>
      <p:grpSpPr/>
      <p:sp>
        <p:nvSpPr>
          <p:cNvPr id="1048612" name="标题 14337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13" name="文本占位符 14338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14" name="日期占位符 14339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48615" name="页脚占位符 14340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1048616" name="灯片编号占位符 14341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6.jpe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jpeg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jpeg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jpeg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32.png"/><Relationship Id="rId3" Type="http://schemas.openxmlformats.org/officeDocument/2006/relationships/tags" Target="../tags/tag9.xml"/><Relationship Id="rId2" Type="http://schemas.openxmlformats.org/officeDocument/2006/relationships/image" Target="../media/image6.jpeg"/><Relationship Id="rId1" Type="http://schemas.openxmlformats.org/officeDocument/2006/relationships/tags" Target="../tags/tag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tags" Target="../tags/tag10.xml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/>
      <p:sp>
        <p:nvSpPr>
          <p:cNvPr id="1048625" name="Rectangle 2"/>
          <p:cNvSpPr>
            <a:spLocks noGrp="1" noRot="1"/>
          </p:cNvSpPr>
          <p:nvPr>
            <p:ph type="title"/>
          </p:nvPr>
        </p:nvSpPr>
        <p:spPr>
          <a:xfrm>
            <a:off x="1847850" y="116840"/>
            <a:ext cx="8712835" cy="75438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ctr" anchorCtr="0"/>
          <a:p>
            <a:pPr defTabSz="914400">
              <a:buNone/>
            </a:pPr>
            <a:r>
              <a:rPr lang="zh-CN" altLang="en-US" sz="2800" b="1" kern="1200" baseline="0" dirty="0">
                <a:solidFill>
                  <a:srgbClr val="171CED"/>
                </a:solidFill>
                <a:cs typeface="+mj-cs"/>
              </a:rPr>
              <a:t>河北省第三次土壤普查成果汇总技术培训</a:t>
            </a:r>
            <a:endParaRPr lang="zh-CN" altLang="en-US" sz="2800" b="1" kern="1200" baseline="0" dirty="0">
              <a:solidFill>
                <a:srgbClr val="171CED"/>
              </a:solidFill>
              <a:cs typeface="+mj-cs"/>
            </a:endParaRPr>
          </a:p>
        </p:txBody>
      </p:sp>
      <p:sp>
        <p:nvSpPr>
          <p:cNvPr id="1048626" name="Rectangle 4"/>
          <p:cNvSpPr/>
          <p:nvPr/>
        </p:nvSpPr>
        <p:spPr>
          <a:xfrm>
            <a:off x="1524000" y="-184150"/>
            <a:ext cx="309563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8627" name="Rectangle 5"/>
          <p:cNvSpPr/>
          <p:nvPr/>
        </p:nvSpPr>
        <p:spPr>
          <a:xfrm>
            <a:off x="1524000" y="1582738"/>
            <a:ext cx="309563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en-US" altLang="zh-CN" sz="10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8628" name="Rectangle 6"/>
          <p:cNvSpPr/>
          <p:nvPr/>
        </p:nvSpPr>
        <p:spPr>
          <a:xfrm>
            <a:off x="1524000" y="5029200"/>
            <a:ext cx="309563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en-US" altLang="zh-CN" sz="9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8629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63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8631" name="Rectangle 3"/>
          <p:cNvSpPr>
            <a:spLocks noGrp="1" noRot="1"/>
          </p:cNvSpPr>
          <p:nvPr/>
        </p:nvSpPr>
        <p:spPr>
          <a:xfrm flipH="1">
            <a:off x="2207895" y="4559935"/>
            <a:ext cx="7150100" cy="1167765"/>
          </a:xfrm>
          <a:prstGeom prst="rect">
            <a:avLst/>
          </a:prstGeom>
          <a:noFill/>
          <a:ln w="9525">
            <a:noFill/>
          </a:ln>
        </p:spPr>
        <p:txBody>
          <a:bodyPr wrap="square" lIns="71755" tIns="45720" rIns="71755" bIns="45720" anchor="t" anchorCtr="0">
            <a:spAutoFit/>
          </a:bodyPr>
          <a:p>
            <a:pPr algn="ctr">
              <a:lnSpc>
                <a:spcPct val="14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黑体" panose="02010609060101010101" pitchFamily="2" charset="-122"/>
              </a:rPr>
              <a:t>文宏达，博士，教授</a:t>
            </a:r>
            <a:endParaRPr lang="zh-CN" altLang="en-US" sz="2800" b="1" dirty="0">
              <a:solidFill>
                <a:srgbClr val="3333CC"/>
              </a:solidFill>
              <a:latin typeface="华文新魏" panose="02010800040101010101" pitchFamily="2" charset="-122"/>
              <a:ea typeface="黑体" panose="02010609060101010101" pitchFamily="2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800" b="1" dirty="0">
                <a:solidFill>
                  <a:srgbClr val="3333CC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+mn-ea"/>
              </a:rPr>
              <a:t>河北农业大学资源与环境科学学院</a:t>
            </a:r>
            <a:endParaRPr lang="zh-CN" altLang="en-US" sz="2800" b="1" dirty="0">
              <a:solidFill>
                <a:srgbClr val="3333CC"/>
              </a:solidFill>
              <a:latin typeface="华文新魏" panose="0201080004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632" name="Rectangle 2"/>
          <p:cNvSpPr>
            <a:spLocks noGrp="1" noRot="1"/>
          </p:cNvSpPr>
          <p:nvPr/>
        </p:nvSpPr>
        <p:spPr>
          <a:xfrm>
            <a:off x="1415415" y="1796415"/>
            <a:ext cx="9096375" cy="16211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0" i="0" u="non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defTabSz="914400">
              <a:lnSpc>
                <a:spcPct val="140000"/>
              </a:lnSpc>
              <a:buNone/>
            </a:pPr>
            <a:r>
              <a:rPr lang="zh-CN" altLang="en-US" kern="1200" baseline="0" dirty="0">
                <a:solidFill>
                  <a:srgbClr val="FF0000"/>
                </a:solidFill>
                <a:cs typeface="+mj-cs"/>
              </a:rPr>
              <a:t>河北省土壤类型与制图国家中期抽核后</a:t>
            </a:r>
            <a:endParaRPr lang="zh-CN" altLang="en-US" kern="1200" baseline="0" dirty="0">
              <a:solidFill>
                <a:srgbClr val="FF0000"/>
              </a:solidFill>
              <a:cs typeface="+mj-cs"/>
            </a:endParaRPr>
          </a:p>
          <a:p>
            <a:pPr defTabSz="914400">
              <a:lnSpc>
                <a:spcPct val="140000"/>
              </a:lnSpc>
              <a:buNone/>
            </a:pPr>
            <a:r>
              <a:rPr lang="zh-CN" altLang="en-US" b="1" kern="1200" baseline="0" dirty="0">
                <a:solidFill>
                  <a:srgbClr val="171CED"/>
                </a:solidFill>
                <a:cs typeface="+mj-cs"/>
              </a:rPr>
              <a:t>成果修改技术要求</a:t>
            </a:r>
            <a:endParaRPr lang="zh-CN" altLang="en-US" b="1" kern="1200" baseline="0" dirty="0">
              <a:solidFill>
                <a:srgbClr val="171CED"/>
              </a:solidFill>
              <a:cs typeface="+mj-cs"/>
            </a:endParaRPr>
          </a:p>
        </p:txBody>
      </p:sp>
      <p:pic>
        <p:nvPicPr>
          <p:cNvPr id="2097182" name="图片 5" descr="D:\桌面\农大校徽图片资料\校徽透明版本.png校徽透明版本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32757" y="188710"/>
            <a:ext cx="1263015" cy="1264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/>
      <p:sp>
        <p:nvSpPr>
          <p:cNvPr id="1048633" name="Rectangle 2"/>
          <p:cNvSpPr>
            <a:spLocks noGrp="1" noRot="1"/>
          </p:cNvSpPr>
          <p:nvPr>
            <p:ph type="title"/>
          </p:nvPr>
        </p:nvSpPr>
        <p:spPr>
          <a:xfrm>
            <a:off x="1559560" y="1175385"/>
            <a:ext cx="5675630" cy="805815"/>
          </a:xfrm>
        </p:spPr>
        <p:txBody>
          <a:bodyPr vert="horz" wrap="square" lIns="91440" tIns="45720" rIns="91440" bIns="45720" anchor="ctr" anchorCtr="0"/>
          <a:p>
            <a:pPr defTabSz="914400">
              <a:buNone/>
            </a:pPr>
            <a:r>
              <a:rPr lang="zh-CN" altLang="en-US" b="1" kern="1200" baseline="0" dirty="0">
                <a:latin typeface="+mj-lt"/>
                <a:ea typeface="+mj-ea"/>
                <a:cs typeface="+mj-cs"/>
              </a:rPr>
              <a:t>目   录</a:t>
            </a:r>
            <a:endParaRPr lang="en-US" altLang="zh-CN" b="1" kern="1200" baseline="0" dirty="0">
              <a:solidFill>
                <a:schemeClr val="tx1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1048634" name="Rectangle 3"/>
          <p:cNvSpPr>
            <a:spLocks noGrp="1" noRot="1"/>
          </p:cNvSpPr>
          <p:nvPr>
            <p:ph idx="1"/>
          </p:nvPr>
        </p:nvSpPr>
        <p:spPr>
          <a:xfrm>
            <a:off x="861060" y="1981200"/>
            <a:ext cx="6374130" cy="4262120"/>
          </a:xfrm>
        </p:spPr>
        <p:txBody>
          <a:bodyPr vert="horz" wrap="square" lIns="91440" tIns="45720" rIns="91440" bIns="45720" anchor="t" anchorCtr="0"/>
          <a:p>
            <a:pPr algn="just" defTabSz="91440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+mn-ea"/>
              </a:rPr>
              <a:t>一、</a:t>
            </a:r>
            <a:r>
              <a:rPr lang="zh-CN" altLang="zh-CN" sz="2800" dirty="0">
                <a:solidFill>
                  <a:srgbClr val="2513D3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宋体" panose="02010600030101010101" pitchFamily="2" charset="-122"/>
              </a:rPr>
              <a:t>土壤发生分类系统</a:t>
            </a:r>
            <a:r>
              <a:rPr lang="zh-CN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宋体" panose="02010600030101010101" pitchFamily="2" charset="-122"/>
              </a:rPr>
              <a:t>及命名注意事项</a:t>
            </a:r>
            <a:endParaRPr lang="zh-CN" altLang="zh-CN" sz="2800" kern="1200" baseline="0" dirty="0">
              <a:solidFill>
                <a:srgbClr val="2513D3"/>
              </a:solidFill>
              <a:latin typeface="华文新魏" panose="02010800040101010101" pitchFamily="2" charset="-122"/>
              <a:ea typeface="黑体" panose="02010609060101010101" pitchFamily="2" charset="-122"/>
              <a:cs typeface="+mn-cs"/>
              <a:sym typeface="宋体" panose="02010600030101010101" pitchFamily="2" charset="-122"/>
            </a:endParaRPr>
          </a:p>
          <a:p>
            <a:pPr algn="just" defTabSz="91440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+mn-ea"/>
              </a:rPr>
              <a:t>二、</a:t>
            </a:r>
            <a:r>
              <a:rPr lang="zh-CN" altLang="zh-CN" sz="2800" dirty="0">
                <a:solidFill>
                  <a:srgbClr val="2513D3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宋体" panose="02010600030101010101" pitchFamily="2" charset="-122"/>
              </a:rPr>
              <a:t>国家中期抽核反馈问题及修改技术要求</a:t>
            </a:r>
            <a:endParaRPr lang="zh-CN" altLang="zh-CN" sz="2800" kern="1200" baseline="0" dirty="0">
              <a:solidFill>
                <a:srgbClr val="171CED"/>
              </a:solidFill>
              <a:latin typeface="华文新魏" panose="0201080004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48635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63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9718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15" y="1701165"/>
            <a:ext cx="4266565" cy="3456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4" name="图片 5" descr="D:\桌面\农大校徽图片资料\校徽透明版本.png校徽透明版本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32757" y="188710"/>
            <a:ext cx="1263015" cy="1264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4" name=""/>
        <p:cNvGrpSpPr/>
        <p:nvPr/>
      </p:nvGrpSpPr>
      <p:grpSpPr/>
      <p:sp>
        <p:nvSpPr>
          <p:cNvPr id="1049325" name="文本框 31745"/>
          <p:cNvSpPr txBox="1"/>
          <p:nvPr/>
        </p:nvSpPr>
        <p:spPr>
          <a:xfrm>
            <a:off x="2100263" y="1309688"/>
            <a:ext cx="8796337" cy="1835785"/>
          </a:xfrm>
          <a:prstGeom prst="rect">
            <a:avLst/>
          </a:prstGeom>
          <a:noFill/>
          <a:ln w="19050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土壤分类是依据成土条件、成土过程以及土壤属性的相似程度将土壤划分为若干类型，并将它们按照一定原则和逻辑归并成多等级的有序系统，即土壤分类系统。</a:t>
            </a:r>
            <a:endParaRPr lang="zh-CN" altLang="en-US" sz="280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49327" name="矩形 31749"/>
          <p:cNvSpPr/>
          <p:nvPr/>
        </p:nvSpPr>
        <p:spPr>
          <a:xfrm>
            <a:off x="2237423" y="3356769"/>
            <a:ext cx="8913813" cy="980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p>
            <a:pPr fontAlgn="base">
              <a:lnSpc>
                <a:spcPct val="125000"/>
              </a:lnSpc>
            </a:pPr>
            <a:r>
              <a:rPr lang="en-US" altLang="zh-CN" sz="2400" strike="noStrike" noProof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 strike="noStrike" noProof="1" dirty="0">
                <a:latin typeface="Arial" panose="020B0604020202020204" pitchFamily="34" charset="0"/>
                <a:ea typeface="宋体" panose="02010600030101010101" pitchFamily="2" charset="-122"/>
              </a:rPr>
              <a:t>我国现行的土壤分类是以</a:t>
            </a:r>
            <a:r>
              <a:rPr lang="zh-CN" altLang="en-US" sz="2400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土壤属性</a:t>
            </a:r>
            <a:r>
              <a:rPr lang="zh-CN" altLang="en-US" sz="2400" strike="noStrike" noProof="1" dirty="0">
                <a:latin typeface="Arial" panose="020B0604020202020204" pitchFamily="34" charset="0"/>
                <a:ea typeface="宋体" panose="02010600030101010101" pitchFamily="2" charset="-122"/>
              </a:rPr>
              <a:t>（比较稳定的土壤剖面形态和理化性质）作为土壤分类的依据。</a:t>
            </a:r>
            <a:endParaRPr lang="zh-CN" altLang="en-US" sz="240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9328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29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29663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23" name="Rectangle 2"/>
          <p:cNvSpPr>
            <a:spLocks noGrp="1" noRot="1"/>
          </p:cNvSpPr>
          <p:nvPr/>
        </p:nvSpPr>
        <p:spPr>
          <a:xfrm>
            <a:off x="1847533" y="332740"/>
            <a:ext cx="8143875" cy="6699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fontAlgn="base" hangingPunct="1"/>
            <a:r>
              <a:rPr lang="zh-CN" altLang="en-US" sz="3600" b="1" strike="noStrike" noProof="1" dirty="0">
                <a:ea typeface="宋体" panose="02010600030101010101" pitchFamily="2" charset="-122"/>
              </a:rPr>
              <a:t>一、土壤发生分类及命名</a:t>
            </a:r>
            <a:endParaRPr lang="zh-CN" altLang="en-US" sz="3600" b="1" strike="noStrike" noProof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79650" y="4779645"/>
            <a:ext cx="8870950" cy="10502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/>
              <a:t>《第三次全国土壤普查土壤分类系统（试行版）》采用土纲、亚纲、土类、亚类、土属、土种六级分类制。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7" name=""/>
        <p:cNvGrpSpPr/>
        <p:nvPr/>
      </p:nvGrpSpPr>
      <p:grpSpPr/>
      <p:pic>
        <p:nvPicPr>
          <p:cNvPr id="2097283" name="图片 39937" descr="京门头沟1鞍部草甸下部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938" y="3824288"/>
            <a:ext cx="3981450" cy="2743200"/>
          </a:xfrm>
          <a:prstGeom prst="rect">
            <a:avLst/>
          </a:prstGeom>
          <a:noFill/>
          <a:ln w="28575" cap="flat" cmpd="sng">
            <a:solidFill>
              <a:srgbClr val="9900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49341" name="矩形 39938"/>
          <p:cNvSpPr/>
          <p:nvPr/>
        </p:nvSpPr>
        <p:spPr>
          <a:xfrm>
            <a:off x="1866900" y="77788"/>
            <a:ext cx="8458200" cy="50774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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pitchFamily="18" charset="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 2" panose="05020102010507070707" pitchFamily="18" charset="2"/>
              </a:rPr>
              <a:t>（一）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划分依据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土纲：不同发育阶段、物质移动累积而引起的重大属性差异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亚纲：土壤形成的水热条件、岩性、盐碱的重大差异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土类：成土因素、过程、土壤属性（剖面形态）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亚类：次要或新成土过程                    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土属：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成土母质、岩性、区域水分条件等地方性因素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土种：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土体构型、发育程度（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土层厚度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 2" panose="05020102010507070707" pitchFamily="18" charset="2"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 2" panose="05020102010507070707" pitchFamily="18" charset="2"/>
            </a:endParaRPr>
          </a:p>
        </p:txBody>
      </p:sp>
      <p:sp>
        <p:nvSpPr>
          <p:cNvPr id="1049342" name="日期占位符 1"/>
          <p:cNvSpPr>
            <a:spLocks noGrp="1"/>
          </p:cNvSpPr>
          <p:nvPr>
            <p:ph type="dt" sz="half" idx="10"/>
          </p:nvPr>
        </p:nvSpPr>
        <p:spPr>
          <a:xfrm>
            <a:off x="941388" y="6248400"/>
            <a:ext cx="2540000" cy="457200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4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29663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8" name=""/>
        <p:cNvGrpSpPr/>
        <p:nvPr/>
      </p:nvGrpSpPr>
      <p:grpSpPr/>
      <p:sp>
        <p:nvSpPr>
          <p:cNvPr id="1049344" name="文本框 99"/>
          <p:cNvSpPr txBox="1"/>
          <p:nvPr/>
        </p:nvSpPr>
        <p:spPr>
          <a:xfrm>
            <a:off x="263525" y="621030"/>
            <a:ext cx="1698625" cy="11703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130000"/>
              </a:lnSpc>
            </a:pPr>
            <a:r>
              <a:rPr lang="zh-CN" sz="1800">
                <a:ea typeface="黑体" panose="02010609060101010101" pitchFamily="2" charset="-122"/>
              </a:rPr>
              <a:t>表</a:t>
            </a:r>
            <a:r>
              <a:rPr lang="en-US" sz="1800">
                <a:latin typeface="黑体" panose="02010609060101010101" pitchFamily="2" charset="-122"/>
              </a:rPr>
              <a:t> </a:t>
            </a:r>
            <a:r>
              <a:rPr lang="zh-CN" sz="1800">
                <a:ea typeface="黑体" panose="02010609060101010101" pitchFamily="2" charset="-122"/>
              </a:rPr>
              <a:t>1 河北省土壤发生分类系统高级分类表</a:t>
            </a:r>
            <a:endParaRPr lang="zh-CN" altLang="en-US" sz="1800">
              <a:ea typeface="黑体" panose="02010609060101010101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135505" y="44450"/>
          <a:ext cx="9864725" cy="6693535"/>
        </p:xfrm>
        <a:graphic>
          <a:graphicData uri="http://schemas.openxmlformats.org/drawingml/2006/table">
            <a:tbl>
              <a:tblPr/>
              <a:tblGrid>
                <a:gridCol w="1532255"/>
                <a:gridCol w="2162175"/>
                <a:gridCol w="1674495"/>
                <a:gridCol w="4495800"/>
              </a:tblGrid>
              <a:tr h="22352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土纲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亚纲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土类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亚类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淋溶土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湿暖温淋溶土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棕壤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典型棕壤、潮棕壤、棕壤性土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 rowSpan="3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半淋溶土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半湿暖温半淋溶土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典型褐土、淋溶褐土、石灰性褐土、潮褐土、褐土性土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半湿温半淋溶土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黑 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典型黑土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灰色森林土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典型灰色森林土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770">
                <a:tc rowSpan="2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钙层土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半干温钙层土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栗钙土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暗栗钙土、典型栗钙土、草甸栗钙土、盐化栗钙土、碱化栗钙土、栗钙土性土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半干暖温钙层土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栗褐土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典型栗褐土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rowSpan="5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初育土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土质初育土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红黏土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典型红黏土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新积土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冲积土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草原风沙土、草甸风沙土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石质初育土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石质土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酸性石质土、中性石质土、钙质石质土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粗骨土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酸性粗骨土、中性粗骨土、钙质粗骨土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 rowSpan="4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半水成土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暗半水成土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典型草甸土、石灰性草甸土、潜育草甸土、盐化草甸土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淡半水成土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砂姜黑土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典型砂姜黑土、石灰性砂姜黑土、盐化砂姜黑土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山地草甸土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典型山地草甸土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70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 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典型潮土、脱潮土、湿潮土、盐化潮土、碱化潮土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矿质水成土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典型沼泽土、泥炭沼泽土、草甸沼泽土、盐化沼泽土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rowSpan="3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盐碱土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典型草甸盐土、碱化盐土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滨海盐土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典型滨海盐土、滨海潮滩盐土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碱土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碱土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草甸碱土、盐化碱土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 rowSpan="3"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8-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人为土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人为水成土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水稻土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潴育水稻土、淹育水稻土、潜育水稻土、盐渍水稻土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灌耕土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灌淤土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典型灌淤土、潮灌淤土、盐化灌淤土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人为工程土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人为土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扰动土、填充土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"/>
        <p:cNvGrpSpPr/>
        <p:nvPr/>
      </p:nvGrpSpPr>
      <p:grpSpPr/>
      <p:sp>
        <p:nvSpPr>
          <p:cNvPr id="1049359" name="标题 1"/>
          <p:cNvSpPr>
            <a:spLocks noGrp="1"/>
          </p:cNvSpPr>
          <p:nvPr>
            <p:ph type="title"/>
          </p:nvPr>
        </p:nvSpPr>
        <p:spPr>
          <a:xfrm>
            <a:off x="1530350" y="412750"/>
            <a:ext cx="9747250" cy="915988"/>
          </a:xfrm>
        </p:spPr>
        <p:txBody>
          <a:bodyPr anchor="ctr" anchorCtr="0"/>
          <a:p>
            <a:pPr defTabSz="914400">
              <a:buNone/>
            </a:pPr>
            <a:r>
              <a:rPr lang="zh-CN" altLang="en-US" kern="1200" baseline="0">
                <a:latin typeface="微软雅黑" panose="020B0503020204020204" charset="-122"/>
                <a:ea typeface="微软雅黑" panose="020B0503020204020204" charset="-122"/>
                <a:cs typeface="+mj-cs"/>
              </a:rPr>
              <a:t>（二）土壤发生分类命名及注意事项</a:t>
            </a:r>
            <a:endParaRPr lang="en-US" altLang="zh-CN" kern="1200" baseline="0"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49360" name="内容占位符 2"/>
          <p:cNvSpPr>
            <a:spLocks noGrp="1"/>
          </p:cNvSpPr>
          <p:nvPr>
            <p:ph idx="1"/>
          </p:nvPr>
        </p:nvSpPr>
        <p:spPr>
          <a:xfrm>
            <a:off x="541655" y="1329055"/>
            <a:ext cx="11231880" cy="1995170"/>
          </a:xfrm>
        </p:spPr>
        <p:txBody>
          <a:bodyPr anchor="t" anchorCtr="0"/>
          <a:p>
            <a:pPr defTabSz="91440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000" kern="1200" baseline="0" dirty="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lang="zh-CN" altLang="en-US" sz="2000" kern="1200" baseline="0" dirty="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、中国现行的土壤分类系统</a:t>
            </a:r>
            <a:r>
              <a:rPr lang="zh-CN" altLang="en-US" sz="2000" kern="1200" baseline="0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采用</a:t>
            </a:r>
            <a:r>
              <a:rPr lang="zh-CN" altLang="en-US" sz="2000" kern="120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连续命名与简名相结合</a:t>
            </a:r>
            <a:r>
              <a:rPr lang="zh-CN" altLang="en-US" sz="2000" kern="1200" baseline="0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的方法。</a:t>
            </a:r>
            <a:endParaRPr lang="zh-CN" altLang="en-US" sz="2000" kern="120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914400">
              <a:lnSpc>
                <a:spcPct val="140000"/>
              </a:lnSpc>
            </a:pPr>
            <a:r>
              <a:rPr lang="zh-CN" altLang="en-US" sz="2000" kern="1200" baseline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县级土壤分类系统（分类体系表）中，</a:t>
            </a:r>
            <a:r>
              <a:rPr lang="zh-CN" altLang="en-US" sz="20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土种分两列：连续命名、简名</a:t>
            </a:r>
            <a:r>
              <a:rPr lang="zh-CN" altLang="en-US" sz="2000" kern="1200" baseline="0">
                <a:latin typeface="微软雅黑" panose="020B0503020204020204" charset="-122"/>
                <a:ea typeface="微软雅黑" panose="020B0503020204020204" charset="-122"/>
                <a:cs typeface="+mn-cs"/>
              </a:rPr>
              <a:t>（参考二普县级群众命名）</a:t>
            </a:r>
            <a:endParaRPr lang="zh-CN" altLang="en-US" sz="2000" kern="1200" baseline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914400">
              <a:lnSpc>
                <a:spcPct val="140000"/>
              </a:lnSpc>
            </a:pPr>
            <a:r>
              <a:rPr lang="zh-CN" altLang="en-US" sz="2000" kern="1200" baseline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命名方法有变化（认真阅读第三次全国土壤普查暂行分类系统（试行版）和河北省土属土种划分依据及命名方法。）</a:t>
            </a:r>
            <a:endParaRPr lang="zh-CN" altLang="en-US" sz="2000" kern="1200" baseline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9361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6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30" y="4889500"/>
            <a:ext cx="10985500" cy="1479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4400" y="3356610"/>
            <a:ext cx="10629265" cy="13379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（注：表层质地命名时，砂土、壤土、黏土需加上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字，如砂质、壤质、黏质；砂壤质、黏壤简化为砂壤、黏壤。质地构型命名时，夹、体、底型，可以省去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字，如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壤夹砂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黏壤底砂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等，均质型与表层质地命名方法一致）</a:t>
            </a:r>
            <a:r>
              <a:rPr lang="zh-CN" altLang="en-US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姜</a:t>
            </a:r>
            <a:r>
              <a:rPr lang="en-US" altLang="zh-CN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lang="zh-CN" altLang="en-US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砂姜</a:t>
            </a:r>
            <a:endParaRPr lang="zh-CN" altLang="en-US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1" name=""/>
        <p:cNvGrpSpPr/>
        <p:nvPr/>
      </p:nvGrpSpPr>
      <p:grpSpPr/>
      <p:sp>
        <p:nvSpPr>
          <p:cNvPr id="104936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67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97285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 l="22925" t="24654" r="26311" b="19551"/>
          <a:stretch>
            <a:fillRect/>
          </a:stretch>
        </p:blipFill>
        <p:spPr bwMode="auto">
          <a:xfrm>
            <a:off x="10699115" y="123825"/>
            <a:ext cx="1019810" cy="101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1340485"/>
            <a:ext cx="11920855" cy="460311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635" y="412115"/>
            <a:ext cx="11590655" cy="224218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901950"/>
            <a:ext cx="11423650" cy="2629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525" y="188595"/>
            <a:ext cx="11809730" cy="18046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2060575"/>
            <a:ext cx="11881485" cy="2374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" y="4608830"/>
            <a:ext cx="11917045" cy="1264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5915" y="332740"/>
            <a:ext cx="11205210" cy="332676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3716655"/>
            <a:ext cx="11266805" cy="2724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7670" y="188595"/>
            <a:ext cx="11674475" cy="38658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72185" y="4606290"/>
            <a:ext cx="1045019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另外，核实栗钙土性土（褐土性土、棕壤性土）中的母质类型为黄土质的，不符合发育规律和命名规则，二元母质土壤，命名按主体命名，</a:t>
            </a:r>
            <a:r>
              <a:rPr lang="en-US" altLang="zh-CN" sz="24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50cm</a:t>
            </a:r>
            <a:r>
              <a:rPr lang="zh-CN" altLang="en-US" sz="24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以上部母质为准。建议改为黄土质淡栗钙土或黄土质栗钙土（通常石灰性不强）</a:t>
            </a:r>
            <a:endParaRPr lang="zh-CN" altLang="en-US" sz="24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4" name=""/>
        <p:cNvGrpSpPr/>
        <p:nvPr/>
      </p:nvGrpSpPr>
      <p:grpSpPr/>
      <p:sp>
        <p:nvSpPr>
          <p:cNvPr id="1049370" name="文本框 99"/>
          <p:cNvSpPr txBox="1"/>
          <p:nvPr/>
        </p:nvSpPr>
        <p:spPr>
          <a:xfrm>
            <a:off x="1256030" y="133985"/>
            <a:ext cx="9160510" cy="5753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algn="ctr"/>
            <a:r>
              <a:rPr lang="zh-CN" b="1">
                <a:solidFill>
                  <a:srgbClr val="1419D8"/>
                </a:solidFill>
                <a:ea typeface="黑体" panose="02010609060101010101" pitchFamily="2" charset="-122"/>
              </a:rPr>
              <a:t>表</a:t>
            </a:r>
            <a:r>
              <a:rPr lang="en-US" b="1">
                <a:solidFill>
                  <a:srgbClr val="1419D8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 </a:t>
            </a:r>
            <a:r>
              <a:rPr lang="zh-CN" b="1">
                <a:solidFill>
                  <a:srgbClr val="1419D8"/>
                </a:solidFill>
                <a:ea typeface="黑体" panose="02010609060101010101" pitchFamily="2" charset="-122"/>
              </a:rPr>
              <a:t>母质及风化壳类型与说明</a:t>
            </a:r>
            <a:endParaRPr lang="zh-CN" altLang="en-US" b="1">
              <a:solidFill>
                <a:srgbClr val="1419D8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4194313" name="表格 5"/>
          <p:cNvGraphicFramePr/>
          <p:nvPr>
            <p:custDataLst>
              <p:tags r:id="rId1"/>
            </p:custDataLst>
          </p:nvPr>
        </p:nvGraphicFramePr>
        <p:xfrm>
          <a:off x="541020" y="422910"/>
          <a:ext cx="10982960" cy="6151880"/>
        </p:xfrm>
        <a:graphic>
          <a:graphicData uri="http://schemas.openxmlformats.org/drawingml/2006/table">
            <a:tbl>
              <a:tblPr/>
              <a:tblGrid>
                <a:gridCol w="1121410"/>
                <a:gridCol w="4528185"/>
                <a:gridCol w="1156970"/>
                <a:gridCol w="4176395"/>
              </a:tblGrid>
              <a:tr h="21336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非水稻土类</a:t>
                      </a:r>
                      <a:r>
                        <a:rPr lang="en-US" sz="1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母质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水稻土</a:t>
                      </a:r>
                      <a:r>
                        <a:rPr lang="en-US" sz="1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类母质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类型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说明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类型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说明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6261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红砂质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指第三纪红砂岩残坡积物母质的土壤；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潮泥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指河流冲积物母质的水稻土；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红泥质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指第四纪红色黏土母质的土壤；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潮泥砂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指洪积物母质的水稻土；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涂砂质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指砂质浅海沉积物母质的土壤；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湖泥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指湖相沉积物母质的水稻土；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泥砂质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指洪冲积物、冰川沉积物母质的土壤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涂泥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指海相沉积物母质的水稻土；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暗泥质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指玄武岩等中/基性岩残坡积物、火山灰（渣）母质的土壤；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淡涂泥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指河口相沉积物母质的水稻土；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2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麻砂质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指花岗岩或花岗片麻岩等酸性岩残坡积物母质的土壤；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涂砂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指砂质浅海沉积物母质的水稻土；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2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砂泥质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指砂页岩、砂岩、砂砾岩等残坡积物母质的土壤；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潮白土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指滨湖相沉积物母质的水稻土；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泥质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指片岩、板岩、千枚岩、页岩等泥质岩残坡积物母质的土壤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麻砂泥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指花岗岩或花岗片麻岩等酸性岩残坡积物母质的水稻土；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硅质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指砂岩、石英岩等硅质岩残坡积物母质的土壤；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砂泥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指砂页岩残坡积物母质的水稻土；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灰泥质</a:t>
                      </a:r>
                      <a:endParaRPr lang="en-US" altLang="en-US" sz="1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指石灰岩、白云岩等碳酸岩类残坡积物母质的土壤；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鳝泥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指泥岩、页岩、千枚岩等泥质岩残坡积物母质的水稻土；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磷灰质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指磷灰岩残坡积物母质的土壤；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灰泥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指石灰岩、大理岩等碳酸岩类残坡积物母质的水稻土；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紫土质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指紫色砂页岩残坡积物母质的土壤；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黄泥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指山丘坡麓与高阶地古老洪冲积物母质的水稻土；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黄土质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指黄土及黄土状堆积物母质的土壤；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马肝泥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第四纪更新世黄土母质、富钙黄色黏土母质发育的水稻土；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21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红土质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指第三纪红色黏土母质的土壤；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指玄武岩等中、基性岩残坡积物母质的水稻土；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风沙质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指风积沙母质的土壤。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白粉泥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指硅质砂页岩残坡积物母质的水稻土</a:t>
                      </a:r>
                      <a:endParaRPr lang="en-US" altLang="en-US" sz="1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93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72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97286" name="图片 6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/>
          <a:srcRect l="22925" t="24654" r="26311" b="19551"/>
          <a:stretch>
            <a:fillRect/>
          </a:stretch>
        </p:blipFill>
        <p:spPr bwMode="auto">
          <a:xfrm>
            <a:off x="11011535" y="0"/>
            <a:ext cx="1019810" cy="1018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/>
      <p:sp>
        <p:nvSpPr>
          <p:cNvPr id="1049373" name="标题 32769"/>
          <p:cNvSpPr>
            <a:spLocks noGrp="1"/>
          </p:cNvSpPr>
          <p:nvPr>
            <p:ph type="title"/>
          </p:nvPr>
        </p:nvSpPr>
        <p:spPr>
          <a:xfrm>
            <a:off x="595630" y="6350"/>
            <a:ext cx="7274560" cy="631190"/>
          </a:xfrm>
        </p:spPr>
        <p:txBody>
          <a:bodyPr anchor="b" anchorCtr="0">
            <a:normAutofit fontScale="90000"/>
          </a:bodyPr>
          <a:p>
            <a:r>
              <a:rPr lang="zh-CN" altLang="en-US" sz="3555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（三）土种划分依据及命名</a:t>
            </a:r>
            <a:endParaRPr lang="zh-CN" altLang="en-US" sz="3555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49374" name="文本占位符 32770"/>
          <p:cNvSpPr>
            <a:spLocks noGrp="1"/>
          </p:cNvSpPr>
          <p:nvPr>
            <p:ph type="body" idx="1"/>
          </p:nvPr>
        </p:nvSpPr>
        <p:spPr>
          <a:xfrm>
            <a:off x="240665" y="637540"/>
            <a:ext cx="3110865" cy="570420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78333"/>
          </a:bodyPr>
          <a:p>
            <a:pPr marL="0" indent="0">
              <a:lnSpc>
                <a:spcPct val="120000"/>
              </a:lnSpc>
              <a:buNone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土种是基层分类单元。它处于相同或相似景观部位，具有相似的土体构型的一群土壤实体。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土种划分要素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包括：土体厚度、腐殖质层厚度、砾质度、障碍土层出现的部位、土体质地构型、盐渍度、碱化度。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49375" name="文本占位符 32770"/>
          <p:cNvSpPr>
            <a:spLocks noGrp="1"/>
          </p:cNvSpPr>
          <p:nvPr/>
        </p:nvSpPr>
        <p:spPr>
          <a:xfrm>
            <a:off x="3715385" y="637540"/>
            <a:ext cx="3545840" cy="5718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、土体厚度</a:t>
            </a:r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是地表到基岩的厚度。山地丘陵区地带性土壤，土体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厚度是土种的重要指标。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丘陵区：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(1)薄土层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&lt;30cm；如薄层麻砂质黄棕壤性土；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(2)中土层：30~60cm；如中层灰泥质黄棕壤；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(3)厚土层：&gt;60cm，如厚层麻砂质黄褐土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937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78" name="文本占位符 32770"/>
          <p:cNvSpPr>
            <a:spLocks noGrp="1"/>
          </p:cNvSpPr>
          <p:nvPr/>
        </p:nvSpPr>
        <p:spPr>
          <a:xfrm>
            <a:off x="7468870" y="569595"/>
            <a:ext cx="4091305" cy="5718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、腐殖质层厚度</a:t>
            </a:r>
            <a:r>
              <a:rPr lang="zh-CN" altLang="en-US" sz="2000" dirty="0">
                <a:ea typeface="隶书" panose="02010509060101010101" pitchFamily="49" charset="-122"/>
              </a:rPr>
              <a:t>指表层土壤腐殖质层厚度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(1)薄腐（薄层腐殖质）：</a:t>
            </a:r>
            <a:r>
              <a:rPr lang="zh-CN" altLang="en-US" sz="2000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&lt;30cm（</a:t>
            </a:r>
            <a:r>
              <a:rPr lang="zh-CN" altLang="en-US" sz="2000" b="1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黑土</a:t>
            </a:r>
            <a:r>
              <a:rPr lang="zh-CN" altLang="en-US" sz="2000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草甸土、灰色森林土</a:t>
            </a:r>
            <a:r>
              <a:rPr lang="zh-CN" altLang="en-US" sz="2000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，或者&lt;20cm（其他土类）；如薄腐黄土质褐土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(2)中腐：30~60cm（</a:t>
            </a:r>
            <a:r>
              <a:rPr lang="zh-CN" altLang="en-US" sz="2000" b="1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黑土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草甸土、灰色森林土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），或者 20~40cm（其他土类）；如中腐灰泥质棕壤；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(3)厚腐（厚层腐殖质）：&gt;60cm（</a:t>
            </a:r>
            <a:r>
              <a:rPr lang="zh-CN" altLang="en-US" sz="2000" b="1" dirty="0">
                <a:solidFill>
                  <a:srgbClr val="171CED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黑土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草甸土等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），或者&gt;40cm（其他土类），如厚腐麻砂质褐土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97287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 l="22925" t="24654" r="26311" b="19551"/>
          <a:stretch>
            <a:fillRect/>
          </a:stretch>
        </p:blipFill>
        <p:spPr bwMode="auto">
          <a:xfrm>
            <a:off x="11336020" y="44450"/>
            <a:ext cx="748030" cy="7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6" name=""/>
        <p:cNvGrpSpPr/>
        <p:nvPr/>
      </p:nvGrpSpPr>
      <p:grpSpPr/>
      <p:sp>
        <p:nvSpPr>
          <p:cNvPr id="1049379" name="标题 32769"/>
          <p:cNvSpPr>
            <a:spLocks noGrp="1"/>
          </p:cNvSpPr>
          <p:nvPr>
            <p:ph type="title"/>
          </p:nvPr>
        </p:nvSpPr>
        <p:spPr>
          <a:xfrm>
            <a:off x="595630" y="6350"/>
            <a:ext cx="7274560" cy="631190"/>
          </a:xfrm>
        </p:spPr>
        <p:txBody>
          <a:bodyPr anchor="b" anchorCtr="0">
            <a:normAutofit/>
          </a:bodyPr>
          <a:p>
            <a:r>
              <a:rPr lang="zh-CN" altLang="en-US" sz="3555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土种划分依据及命名</a:t>
            </a:r>
            <a:endParaRPr lang="zh-CN" altLang="en-US" sz="3555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49380" name="文本占位符 32770"/>
          <p:cNvSpPr>
            <a:spLocks noGrp="1"/>
          </p:cNvSpPr>
          <p:nvPr>
            <p:ph type="body" idx="1"/>
          </p:nvPr>
        </p:nvSpPr>
        <p:spPr>
          <a:xfrm>
            <a:off x="240665" y="637540"/>
            <a:ext cx="3221355" cy="570420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2500"/>
          </a:bodyPr>
          <a:p>
            <a:pPr marL="0" indent="0">
              <a:lnSpc>
                <a:spcPct val="120000"/>
              </a:lnSpc>
              <a:buNone/>
            </a:pPr>
            <a:r>
              <a:rPr lang="en-US" altLang="zh-CN" sz="4000" dirty="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4000" dirty="0"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砾质度</a:t>
            </a:r>
            <a:r>
              <a:rPr lang="zh-CN" altLang="en-US" sz="4000" dirty="0">
                <a:latin typeface="隶书" panose="02010509060101010101" pitchFamily="49" charset="-122"/>
                <a:ea typeface="隶书" panose="02010509060101010101" pitchFamily="49" charset="-122"/>
              </a:rPr>
              <a:t>：在不同岩石风化物的残坡积物和洪积物上发育，土体中经常含有砾石的土壤考虑以砾质度作为土种划分指标之一。</a:t>
            </a:r>
            <a:endParaRPr lang="zh-CN" altLang="en-US" sz="40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4000" dirty="0">
                <a:latin typeface="隶书" panose="02010509060101010101" pitchFamily="49" charset="-122"/>
                <a:ea typeface="隶书" panose="02010509060101010101" pitchFamily="49" charset="-122"/>
              </a:rPr>
              <a:t>按</a:t>
            </a: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土体中&gt;2mm 的砾石含量(体积％)分为：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(1)轻砾&lt;15％；如轻砾薄层麻砂质褐土性土；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(2)重砾 15~50％；如重砾薄层麻砂质褐土性土；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(3)粗骨</a:t>
            </a:r>
            <a:r>
              <a:rPr lang="zh-CN" altLang="en-US" sz="4000" dirty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≥</a:t>
            </a: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50％，如粗骨麻砂质褐土性土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9381" name="文本占位符 32770"/>
          <p:cNvSpPr>
            <a:spLocks noGrp="1"/>
          </p:cNvSpPr>
          <p:nvPr/>
        </p:nvSpPr>
        <p:spPr>
          <a:xfrm>
            <a:off x="3715385" y="637540"/>
            <a:ext cx="3545840" cy="5718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、障碍土层的部位</a:t>
            </a:r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是</a:t>
            </a:r>
            <a:r>
              <a:rPr lang="zh-CN" altLang="en-US" sz="2000" dirty="0">
                <a:ea typeface="隶书" panose="02010509060101010101" pitchFamily="49" charset="-122"/>
              </a:rPr>
              <a:t>指 0~100cm 土体内对根系穿插、土壤水分运移或耕作等形成阻碍的层次，包括黏磐层、盐磐层、石膏磐层、铁磐层、钙磐层，厚度</a:t>
            </a:r>
            <a:r>
              <a:rPr lang="en-US" altLang="zh-CN" sz="2000" dirty="0">
                <a:ea typeface="隶书" panose="02010509060101010101" pitchFamily="49" charset="-122"/>
              </a:rPr>
              <a:t>≧10cm </a:t>
            </a:r>
            <a:r>
              <a:rPr lang="zh-CN" altLang="en-US" sz="2000" dirty="0">
                <a:ea typeface="隶书" panose="02010509060101010101" pitchFamily="49" charset="-122"/>
              </a:rPr>
              <a:t>的砾</a:t>
            </a:r>
            <a:r>
              <a:rPr lang="en-US" altLang="zh-CN" sz="2000" dirty="0">
                <a:ea typeface="隶书" panose="02010509060101010101" pitchFamily="49" charset="-122"/>
              </a:rPr>
              <a:t>[</a:t>
            </a:r>
            <a:r>
              <a:rPr lang="zh-CN" altLang="en-US" sz="2000" dirty="0">
                <a:ea typeface="隶书" panose="02010509060101010101" pitchFamily="49" charset="-122"/>
              </a:rPr>
              <a:t>砂</a:t>
            </a:r>
            <a:r>
              <a:rPr lang="en-US" altLang="zh-CN" sz="2000" dirty="0">
                <a:ea typeface="隶书" panose="02010509060101010101" pitchFamily="49" charset="-122"/>
              </a:rPr>
              <a:t>]</a:t>
            </a:r>
            <a:r>
              <a:rPr lang="zh-CN" altLang="en-US" sz="2000" dirty="0">
                <a:ea typeface="隶书" panose="02010509060101010101" pitchFamily="49" charset="-122"/>
              </a:rPr>
              <a:t>层、潜育层（表潜除外）。</a:t>
            </a:r>
            <a:r>
              <a:rPr lang="zh-CN" altLang="en-US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浅位：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黏磐层、盐磐层、石膏磐层、砾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[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、铁磐层、钙磐层、泥炭层、漂洗层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白浆层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白土层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出现在地表向下 30cm 以内的；其他障碍层次出现在地表向下 50cm 以内。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深位：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在地表向下 30cm 以下的；其他障碍层次出现在地表向下 50cm 以下的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93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84" name="文本占位符 32770"/>
          <p:cNvSpPr>
            <a:spLocks noGrp="1"/>
          </p:cNvSpPr>
          <p:nvPr/>
        </p:nvSpPr>
        <p:spPr>
          <a:xfrm>
            <a:off x="7625080" y="569595"/>
            <a:ext cx="4138930" cy="57613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、表层质地与土体质地构型</a:t>
            </a:r>
            <a:r>
              <a:rPr lang="zh-CN" altLang="en-US" sz="2000" dirty="0">
                <a:ea typeface="隶书" panose="02010509060101010101" pitchFamily="49" charset="-122"/>
              </a:rPr>
              <a:t>平原冲积或洪冲积土壤，按100cm 土体质地差异划分的不同土种。</a:t>
            </a:r>
            <a:endParaRPr lang="zh-CN" altLang="en-US" sz="2000" dirty="0">
              <a:ea typeface="隶书" panose="02010509060101010101" pitchFamily="49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表层0~20cm的土壤质地以及100cm土体质地层次排列可划分为</a:t>
            </a:r>
            <a:r>
              <a:rPr lang="zh-CN" altLang="en-US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均质型、夹层型、体型、底型四种构型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(1)均质型指 100cm 土体为同一质地类型；用“均 xx”表示，如均砂壤质脱潮土；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(2)表土质地+夹层型，指土体 30~50cm 处夹有&gt;20cm 厚的另一质地类型；用“xx 夹 xx”表示，如壤质夹黏石灰性潮土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夹、体、底后面的质地为相对名称，比上层质地更轻，为夹砂，质地更黏重，则为底黏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97288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 l="22925" t="24654" r="26311" b="19551"/>
          <a:stretch>
            <a:fillRect/>
          </a:stretch>
        </p:blipFill>
        <p:spPr bwMode="auto">
          <a:xfrm>
            <a:off x="11233150" y="0"/>
            <a:ext cx="958850" cy="95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7" name=""/>
        <p:cNvGrpSpPr/>
        <p:nvPr/>
      </p:nvGrpSpPr>
      <p:grpSpPr/>
      <p:sp>
        <p:nvSpPr>
          <p:cNvPr id="1049385" name="标题 32769"/>
          <p:cNvSpPr>
            <a:spLocks noGrp="1"/>
          </p:cNvSpPr>
          <p:nvPr>
            <p:ph type="title"/>
          </p:nvPr>
        </p:nvSpPr>
        <p:spPr>
          <a:xfrm>
            <a:off x="595630" y="6350"/>
            <a:ext cx="7274560" cy="631190"/>
          </a:xfrm>
        </p:spPr>
        <p:txBody>
          <a:bodyPr anchor="b" anchorCtr="0">
            <a:normAutofit/>
          </a:bodyPr>
          <a:p>
            <a:r>
              <a:rPr lang="zh-CN" altLang="en-US" sz="3555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土种划分依据及命名</a:t>
            </a:r>
            <a:endParaRPr lang="zh-CN" altLang="en-US" sz="3555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49386" name="文本占位符 32770"/>
          <p:cNvSpPr>
            <a:spLocks noGrp="1"/>
          </p:cNvSpPr>
          <p:nvPr>
            <p:ph type="body" idx="1"/>
          </p:nvPr>
        </p:nvSpPr>
        <p:spPr>
          <a:xfrm>
            <a:off x="202565" y="637540"/>
            <a:ext cx="3641725" cy="570420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2500"/>
          </a:bodyPr>
          <a:p>
            <a:pPr marL="0" indent="0" fontAlgn="auto">
              <a:lnSpc>
                <a:spcPct val="90000"/>
              </a:lnSpc>
              <a:spcBef>
                <a:spcPts val="400"/>
              </a:spcBef>
              <a:buNone/>
            </a:pPr>
            <a:r>
              <a:rPr lang="en-US" altLang="zh-CN" sz="4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5</a:t>
            </a:r>
            <a:r>
              <a:rPr lang="zh-CN" altLang="en-US" sz="4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、表层质地与土体质地构型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90000"/>
              </a:lnSpc>
              <a:spcBef>
                <a:spcPts val="400"/>
              </a:spcBef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(3)表层土壤质地+身型，指 30~100cm 为不同于其上部土壤质地的另一质地类型；用“体xx”表示，如黏壤质体砂草甸土；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90000"/>
              </a:lnSpc>
              <a:spcBef>
                <a:spcPts val="400"/>
              </a:spcBef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(4)表层土壤质地+底型，指 60cm 以下为另一质地类型；用“底 xx”表示，如黏壤质底砂草甸土。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90000"/>
              </a:lnSpc>
              <a:spcBef>
                <a:spcPts val="400"/>
              </a:spcBef>
              <a:buNone/>
            </a:pPr>
            <a:r>
              <a:rPr lang="zh-CN" altLang="en-US" sz="4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国际制采用国标 5 个质地分级</a:t>
            </a: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划分，即：砂质、砂壤质、壤质、黏壤质、黏质。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90000"/>
              </a:lnSpc>
              <a:spcBef>
                <a:spcPts val="400"/>
              </a:spcBef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土体质地构型中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质地类型差异指上下层质地类型差异相差两个级别以上</a:t>
            </a:r>
            <a:r>
              <a:rPr lang="zh-CN" altLang="en-US" sz="4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，如砂质与壤质或更黏、砂壤质与黏壤质或更黏；如果只相差一个级别，则按均质处理。</a:t>
            </a:r>
            <a:endParaRPr lang="zh-CN" altLang="en-US" sz="4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938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8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389" name="文本占位符 32770"/>
          <p:cNvSpPr>
            <a:spLocks noGrp="1"/>
          </p:cNvSpPr>
          <p:nvPr/>
        </p:nvSpPr>
        <p:spPr>
          <a:xfrm>
            <a:off x="4019550" y="637540"/>
            <a:ext cx="4665345" cy="5718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600" b="1" dirty="0">
                <a:solidFill>
                  <a:srgbClr val="1419D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600" b="1" dirty="0">
                <a:solidFill>
                  <a:srgbClr val="1419D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、盐渍度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是各个盐土土类和盐化亚类采用，需测试化验后进行划分。不同地区的划分指标如下：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（一）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滨海地区按 100cm 土体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盐分含量划分：(1)轻盐化 1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g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kg；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中盐化 2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kg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(3)重盐化 4~6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kg；(4)滨海盐土&gt;6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kg。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zh-CN" altLang="en-US" sz="1600" b="1" dirty="0">
                <a:solidFill>
                  <a:srgbClr val="1419D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半湿润地区按地表 0-20cm 土层的盐分含量划分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：（1）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以氯化物为主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的盐渍土壤 Cl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SO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+HCO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，Cl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轻盐化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kg；中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4-6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kg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kg；氯化物盐土&gt;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（2）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以硫酸盐为主的盐渍土壤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+Cl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&gt;CO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+HCO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，SO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&gt; Cl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；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轻盐化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3-5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kg；中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5-7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kg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kg；硫酸盐盐土&gt;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（3）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以苏打为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主的盐渍土壤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+HCO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&gt;Cl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 SO</a:t>
            </a:r>
            <a:r>
              <a:rPr lang="zh-CN" altLang="en-US" sz="1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轻度苏打盐化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kg；中度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kg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重度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kg；苏打盐土&gt;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g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kg。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9390" name="文本占位符 32770"/>
          <p:cNvSpPr>
            <a:spLocks noGrp="1"/>
          </p:cNvSpPr>
          <p:nvPr/>
        </p:nvSpPr>
        <p:spPr>
          <a:xfrm>
            <a:off x="8860790" y="637540"/>
            <a:ext cx="3211195" cy="5718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7</a:t>
            </a:r>
            <a:r>
              <a:rPr lang="zh-CN" altLang="en-US" sz="2000" b="1" dirty="0">
                <a:solidFill>
                  <a:srgbClr val="1419D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zh-CN" altLang="en-US" sz="2000" b="1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碱化度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按土壤交换性钠占阳离子交换量的百分比（碱化度）划分不同土种。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碱化亚类土壤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根据 0-20cm 土层碱化度划分（1）轻度碱化：碱化度 5%~1</a:t>
            </a:r>
            <a:r>
              <a:rPr 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；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（2）中度碱化 1</a:t>
            </a:r>
            <a:r>
              <a:rPr 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%~</a:t>
            </a:r>
            <a:r>
              <a:rPr 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30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；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（3）强度碱化 </a:t>
            </a:r>
            <a:r>
              <a:rPr 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30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%~</a:t>
            </a:r>
            <a:r>
              <a:rPr 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45</a:t>
            </a:r>
            <a:r>
              <a:rPr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pH≧8.5</a:t>
            </a:r>
            <a:endParaRPr lang="en-US" altLang="zh-CN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（二）</a:t>
            </a:r>
            <a:r>
              <a:rPr lang="zh-CN" altLang="en-US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碱土依碱化层（碱化度</a:t>
            </a:r>
            <a:r>
              <a:rPr lang="zh-CN" altLang="en-US" sz="2000" dirty="0">
                <a:solidFill>
                  <a:srgbClr val="1419D8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≧</a:t>
            </a:r>
            <a:r>
              <a:rPr lang="en-US" altLang="zh-CN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45</a:t>
            </a:r>
            <a:r>
              <a:rPr lang="zh-CN" altLang="en-US" sz="2000" dirty="0">
                <a:solidFill>
                  <a:srgbClr val="1419D8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%）部位划分土种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：①浅位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碱化层在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0~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cm；②中位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碱化层在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30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cm；</a:t>
            </a:r>
            <a:endParaRPr lang="zh-CN" altLang="en-US" sz="2000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③深位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碱化层在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cm</a:t>
            </a: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以下的土层。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pH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≧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9.0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097289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 l="22925" t="24654" r="26311" b="19551"/>
          <a:stretch>
            <a:fillRect/>
          </a:stretch>
        </p:blipFill>
        <p:spPr bwMode="auto">
          <a:xfrm>
            <a:off x="11165840" y="0"/>
            <a:ext cx="786130" cy="785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5" name=""/>
        <p:cNvGrpSpPr/>
        <p:nvPr/>
      </p:nvGrpSpPr>
      <p:grpSpPr/>
      <p:sp>
        <p:nvSpPr>
          <p:cNvPr id="1049425" name="文本框 21511"/>
          <p:cNvSpPr txBox="1"/>
          <p:nvPr/>
        </p:nvSpPr>
        <p:spPr>
          <a:xfrm>
            <a:off x="2309495" y="764540"/>
            <a:ext cx="6986905" cy="460375"/>
          </a:xfrm>
          <a:prstGeom prst="rect">
            <a:avLst/>
          </a:prstGeom>
          <a:noFill/>
          <a:ln w="28575" cap="flat" cmpd="sng">
            <a:solidFill>
              <a:srgbClr val="D6009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（一）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土壤类型制图问题</a:t>
            </a:r>
            <a:endParaRPr lang="zh-CN" altLang="en-US" sz="24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49427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428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29663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1268730"/>
            <a:ext cx="6781800" cy="14287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2996565"/>
            <a:ext cx="7251700" cy="2171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0" y="5156835"/>
            <a:ext cx="7232650" cy="1657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47850" y="122555"/>
            <a:ext cx="8912860" cy="490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 defTabSz="91440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3200" b="1" dirty="0">
                <a:solidFill>
                  <a:srgbClr val="2513D3"/>
                </a:solidFill>
                <a:latin typeface="华文新魏" panose="02010800040101010101" pitchFamily="2" charset="-122"/>
                <a:ea typeface="黑体" panose="02010609060101010101" pitchFamily="2" charset="-122"/>
                <a:sym typeface="宋体" panose="02010600030101010101" pitchFamily="2" charset="-122"/>
              </a:rPr>
              <a:t>二、国家中期抽核反馈问题及修改技术要求</a:t>
            </a:r>
            <a:endParaRPr lang="zh-CN" altLang="zh-CN" sz="3200" b="1" dirty="0">
              <a:solidFill>
                <a:srgbClr val="2513D3"/>
              </a:solidFill>
              <a:latin typeface="华文新魏" panose="02010800040101010101" pitchFamily="2" charset="-122"/>
              <a:ea typeface="黑体" panose="0201060906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承德某县纸质图与矢量图配准校核不到位-缺二普矢量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116205"/>
            <a:ext cx="9065895" cy="56464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43885" y="5948680"/>
            <a:ext cx="7701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承德某县纸质图与矢量图配准校核不到位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缺二普矢量图</a:t>
            </a:r>
            <a:endParaRPr lang="zh-CN" altLang="en-US" sz="2000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河边草甸土按高程等高线刻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0" y="260350"/>
            <a:ext cx="8303260" cy="58877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60685" y="548640"/>
            <a:ext cx="65468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河边草甸土按高程等高线须精细刻画</a:t>
            </a:r>
            <a:endParaRPr lang="zh-CN" altLang="en-US" sz="2000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宽城三普图斑与DEM较一致-存在较大图斑地形起伏-与二剖矢量-纸质图不匹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895" y="116205"/>
            <a:ext cx="7957185" cy="6088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 flipH="1">
            <a:off x="10560685" y="476250"/>
            <a:ext cx="127444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60000"/>
              </a:lnSpc>
            </a:pP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山区县三普图斑与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较一致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存在较大图斑地形起伏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与二剖矢量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纸质图不匹配</a:t>
            </a:r>
            <a:endParaRPr lang="zh-CN" altLang="en-US" sz="2000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裸岩-石质土与DEM不一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0" y="260350"/>
            <a:ext cx="8065770" cy="6381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04195" y="404495"/>
            <a:ext cx="115506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裸岩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石质土与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不一致；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野外校核景观照片可看出裸岩与坡面土壤有差异</a:t>
            </a:r>
            <a:endParaRPr lang="zh-CN" altLang="en-US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山区石质土或粗骨土或性土图斑较大-高程起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188595"/>
            <a:ext cx="9570085" cy="5591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43885" y="58769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山区石质土或粗骨土或性土图斑较大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高程起伏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深位湖积草甸土与高分-等高线不匹配-周边黄土质栗褐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260350"/>
            <a:ext cx="8463915" cy="6315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04195" y="1124585"/>
            <a:ext cx="100711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二普深位湖积草甸土与高分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等高线不匹配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黄土质栗褐土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威县三剖与二普构型相近-与校核点不一致-上下两部分与二剖有一致的区域可分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188595"/>
            <a:ext cx="8571865" cy="61709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88295" y="1017270"/>
            <a:ext cx="128460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平原县三剖与二普构型相近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FD5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与校核点不一致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上下两部分与</a:t>
            </a:r>
            <a:r>
              <a:rPr lang="zh-CN" altLang="en-US" sz="2000" b="1">
                <a:solidFill>
                  <a:srgbClr val="FD5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二剖有一致的区域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可分割</a:t>
            </a:r>
            <a:endParaRPr lang="zh-CN" altLang="en-US" sz="2000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4" name="图片 3" descr="邢台威县风沙土半固定-固定-耕作转为脱潮土或典型潮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6425" y="0"/>
            <a:ext cx="8347710" cy="67468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88295" y="400685"/>
            <a:ext cx="1402715" cy="5846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平原县风沙土半固定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长期耕作转</a:t>
            </a:r>
            <a:r>
              <a:rPr lang="zh-CN" altLang="en-US" sz="2000" b="1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为脱潮土或典型潮土；林地、闲散草地可保留固定草甸风沙土</a:t>
            </a:r>
            <a:endParaRPr lang="zh-CN" altLang="en-US" sz="2000" b="1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3705" y="188595"/>
            <a:ext cx="8504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推测制图中环境变量选择，模型精度及应用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0" y="984885"/>
            <a:ext cx="7269480" cy="17240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59560" y="2708910"/>
            <a:ext cx="1038669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注意：（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）山区地形起伏，降水和温度有局部差异，可在降尺度、高精度数据条件下选用；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）遥感数据可多挖掘，如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EVI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等植被相关参数；平原区可选择地下水数据，推测效果低，可少量应用；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）部分土壤类型可不参与推测制图，如水稻土、人工土、灌淤土、沼泽土（图斑少面积小）等；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）推测结果应用：须结合高分影像、野外校核景观照片、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DEM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、等高线、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NDVI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EVI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，以及二普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三普土壤类型信息等进行确定，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并形成应用的原则依据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3705" y="188595"/>
            <a:ext cx="8504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（二）土壤类型与制图技术报告问题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9560" y="3356610"/>
            <a:ext cx="10386695" cy="15684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注意：（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）补充二普分类系统（在历史沿革部分，列完分类依据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重点是土属、土种依据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后，形成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二普分类系统表，明确土类亚类土属土种数量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完善二普</a:t>
            </a:r>
            <a:r>
              <a:rPr lang="en-US" altLang="zh-CN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>
                <a:solidFill>
                  <a:srgbClr val="171CED"/>
                </a:solidFill>
                <a:latin typeface="微软雅黑" panose="020B0503020204020204" charset="-122"/>
                <a:ea typeface="微软雅黑" panose="020B0503020204020204" charset="-122"/>
              </a:rPr>
              <a:t>三普分类对应关系；从土类亚类、土属、土种三级汇总表中进行分析描述</a:t>
            </a:r>
            <a:endParaRPr lang="zh-CN" altLang="en-US" sz="2000">
              <a:solidFill>
                <a:srgbClr val="171C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805" y="764540"/>
            <a:ext cx="7391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59560" y="874395"/>
          <a:ext cx="10116185" cy="2863850"/>
        </p:xfrm>
        <a:graphic>
          <a:graphicData uri="http://schemas.openxmlformats.org/drawingml/2006/table">
            <a:tbl>
              <a:tblPr/>
              <a:tblGrid>
                <a:gridCol w="1170940"/>
                <a:gridCol w="1949450"/>
                <a:gridCol w="2717165"/>
                <a:gridCol w="1950085"/>
                <a:gridCol w="2328545"/>
              </a:tblGrid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二普土类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二普亚类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三普土类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三普亚类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潮土化褐土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褐土性土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褐土性土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盐化潮土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盐化潮土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湿潮土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沼泽化草甸土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潜育草甸土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5720" y="44450"/>
            <a:ext cx="12031980" cy="829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pPr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2.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3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二普与三普土类、亚类分类对应一览表；土种对应时，若划分依据有变化，如土体中层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30-80cm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，对应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30-60cm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时，须一对多分列。</a:t>
            </a:r>
            <a:endParaRPr lang="zh-CN" altLang="en-US" sz="2400">
              <a:solidFill>
                <a:srgbClr val="FF0000"/>
              </a:solidFill>
              <a:latin typeface="Times New Roman" panose="02020603050405020304"/>
              <a:ea typeface="黑体" panose="02010609060101010101" pitchFamily="2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631950" y="3572510"/>
          <a:ext cx="10093960" cy="3041650"/>
        </p:xfrm>
        <a:graphic>
          <a:graphicData uri="http://schemas.openxmlformats.org/drawingml/2006/table">
            <a:tbl>
              <a:tblPr/>
              <a:tblGrid>
                <a:gridCol w="949325"/>
                <a:gridCol w="1581785"/>
                <a:gridCol w="2203450"/>
                <a:gridCol w="1581785"/>
                <a:gridCol w="1889125"/>
                <a:gridCol w="1888490"/>
              </a:tblGrid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二普土类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二普亚类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三普土类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三普亚类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潮土化褐土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潮褐土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褐土性土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褐土性土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盐化潮土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</a:t>
                      </a:r>
                      <a:r>
                        <a:rPr lang="zh-CN" sz="20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潮土</a:t>
                      </a:r>
                      <a:endParaRPr lang="zh-CN" sz="20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脱盐变化</a:t>
                      </a:r>
                      <a:endParaRPr lang="zh-CN" sz="20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沼泽化潮土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湿潮土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沼泽化草甸土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潜育草甸土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风沙土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草甸风沙土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沼泽土</a:t>
                      </a:r>
                      <a:endParaRPr lang="zh-CN" sz="20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湿潮土</a:t>
                      </a:r>
                      <a:endParaRPr lang="zh-CN" sz="20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脱潜变化</a:t>
                      </a:r>
                      <a:endParaRPr lang="zh-CN" sz="20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35505" y="116205"/>
            <a:ext cx="870140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2.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4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/>
                <a:ea typeface="黑体" panose="02010609060101010101" pitchFamily="2" charset="-122"/>
              </a:rPr>
              <a:t>二普与三普土属分类对应一览表</a:t>
            </a:r>
            <a:endParaRPr lang="zh-CN" altLang="en-US" sz="2400">
              <a:solidFill>
                <a:srgbClr val="FF0000"/>
              </a:solidFill>
              <a:latin typeface="Times New Roman" panose="02020603050405020304"/>
              <a:ea typeface="黑体" panose="02010609060101010101" pitchFamily="2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7307" y="661035"/>
          <a:ext cx="5409565" cy="5824220"/>
        </p:xfrm>
        <a:graphic>
          <a:graphicData uri="http://schemas.openxmlformats.org/drawingml/2006/table">
            <a:tbl>
              <a:tblPr/>
              <a:tblGrid>
                <a:gridCol w="620395"/>
                <a:gridCol w="3190875"/>
                <a:gridCol w="1598295"/>
              </a:tblGrid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二普土属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三普土属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砂壤质洪积冲积物潮土化褐土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泥砂质潮褐土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壤质洪积冲积物潮土化褐土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泥砂质潮褐土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砂壤质褐土性土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泥砂质褐土性土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26670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砂质石灰性潮土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砂壤质冲积物潮土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壤质冲积物潮土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壤质石灰性潮土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粘质冲积物潮土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壤质石灰性潮土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黏质石灰性潮土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壤质冲积物硫酸盐氯化物盐化潮土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硫酸盐盐化潮土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粘质沉积物沼泽化潮土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黏质湿潮土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砂壤质冲积物沼泽化草甸土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26670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砂质潜育草甸土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砂质冲积物沼泽化草甸土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风积物风沙土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固定草甸风沙土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782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典型沼泽土</a:t>
                      </a:r>
                      <a:endParaRPr lang="zh-CN" sz="18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664200" y="567690"/>
          <a:ext cx="6446520" cy="7225665"/>
        </p:xfrm>
        <a:graphic>
          <a:graphicData uri="http://schemas.openxmlformats.org/drawingml/2006/table">
            <a:tbl>
              <a:tblPr/>
              <a:tblGrid>
                <a:gridCol w="570230"/>
                <a:gridCol w="2936240"/>
                <a:gridCol w="1470025"/>
                <a:gridCol w="1470025"/>
              </a:tblGrid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二普土属</a:t>
                      </a:r>
                      <a:endParaRPr lang="zh-CN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三普土属</a:t>
                      </a:r>
                      <a:endParaRPr lang="zh-CN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sz="1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砂壤质洪积冲积物潮土化褐土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泥砂质潮褐土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73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壤质洪积冲积物潮土化褐土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泥砂质潮褐土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砂壤质褐土性土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泥砂质褐土性土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74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砂质石灰性潮土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砂壤质冲积物潮土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26670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壤质冲积物潮土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壤质石灰性潮土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粘质冲积物潮土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壤质石灰性潮土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土壤性状变化</a:t>
                      </a:r>
                      <a:endParaRPr lang="zh-CN" sz="14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黏质石灰性潮土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壤质冲积物硫酸盐氯化物盐化潮土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硫酸盐盐化潮土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73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壤质石灰性潮土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土壤性状变化</a:t>
                      </a:r>
                      <a:endParaRPr lang="zh-CN" sz="14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粘质沉积物沼泽化潮土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黏质湿潮土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74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砂壤质冲积物沼泽化草甸土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marL="0" indent="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砂质潜育草甸土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砂质冲积物沼泽化草甸土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26670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风积物风沙土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固定草甸风沙土</a:t>
                      </a:r>
                      <a:endParaRPr lang="zh-CN" sz="14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i="0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b="1" i="0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砂质冲积物沼泽土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典型沼泽土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命名规则改变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525" y="116205"/>
            <a:ext cx="5762625" cy="70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 defTabSz="266700"/>
            <a:r>
              <a:rPr lang="en-US" altLang="zh-CN" sz="2000" b="1">
                <a:latin typeface="Times New Roman" panose="02020603050405020304"/>
                <a:ea typeface="Times New Roman" panose="02020603050405020304"/>
              </a:rPr>
              <a:t>3.</a:t>
            </a: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宜进一步梳理分析土壤类型的变化，不宜只说引起变化的原因，应补充土壤类型的具体变化结果；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685" y="116205"/>
            <a:ext cx="5583555" cy="7067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 defTabSz="266700"/>
            <a:r>
              <a:rPr lang="en-US" altLang="zh-CN" sz="2000" b="1">
                <a:latin typeface="Times New Roman" panose="02020603050405020304"/>
                <a:ea typeface="Times New Roman" panose="02020603050405020304"/>
              </a:rPr>
              <a:t>3.</a:t>
            </a:r>
            <a:r>
              <a:rPr lang="zh-CN" altLang="en-US" sz="2000" b="1">
                <a:latin typeface="Times New Roman" panose="02020603050405020304"/>
                <a:ea typeface="宋体" panose="02010600030101010101" pitchFamily="2" charset="-122"/>
              </a:rPr>
              <a:t>宜进一步分析土壤类型的变化，说明变化原因，变化应具有合理性（如草甸盐土转变为栗钙土等）</a:t>
            </a:r>
            <a:endParaRPr lang="zh-CN" altLang="en-US" sz="20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" y="836295"/>
            <a:ext cx="9534525" cy="5808345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>
            <a:off x="7935595" y="4483100"/>
            <a:ext cx="1238885" cy="1658620"/>
          </a:xfrm>
          <a:custGeom>
            <a:avLst/>
            <a:gdLst>
              <a:gd name="connisteX0" fmla="*/ 151835 w 1239026"/>
              <a:gd name="connsiteY0" fmla="*/ 1635459 h 1658319"/>
              <a:gd name="connisteX1" fmla="*/ 221050 w 1239026"/>
              <a:gd name="connsiteY1" fmla="*/ 1635459 h 1658319"/>
              <a:gd name="connisteX2" fmla="*/ 290265 w 1239026"/>
              <a:gd name="connsiteY2" fmla="*/ 1635459 h 1658319"/>
              <a:gd name="connisteX3" fmla="*/ 359480 w 1239026"/>
              <a:gd name="connsiteY3" fmla="*/ 1635459 h 1658319"/>
              <a:gd name="connisteX4" fmla="*/ 428695 w 1239026"/>
              <a:gd name="connsiteY4" fmla="*/ 1646889 h 1658319"/>
              <a:gd name="connisteX5" fmla="*/ 497910 w 1239026"/>
              <a:gd name="connsiteY5" fmla="*/ 1646889 h 1658319"/>
              <a:gd name="connisteX6" fmla="*/ 567125 w 1239026"/>
              <a:gd name="connsiteY6" fmla="*/ 1646889 h 1658319"/>
              <a:gd name="connisteX7" fmla="*/ 636975 w 1239026"/>
              <a:gd name="connsiteY7" fmla="*/ 1658319 h 1658319"/>
              <a:gd name="connisteX8" fmla="*/ 706190 w 1239026"/>
              <a:gd name="connsiteY8" fmla="*/ 1646889 h 1658319"/>
              <a:gd name="connisteX9" fmla="*/ 775405 w 1239026"/>
              <a:gd name="connsiteY9" fmla="*/ 1635459 h 1658319"/>
              <a:gd name="connisteX10" fmla="*/ 844620 w 1239026"/>
              <a:gd name="connsiteY10" fmla="*/ 1623394 h 1658319"/>
              <a:gd name="connisteX11" fmla="*/ 913835 w 1239026"/>
              <a:gd name="connsiteY11" fmla="*/ 1623394 h 1658319"/>
              <a:gd name="connisteX12" fmla="*/ 994480 w 1239026"/>
              <a:gd name="connsiteY12" fmla="*/ 1611964 h 1658319"/>
              <a:gd name="connisteX13" fmla="*/ 1075125 w 1239026"/>
              <a:gd name="connsiteY13" fmla="*/ 1589104 h 1658319"/>
              <a:gd name="connisteX14" fmla="*/ 1144975 w 1239026"/>
              <a:gd name="connsiteY14" fmla="*/ 1519889 h 1658319"/>
              <a:gd name="connisteX15" fmla="*/ 1179265 w 1239026"/>
              <a:gd name="connsiteY15" fmla="*/ 1450674 h 1658319"/>
              <a:gd name="connisteX16" fmla="*/ 1190695 w 1239026"/>
              <a:gd name="connsiteY16" fmla="*/ 1381459 h 1658319"/>
              <a:gd name="connisteX17" fmla="*/ 1190695 w 1239026"/>
              <a:gd name="connsiteY17" fmla="*/ 1311609 h 1658319"/>
              <a:gd name="connisteX18" fmla="*/ 1190695 w 1239026"/>
              <a:gd name="connsiteY18" fmla="*/ 1242394 h 1658319"/>
              <a:gd name="connisteX19" fmla="*/ 1190695 w 1239026"/>
              <a:gd name="connsiteY19" fmla="*/ 1173179 h 1658319"/>
              <a:gd name="connisteX20" fmla="*/ 1190695 w 1239026"/>
              <a:gd name="connsiteY20" fmla="*/ 1103964 h 1658319"/>
              <a:gd name="connisteX21" fmla="*/ 1190695 w 1239026"/>
              <a:gd name="connsiteY21" fmla="*/ 1023319 h 1658319"/>
              <a:gd name="connisteX22" fmla="*/ 1202125 w 1239026"/>
              <a:gd name="connsiteY22" fmla="*/ 942674 h 1658319"/>
              <a:gd name="connisteX23" fmla="*/ 1214190 w 1239026"/>
              <a:gd name="connsiteY23" fmla="*/ 873459 h 1658319"/>
              <a:gd name="connisteX24" fmla="*/ 1237050 w 1239026"/>
              <a:gd name="connsiteY24" fmla="*/ 803609 h 1658319"/>
              <a:gd name="connisteX25" fmla="*/ 1237050 w 1239026"/>
              <a:gd name="connsiteY25" fmla="*/ 722964 h 1658319"/>
              <a:gd name="connisteX26" fmla="*/ 1237050 w 1239026"/>
              <a:gd name="connsiteY26" fmla="*/ 653749 h 1658319"/>
              <a:gd name="connisteX27" fmla="*/ 1237050 w 1239026"/>
              <a:gd name="connsiteY27" fmla="*/ 584534 h 1658319"/>
              <a:gd name="connisteX28" fmla="*/ 1237050 w 1239026"/>
              <a:gd name="connsiteY28" fmla="*/ 503889 h 1658319"/>
              <a:gd name="connisteX29" fmla="*/ 1225620 w 1239026"/>
              <a:gd name="connsiteY29" fmla="*/ 434674 h 1658319"/>
              <a:gd name="connisteX30" fmla="*/ 1225620 w 1239026"/>
              <a:gd name="connsiteY30" fmla="*/ 365459 h 1658319"/>
              <a:gd name="connisteX31" fmla="*/ 1156405 w 1239026"/>
              <a:gd name="connsiteY31" fmla="*/ 307674 h 1658319"/>
              <a:gd name="connisteX32" fmla="*/ 1063695 w 1239026"/>
              <a:gd name="connsiteY32" fmla="*/ 272749 h 1658319"/>
              <a:gd name="connisteX33" fmla="*/ 994480 w 1239026"/>
              <a:gd name="connsiteY33" fmla="*/ 272749 h 1658319"/>
              <a:gd name="connisteX34" fmla="*/ 902405 w 1239026"/>
              <a:gd name="connsiteY34" fmla="*/ 238459 h 1658319"/>
              <a:gd name="connisteX35" fmla="*/ 763975 w 1239026"/>
              <a:gd name="connsiteY35" fmla="*/ 168609 h 1658319"/>
              <a:gd name="connisteX36" fmla="*/ 624910 w 1239026"/>
              <a:gd name="connsiteY36" fmla="*/ 111459 h 1658319"/>
              <a:gd name="connisteX37" fmla="*/ 555695 w 1239026"/>
              <a:gd name="connsiteY37" fmla="*/ 76534 h 1658319"/>
              <a:gd name="connisteX38" fmla="*/ 440125 w 1239026"/>
              <a:gd name="connsiteY38" fmla="*/ 53674 h 1658319"/>
              <a:gd name="connisteX39" fmla="*/ 336620 w 1239026"/>
              <a:gd name="connsiteY39" fmla="*/ 30179 h 1658319"/>
              <a:gd name="connisteX40" fmla="*/ 267405 w 1239026"/>
              <a:gd name="connsiteY40" fmla="*/ 30179 h 1658319"/>
              <a:gd name="connisteX41" fmla="*/ 186125 w 1239026"/>
              <a:gd name="connsiteY41" fmla="*/ 30179 h 1658319"/>
              <a:gd name="connisteX42" fmla="*/ 116910 w 1239026"/>
              <a:gd name="connsiteY42" fmla="*/ 7319 h 1658319"/>
              <a:gd name="connisteX43" fmla="*/ 47695 w 1239026"/>
              <a:gd name="connsiteY43" fmla="*/ 7319 h 1658319"/>
              <a:gd name="connisteX44" fmla="*/ 24835 w 1239026"/>
              <a:gd name="connsiteY44" fmla="*/ 76534 h 1658319"/>
              <a:gd name="connisteX45" fmla="*/ 1975 w 1239026"/>
              <a:gd name="connsiteY45" fmla="*/ 180674 h 1658319"/>
              <a:gd name="connisteX46" fmla="*/ 1975 w 1239026"/>
              <a:gd name="connsiteY46" fmla="*/ 272749 h 1658319"/>
              <a:gd name="connisteX47" fmla="*/ 1975 w 1239026"/>
              <a:gd name="connsiteY47" fmla="*/ 341964 h 1658319"/>
              <a:gd name="connisteX48" fmla="*/ 1975 w 1239026"/>
              <a:gd name="connsiteY48" fmla="*/ 422609 h 1658319"/>
              <a:gd name="connisteX49" fmla="*/ 1975 w 1239026"/>
              <a:gd name="connsiteY49" fmla="*/ 492459 h 1658319"/>
              <a:gd name="connisteX50" fmla="*/ 13405 w 1239026"/>
              <a:gd name="connsiteY50" fmla="*/ 561674 h 1658319"/>
              <a:gd name="connisteX51" fmla="*/ 36265 w 1239026"/>
              <a:gd name="connsiteY51" fmla="*/ 630889 h 1658319"/>
              <a:gd name="connisteX52" fmla="*/ 36265 w 1239026"/>
              <a:gd name="connsiteY52" fmla="*/ 711534 h 1658319"/>
              <a:gd name="connisteX53" fmla="*/ 36265 w 1239026"/>
              <a:gd name="connsiteY53" fmla="*/ 780749 h 1658319"/>
              <a:gd name="connisteX54" fmla="*/ 36265 w 1239026"/>
              <a:gd name="connsiteY54" fmla="*/ 849964 h 1658319"/>
              <a:gd name="connisteX55" fmla="*/ 36265 w 1239026"/>
              <a:gd name="connsiteY55" fmla="*/ 930609 h 1658319"/>
              <a:gd name="connisteX56" fmla="*/ 36265 w 1239026"/>
              <a:gd name="connsiteY56" fmla="*/ 1000459 h 1658319"/>
              <a:gd name="connisteX57" fmla="*/ 36265 w 1239026"/>
              <a:gd name="connsiteY57" fmla="*/ 1069674 h 1658319"/>
              <a:gd name="connisteX58" fmla="*/ 24835 w 1239026"/>
              <a:gd name="connsiteY58" fmla="*/ 1138889 h 1658319"/>
              <a:gd name="connisteX59" fmla="*/ 24835 w 1239026"/>
              <a:gd name="connsiteY59" fmla="*/ 1208104 h 1658319"/>
              <a:gd name="connisteX60" fmla="*/ 24835 w 1239026"/>
              <a:gd name="connsiteY60" fmla="*/ 1277319 h 1658319"/>
              <a:gd name="connisteX61" fmla="*/ 24835 w 1239026"/>
              <a:gd name="connsiteY61" fmla="*/ 1346534 h 1658319"/>
              <a:gd name="connisteX62" fmla="*/ 24835 w 1239026"/>
              <a:gd name="connsiteY62" fmla="*/ 1415749 h 1658319"/>
              <a:gd name="connisteX63" fmla="*/ 47695 w 1239026"/>
              <a:gd name="connsiteY63" fmla="*/ 1484964 h 1658319"/>
              <a:gd name="connisteX64" fmla="*/ 71190 w 1239026"/>
              <a:gd name="connsiteY64" fmla="*/ 1554179 h 1658319"/>
              <a:gd name="connisteX65" fmla="*/ 71190 w 1239026"/>
              <a:gd name="connsiteY65" fmla="*/ 1623394 h 16583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</a:cxnLst>
            <a:rect l="l" t="t" r="r" b="b"/>
            <a:pathLst>
              <a:path w="1239026" h="1658319">
                <a:moveTo>
                  <a:pt x="151836" y="1635459"/>
                </a:moveTo>
                <a:cubicBezTo>
                  <a:pt x="164536" y="1635459"/>
                  <a:pt x="193111" y="1635459"/>
                  <a:pt x="221051" y="1635459"/>
                </a:cubicBezTo>
                <a:cubicBezTo>
                  <a:pt x="248991" y="1635459"/>
                  <a:pt x="262326" y="1635459"/>
                  <a:pt x="290266" y="1635459"/>
                </a:cubicBezTo>
                <a:cubicBezTo>
                  <a:pt x="318206" y="1635459"/>
                  <a:pt x="331541" y="1632919"/>
                  <a:pt x="359481" y="1635459"/>
                </a:cubicBezTo>
                <a:cubicBezTo>
                  <a:pt x="387421" y="1637999"/>
                  <a:pt x="400756" y="1644349"/>
                  <a:pt x="428696" y="1646889"/>
                </a:cubicBezTo>
                <a:cubicBezTo>
                  <a:pt x="456636" y="1649429"/>
                  <a:pt x="469971" y="1646889"/>
                  <a:pt x="497911" y="1646889"/>
                </a:cubicBezTo>
                <a:cubicBezTo>
                  <a:pt x="525851" y="1646889"/>
                  <a:pt x="539186" y="1644349"/>
                  <a:pt x="567126" y="1646889"/>
                </a:cubicBezTo>
                <a:cubicBezTo>
                  <a:pt x="595066" y="1649429"/>
                  <a:pt x="609036" y="1658319"/>
                  <a:pt x="636976" y="1658319"/>
                </a:cubicBezTo>
                <a:cubicBezTo>
                  <a:pt x="664916" y="1658319"/>
                  <a:pt x="678251" y="1651334"/>
                  <a:pt x="706191" y="1646889"/>
                </a:cubicBezTo>
                <a:cubicBezTo>
                  <a:pt x="734131" y="1642444"/>
                  <a:pt x="747466" y="1639904"/>
                  <a:pt x="775406" y="1635459"/>
                </a:cubicBezTo>
                <a:cubicBezTo>
                  <a:pt x="803346" y="1631014"/>
                  <a:pt x="816681" y="1625934"/>
                  <a:pt x="844621" y="1623394"/>
                </a:cubicBezTo>
                <a:cubicBezTo>
                  <a:pt x="872561" y="1620854"/>
                  <a:pt x="883991" y="1625934"/>
                  <a:pt x="913836" y="1623394"/>
                </a:cubicBezTo>
                <a:cubicBezTo>
                  <a:pt x="943681" y="1620854"/>
                  <a:pt x="962096" y="1618949"/>
                  <a:pt x="994481" y="1611964"/>
                </a:cubicBezTo>
                <a:cubicBezTo>
                  <a:pt x="1026866" y="1604979"/>
                  <a:pt x="1045281" y="1607519"/>
                  <a:pt x="1075126" y="1589104"/>
                </a:cubicBezTo>
                <a:cubicBezTo>
                  <a:pt x="1104971" y="1570689"/>
                  <a:pt x="1124021" y="1547829"/>
                  <a:pt x="1144976" y="1519889"/>
                </a:cubicBezTo>
                <a:cubicBezTo>
                  <a:pt x="1165931" y="1491949"/>
                  <a:pt x="1170376" y="1478614"/>
                  <a:pt x="1179266" y="1450674"/>
                </a:cubicBezTo>
                <a:cubicBezTo>
                  <a:pt x="1188156" y="1422734"/>
                  <a:pt x="1188156" y="1409399"/>
                  <a:pt x="1190696" y="1381459"/>
                </a:cubicBezTo>
                <a:cubicBezTo>
                  <a:pt x="1193236" y="1353519"/>
                  <a:pt x="1190696" y="1339549"/>
                  <a:pt x="1190696" y="1311609"/>
                </a:cubicBezTo>
                <a:cubicBezTo>
                  <a:pt x="1190696" y="1283669"/>
                  <a:pt x="1190696" y="1270334"/>
                  <a:pt x="1190696" y="1242394"/>
                </a:cubicBezTo>
                <a:cubicBezTo>
                  <a:pt x="1190696" y="1214454"/>
                  <a:pt x="1190696" y="1201119"/>
                  <a:pt x="1190696" y="1173179"/>
                </a:cubicBezTo>
                <a:cubicBezTo>
                  <a:pt x="1190696" y="1145239"/>
                  <a:pt x="1190696" y="1133809"/>
                  <a:pt x="1190696" y="1103964"/>
                </a:cubicBezTo>
                <a:cubicBezTo>
                  <a:pt x="1190696" y="1074119"/>
                  <a:pt x="1188156" y="1055704"/>
                  <a:pt x="1190696" y="1023319"/>
                </a:cubicBezTo>
                <a:cubicBezTo>
                  <a:pt x="1193236" y="990934"/>
                  <a:pt x="1197681" y="972519"/>
                  <a:pt x="1202126" y="942674"/>
                </a:cubicBezTo>
                <a:cubicBezTo>
                  <a:pt x="1206571" y="912829"/>
                  <a:pt x="1207206" y="901399"/>
                  <a:pt x="1214191" y="873459"/>
                </a:cubicBezTo>
                <a:cubicBezTo>
                  <a:pt x="1221176" y="845519"/>
                  <a:pt x="1232606" y="833454"/>
                  <a:pt x="1237051" y="803609"/>
                </a:cubicBezTo>
                <a:cubicBezTo>
                  <a:pt x="1241496" y="773764"/>
                  <a:pt x="1237051" y="752809"/>
                  <a:pt x="1237051" y="722964"/>
                </a:cubicBezTo>
                <a:cubicBezTo>
                  <a:pt x="1237051" y="693119"/>
                  <a:pt x="1237051" y="681689"/>
                  <a:pt x="1237051" y="653749"/>
                </a:cubicBezTo>
                <a:cubicBezTo>
                  <a:pt x="1237051" y="625809"/>
                  <a:pt x="1237051" y="614379"/>
                  <a:pt x="1237051" y="584534"/>
                </a:cubicBezTo>
                <a:cubicBezTo>
                  <a:pt x="1237051" y="554689"/>
                  <a:pt x="1239591" y="533734"/>
                  <a:pt x="1237051" y="503889"/>
                </a:cubicBezTo>
                <a:cubicBezTo>
                  <a:pt x="1234511" y="474044"/>
                  <a:pt x="1228161" y="462614"/>
                  <a:pt x="1225621" y="434674"/>
                </a:cubicBezTo>
                <a:cubicBezTo>
                  <a:pt x="1223081" y="406734"/>
                  <a:pt x="1239591" y="390859"/>
                  <a:pt x="1225621" y="365459"/>
                </a:cubicBezTo>
                <a:cubicBezTo>
                  <a:pt x="1211651" y="340059"/>
                  <a:pt x="1188791" y="326089"/>
                  <a:pt x="1156406" y="307674"/>
                </a:cubicBezTo>
                <a:cubicBezTo>
                  <a:pt x="1124021" y="289259"/>
                  <a:pt x="1096081" y="279734"/>
                  <a:pt x="1063696" y="272749"/>
                </a:cubicBezTo>
                <a:cubicBezTo>
                  <a:pt x="1031311" y="265764"/>
                  <a:pt x="1026866" y="279734"/>
                  <a:pt x="994481" y="272749"/>
                </a:cubicBezTo>
                <a:cubicBezTo>
                  <a:pt x="962096" y="265764"/>
                  <a:pt x="948761" y="259414"/>
                  <a:pt x="902406" y="238459"/>
                </a:cubicBezTo>
                <a:cubicBezTo>
                  <a:pt x="856051" y="217504"/>
                  <a:pt x="819221" y="194009"/>
                  <a:pt x="763976" y="168609"/>
                </a:cubicBezTo>
                <a:cubicBezTo>
                  <a:pt x="708731" y="143209"/>
                  <a:pt x="666821" y="129874"/>
                  <a:pt x="624911" y="111459"/>
                </a:cubicBezTo>
                <a:cubicBezTo>
                  <a:pt x="583001" y="93044"/>
                  <a:pt x="592526" y="87964"/>
                  <a:pt x="555696" y="76534"/>
                </a:cubicBezTo>
                <a:cubicBezTo>
                  <a:pt x="518866" y="65104"/>
                  <a:pt x="483941" y="63199"/>
                  <a:pt x="440126" y="53674"/>
                </a:cubicBezTo>
                <a:cubicBezTo>
                  <a:pt x="396311" y="44149"/>
                  <a:pt x="370911" y="34624"/>
                  <a:pt x="336621" y="30179"/>
                </a:cubicBezTo>
                <a:cubicBezTo>
                  <a:pt x="302331" y="25734"/>
                  <a:pt x="297251" y="30179"/>
                  <a:pt x="267406" y="30179"/>
                </a:cubicBezTo>
                <a:cubicBezTo>
                  <a:pt x="237561" y="30179"/>
                  <a:pt x="215971" y="34624"/>
                  <a:pt x="186126" y="30179"/>
                </a:cubicBezTo>
                <a:cubicBezTo>
                  <a:pt x="156281" y="25734"/>
                  <a:pt x="144851" y="11764"/>
                  <a:pt x="116911" y="7319"/>
                </a:cubicBezTo>
                <a:cubicBezTo>
                  <a:pt x="88971" y="2874"/>
                  <a:pt x="66111" y="-6651"/>
                  <a:pt x="47696" y="7319"/>
                </a:cubicBezTo>
                <a:cubicBezTo>
                  <a:pt x="29281" y="21289"/>
                  <a:pt x="33726" y="41609"/>
                  <a:pt x="24836" y="76534"/>
                </a:cubicBezTo>
                <a:cubicBezTo>
                  <a:pt x="15946" y="111459"/>
                  <a:pt x="6421" y="141304"/>
                  <a:pt x="1976" y="180674"/>
                </a:cubicBezTo>
                <a:cubicBezTo>
                  <a:pt x="-2469" y="220044"/>
                  <a:pt x="1976" y="240364"/>
                  <a:pt x="1976" y="272749"/>
                </a:cubicBezTo>
                <a:cubicBezTo>
                  <a:pt x="1976" y="305134"/>
                  <a:pt x="1976" y="312119"/>
                  <a:pt x="1976" y="341964"/>
                </a:cubicBezTo>
                <a:cubicBezTo>
                  <a:pt x="1976" y="371809"/>
                  <a:pt x="1976" y="392764"/>
                  <a:pt x="1976" y="422609"/>
                </a:cubicBezTo>
                <a:cubicBezTo>
                  <a:pt x="1976" y="452454"/>
                  <a:pt x="-564" y="464519"/>
                  <a:pt x="1976" y="492459"/>
                </a:cubicBezTo>
                <a:cubicBezTo>
                  <a:pt x="4516" y="520399"/>
                  <a:pt x="6421" y="533734"/>
                  <a:pt x="13406" y="561674"/>
                </a:cubicBezTo>
                <a:cubicBezTo>
                  <a:pt x="20391" y="589614"/>
                  <a:pt x="31821" y="601044"/>
                  <a:pt x="36266" y="630889"/>
                </a:cubicBezTo>
                <a:cubicBezTo>
                  <a:pt x="40711" y="660734"/>
                  <a:pt x="36266" y="681689"/>
                  <a:pt x="36266" y="711534"/>
                </a:cubicBezTo>
                <a:cubicBezTo>
                  <a:pt x="36266" y="741379"/>
                  <a:pt x="36266" y="752809"/>
                  <a:pt x="36266" y="780749"/>
                </a:cubicBezTo>
                <a:cubicBezTo>
                  <a:pt x="36266" y="808689"/>
                  <a:pt x="36266" y="820119"/>
                  <a:pt x="36266" y="849964"/>
                </a:cubicBezTo>
                <a:cubicBezTo>
                  <a:pt x="36266" y="879809"/>
                  <a:pt x="36266" y="900764"/>
                  <a:pt x="36266" y="930609"/>
                </a:cubicBezTo>
                <a:cubicBezTo>
                  <a:pt x="36266" y="960454"/>
                  <a:pt x="36266" y="972519"/>
                  <a:pt x="36266" y="1000459"/>
                </a:cubicBezTo>
                <a:cubicBezTo>
                  <a:pt x="36266" y="1028399"/>
                  <a:pt x="38806" y="1041734"/>
                  <a:pt x="36266" y="1069674"/>
                </a:cubicBezTo>
                <a:cubicBezTo>
                  <a:pt x="33726" y="1097614"/>
                  <a:pt x="27376" y="1110949"/>
                  <a:pt x="24836" y="1138889"/>
                </a:cubicBezTo>
                <a:cubicBezTo>
                  <a:pt x="22296" y="1166829"/>
                  <a:pt x="24836" y="1180164"/>
                  <a:pt x="24836" y="1208104"/>
                </a:cubicBezTo>
                <a:cubicBezTo>
                  <a:pt x="24836" y="1236044"/>
                  <a:pt x="24836" y="1249379"/>
                  <a:pt x="24836" y="1277319"/>
                </a:cubicBezTo>
                <a:cubicBezTo>
                  <a:pt x="24836" y="1305259"/>
                  <a:pt x="24836" y="1318594"/>
                  <a:pt x="24836" y="1346534"/>
                </a:cubicBezTo>
                <a:cubicBezTo>
                  <a:pt x="24836" y="1374474"/>
                  <a:pt x="20391" y="1387809"/>
                  <a:pt x="24836" y="1415749"/>
                </a:cubicBezTo>
                <a:cubicBezTo>
                  <a:pt x="29281" y="1443689"/>
                  <a:pt x="38171" y="1457024"/>
                  <a:pt x="47696" y="1484964"/>
                </a:cubicBezTo>
                <a:cubicBezTo>
                  <a:pt x="57221" y="1512904"/>
                  <a:pt x="66746" y="1526239"/>
                  <a:pt x="71191" y="1554179"/>
                </a:cubicBezTo>
                <a:cubicBezTo>
                  <a:pt x="75636" y="1582119"/>
                  <a:pt x="71826" y="1610694"/>
                  <a:pt x="71191" y="16233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84105" y="1196340"/>
            <a:ext cx="1793875" cy="54483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171CED"/>
                </a:solidFill>
              </a:rPr>
              <a:t>土体构型变化原因：</a:t>
            </a:r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>
                <a:solidFill>
                  <a:srgbClr val="FF0000"/>
                </a:solidFill>
              </a:rPr>
              <a:t>）命名规则改变，</a:t>
            </a:r>
            <a:r>
              <a:rPr lang="zh-CN" altLang="en-US" b="1">
                <a:solidFill>
                  <a:srgbClr val="171CED"/>
                </a:solidFill>
              </a:rPr>
              <a:t>（</a:t>
            </a:r>
            <a:r>
              <a:rPr lang="en-US" altLang="zh-CN" b="1">
                <a:solidFill>
                  <a:srgbClr val="171CED"/>
                </a:solidFill>
              </a:rPr>
              <a:t>2</a:t>
            </a:r>
            <a:r>
              <a:rPr lang="zh-CN" altLang="en-US" b="1">
                <a:solidFill>
                  <a:srgbClr val="171CED"/>
                </a:solidFill>
              </a:rPr>
              <a:t>）原野外校核发现新的构型，将原土种图斑细化分割，踏勘确定新土种边界；</a:t>
            </a:r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  <a:r>
              <a:rPr lang="zh-CN" altLang="en-US" b="1">
                <a:solidFill>
                  <a:srgbClr val="FF0000"/>
                </a:solidFill>
              </a:rPr>
              <a:t>）</a:t>
            </a:r>
            <a:r>
              <a:rPr lang="en-US" altLang="zh-CN" b="1">
                <a:solidFill>
                  <a:srgbClr val="FF0000"/>
                </a:solidFill>
              </a:rPr>
              <a:t>40</a:t>
            </a:r>
            <a:r>
              <a:rPr lang="zh-CN" altLang="en-US" b="1">
                <a:solidFill>
                  <a:srgbClr val="FF0000"/>
                </a:solidFill>
              </a:rPr>
              <a:t>多年来自然因素影响</a:t>
            </a:r>
            <a:r>
              <a:rPr lang="en-US" altLang="zh-CN" b="1">
                <a:solidFill>
                  <a:srgbClr val="FF0000"/>
                </a:solidFill>
              </a:rPr>
              <a:t>--</a:t>
            </a:r>
            <a:r>
              <a:rPr lang="zh-CN" altLang="en-US" b="1">
                <a:solidFill>
                  <a:srgbClr val="FF0000"/>
                </a:solidFill>
              </a:rPr>
              <a:t>洪水漫溢的淤砂层、砂砾层、淤泥层等；</a:t>
            </a:r>
            <a:r>
              <a:rPr lang="zh-CN" altLang="en-US" b="1">
                <a:solidFill>
                  <a:srgbClr val="171CED"/>
                </a:solidFill>
              </a:rPr>
              <a:t>人为深耕、取土、人造塥、土体扰动等。</a:t>
            </a:r>
            <a:endParaRPr lang="zh-CN" altLang="en-US" b="1">
              <a:solidFill>
                <a:srgbClr val="171CE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80" y="548640"/>
            <a:ext cx="1166495" cy="1957705"/>
          </a:xfrm>
        </p:spPr>
        <p:txBody>
          <a:bodyPr/>
          <a:p>
            <a:r>
              <a:rPr lang="zh-CN" altLang="en-US" sz="2800"/>
              <a:t>报告目录大纲</a:t>
            </a:r>
            <a:endParaRPr lang="zh-CN" altLang="en-US" sz="28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5370" y="44450"/>
            <a:ext cx="5734685" cy="41148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116840"/>
            <a:ext cx="5734050" cy="4152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273935"/>
            <a:ext cx="7038340" cy="44754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045575" y="4813935"/>
            <a:ext cx="237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4.1</a:t>
            </a:r>
            <a:r>
              <a:rPr lang="zh-CN" altLang="en-US" b="1">
                <a:solidFill>
                  <a:srgbClr val="FF0000"/>
                </a:solidFill>
              </a:rPr>
              <a:t>技术路线缺失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005" y="332740"/>
            <a:ext cx="9746615" cy="916940"/>
          </a:xfrm>
        </p:spPr>
        <p:txBody>
          <a:bodyPr/>
          <a:p>
            <a:r>
              <a:rPr lang="zh-CN" altLang="en-US"/>
              <a:t>（三）县级成果清单中注意单独提交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2005" y="1371600"/>
            <a:ext cx="10462260" cy="499745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>
                <a:solidFill>
                  <a:srgbClr val="171CED"/>
                </a:solidFill>
              </a:rPr>
              <a:t>××县二普土壤分类体系表（建议列出土种面积）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××县三普土壤分类体系表（列出土种面积，包含抠除县建成区和河流的面积）</a:t>
            </a:r>
            <a:endParaRPr lang="zh-CN" altLang="en-US"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>
                <a:solidFill>
                  <a:srgbClr val="171CED"/>
                </a:solidFill>
                <a:sym typeface="+mn-ea"/>
              </a:rPr>
              <a:t>××县二普</a:t>
            </a:r>
            <a:r>
              <a:rPr lang="en-US" altLang="zh-CN">
                <a:solidFill>
                  <a:srgbClr val="171CED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171CED"/>
                </a:solidFill>
                <a:sym typeface="+mn-ea"/>
              </a:rPr>
              <a:t>三普土壤类型对照表（二普所有土种在三普的对照都列明）</a:t>
            </a:r>
            <a:endParaRPr lang="zh-CN" altLang="en-US">
              <a:solidFill>
                <a:srgbClr val="171CED"/>
              </a:solidFill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××县三浦土种支撑剖面梳理</a:t>
            </a:r>
            <a:r>
              <a:rPr lang="zh-CN" altLang="en-US">
                <a:sym typeface="+mn-ea"/>
              </a:rPr>
              <a:t>（检查完善，将三普剖面的原始名称、修订名称、修订原因（野外校核性状改变还是命名方法变化）、系统分类对照剖面照片和性状进行修订）</a:t>
            </a:r>
            <a:endParaRPr lang="zh-CN" alt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"/>
        <p:cNvGrpSpPr/>
        <p:nvPr/>
      </p:nvGrpSpPr>
      <p:grpSpPr/>
      <p:sp>
        <p:nvSpPr>
          <p:cNvPr id="10489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89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8994" name="文本框 99"/>
          <p:cNvSpPr txBox="1"/>
          <p:nvPr/>
        </p:nvSpPr>
        <p:spPr>
          <a:xfrm>
            <a:off x="354965" y="182245"/>
            <a:ext cx="1059053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河北省土壤发生分类与系统分类参比表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sz="2000" b="1">
                <a:solidFill>
                  <a:srgbClr val="171CE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三剖系统分类名称应该根据剖面性状创新命名</a:t>
            </a:r>
            <a:endParaRPr lang="zh-CN" altLang="en-US" sz="2000" b="1">
              <a:solidFill>
                <a:srgbClr val="171CE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97261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 l="22925" t="24654" r="26311" b="19551"/>
          <a:stretch>
            <a:fillRect/>
          </a:stretch>
        </p:blipFill>
        <p:spPr bwMode="auto">
          <a:xfrm>
            <a:off x="11002645" y="123825"/>
            <a:ext cx="716280" cy="7156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94307" name="表格 1"/>
          <p:cNvGraphicFramePr/>
          <p:nvPr>
            <p:custDataLst>
              <p:tags r:id="rId3"/>
            </p:custDataLst>
          </p:nvPr>
        </p:nvGraphicFramePr>
        <p:xfrm>
          <a:off x="438785" y="772160"/>
          <a:ext cx="11396980" cy="5650865"/>
        </p:xfrm>
        <a:graphic>
          <a:graphicData uri="http://schemas.openxmlformats.org/drawingml/2006/table">
            <a:tbl>
              <a:tblPr/>
              <a:tblGrid>
                <a:gridCol w="626110"/>
                <a:gridCol w="1400175"/>
                <a:gridCol w="1828800"/>
                <a:gridCol w="1252855"/>
                <a:gridCol w="1494155"/>
                <a:gridCol w="2152015"/>
                <a:gridCol w="2642870"/>
              </a:tblGrid>
              <a:tr h="42227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序号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发生分类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系统分类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528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亚类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土纲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亚纲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亚类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3464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棕壤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典型棕壤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普通简育湿润淋溶土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480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潮棕壤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斑纹简育湿润淋溶土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35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棕壤性土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雏形土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湿润雏形土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简育湿润雏形土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普通简育湿润雏形土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3530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褐土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典型褐土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简育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简育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416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普通简育干润淋溶土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35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石灰性褐土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淋溶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淋溶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钙质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干润淋溶土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钙质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35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潮褐土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淋溶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干润淋溶土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简育干润淋溶土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斑纹简育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干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润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淋溶土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021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褐土性土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雏形土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干润雏形土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简育干润雏形土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普通简育干润雏形土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灰色森林土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典型灰色森林土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均腐土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干润均腐土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暗厚干润均腐土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普通暗厚干润均腐土</a:t>
                      </a:r>
                      <a:endParaRPr lang="en-US" altLang="en-US" sz="1800" b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黑土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黑土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均腐土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干润均腐土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暗厚干润均腐土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普通暗厚干润均腐土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3464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沼泽土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典型沼泽土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暗沃正常潜育土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普通暗沃正常潜育土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416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草甸沼泽土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滞水潜育土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有机滞水潜育土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纤维有机滞水潜育土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021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盐化沼泽土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暗沃正常潜育土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弱盐暗沃正常潜育土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35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泥炭沼泽土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有机正常潜育土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高腐有机正常潜育土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" name="图片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2493010"/>
            <a:ext cx="9105900" cy="40767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88790" y="-427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5" y="116840"/>
            <a:ext cx="9746615" cy="916940"/>
          </a:xfrm>
        </p:spPr>
        <p:txBody>
          <a:bodyPr/>
          <a:p>
            <a:r>
              <a:rPr lang="zh-CN" altLang="en-US"/>
              <a:t>（四）市级土壤类型制图成果编制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525" y="1772920"/>
            <a:ext cx="11838940" cy="47250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124585"/>
            <a:ext cx="4778375" cy="635000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8903970" y="620395"/>
            <a:ext cx="1202690" cy="584835"/>
          </a:xfrm>
          <a:prstGeom prst="wedgeRoundRectCallout">
            <a:avLst>
              <a:gd name="adj1" fmla="val -73706"/>
              <a:gd name="adj2" fmla="val 29299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市域间接边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50280" y="260350"/>
            <a:ext cx="5900420" cy="354330"/>
          </a:xfrm>
        </p:spPr>
        <p:txBody>
          <a:bodyPr/>
          <a:p>
            <a:r>
              <a:rPr lang="zh-CN" altLang="en-US" sz="2800">
                <a:solidFill>
                  <a:srgbClr val="FF0000"/>
                </a:solidFill>
              </a:rPr>
              <a:t>市级成果编制技术路径</a:t>
            </a:r>
            <a:endParaRPr lang="zh-CN" altLang="en-US" sz="2800">
              <a:solidFill>
                <a:srgbClr val="FF0000"/>
              </a:solidFill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4130" y="188595"/>
            <a:ext cx="5810885" cy="41148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4509135"/>
            <a:ext cx="6000750" cy="207645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284220" y="896620"/>
            <a:ext cx="8440420" cy="5668010"/>
            <a:chOff x="7105" y="297"/>
            <a:chExt cx="11880" cy="797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5" y="297"/>
              <a:ext cx="11880" cy="53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2" y="5513"/>
              <a:ext cx="11550" cy="27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9425" y="121920"/>
            <a:ext cx="10428605" cy="2371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2420620"/>
            <a:ext cx="10178415" cy="2498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165" y="4509135"/>
            <a:ext cx="7391400" cy="20129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380" y="44450"/>
            <a:ext cx="6457950" cy="375285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4652645"/>
            <a:ext cx="5753100" cy="838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55" y="0"/>
            <a:ext cx="5676900" cy="421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0" y="1988820"/>
            <a:ext cx="5727700" cy="4286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280" y="3500755"/>
            <a:ext cx="5772150" cy="3003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5460" y="125095"/>
            <a:ext cx="8785860" cy="646239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3525" y="1628775"/>
            <a:ext cx="7010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报告编写提纲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3545" y="188595"/>
            <a:ext cx="11504295" cy="546798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9425" y="264160"/>
            <a:ext cx="11104880" cy="618426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7760" y="260350"/>
            <a:ext cx="9949180" cy="625221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380" y="116840"/>
            <a:ext cx="9049385" cy="616712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19605" y="188595"/>
            <a:ext cx="935990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030" y="116840"/>
            <a:ext cx="8511540" cy="6476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5" y="116840"/>
            <a:ext cx="9746615" cy="916940"/>
          </a:xfrm>
        </p:spPr>
        <p:txBody>
          <a:bodyPr/>
          <a:p>
            <a:r>
              <a:rPr lang="zh-CN" altLang="en-US"/>
              <a:t>再强调，市级统筹、县级配合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525" y="1772920"/>
            <a:ext cx="11838940" cy="47250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124585"/>
            <a:ext cx="4778375" cy="635000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8903970" y="620395"/>
            <a:ext cx="1202690" cy="584835"/>
          </a:xfrm>
          <a:prstGeom prst="wedgeRoundRectCallout">
            <a:avLst>
              <a:gd name="adj1" fmla="val -73706"/>
              <a:gd name="adj2" fmla="val 29299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市域间接边</a:t>
            </a:r>
            <a:endParaRPr lang="zh-CN" altLang="en-US" sz="1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5370" y="260350"/>
            <a:ext cx="9746615" cy="916940"/>
          </a:xfrm>
        </p:spPr>
        <p:txBody>
          <a:bodyPr/>
          <a:p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905" y="1196340"/>
            <a:ext cx="9669780" cy="486283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/>
              <a:t>土壤类型制图成果提交清单按照国家成果验收导引及质控要求，条目清晰，内容完整。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软件检查二普到三普土种图斑的变化情况，</a:t>
            </a:r>
            <a:r>
              <a:rPr lang="en-US" altLang="zh-CN">
                <a:solidFill>
                  <a:srgbClr val="FF0000"/>
                </a:solidFill>
              </a:rPr>
              <a:t>&gt;70%</a:t>
            </a:r>
            <a:r>
              <a:rPr lang="zh-CN" altLang="en-US">
                <a:solidFill>
                  <a:srgbClr val="FF0000"/>
                </a:solidFill>
              </a:rPr>
              <a:t>的没变，须核查；变化的图斑边界应该有相应技术依据。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重点检查土种图斑边界与地形起伏</a:t>
            </a:r>
            <a:r>
              <a:rPr lang="zh-CN" altLang="en-US">
                <a:sym typeface="+mn-ea"/>
              </a:rPr>
              <a:t>明显不一致的情况，可能影响耕评、适宜性评价（不适宜区出现一等地，高度适宜区出现低等地）。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按省三普办的具体技术要求、时间节点，保质保量完成三普土壤类型图的图件成果、文字成果和数据库成果。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39" name=""/>
        <p:cNvGrpSpPr/>
        <p:nvPr/>
      </p:nvGrpSpPr>
      <p:grpSpPr/>
      <p:sp>
        <p:nvSpPr>
          <p:cNvPr id="1048609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421438"/>
            <a:ext cx="2540000" cy="284162"/>
          </a:xfrm>
        </p:spPr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61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8611" name="标题 2"/>
          <p:cNvSpPr/>
          <p:nvPr>
            <p:ph type="title"/>
          </p:nvPr>
        </p:nvSpPr>
        <p:spPr>
          <a:xfrm>
            <a:off x="1703705" y="692785"/>
            <a:ext cx="9746615" cy="916940"/>
          </a:xfrm>
        </p:spPr>
        <p:txBody>
          <a:bodyPr/>
          <a:p>
            <a:r>
              <a:rPr lang="zh-CN" altLang="en-US"/>
              <a:t>谢谢！</a:t>
            </a:r>
            <a:endParaRPr lang="zh-CN" altLang="en-US"/>
          </a:p>
        </p:txBody>
      </p:sp>
      <p:pic>
        <p:nvPicPr>
          <p:cNvPr id="2097178" name="图片 3"/>
          <p:cNvPicPr>
            <a:picLocks noChangeAspect="1"/>
          </p:cNvPicPr>
          <p:nvPr/>
        </p:nvPicPr>
        <p:blipFill>
          <a:blip r:embed="rId1"/>
          <a:srcRect l="9345" r="12069"/>
          <a:stretch>
            <a:fillRect/>
          </a:stretch>
        </p:blipFill>
        <p:spPr>
          <a:xfrm>
            <a:off x="686435" y="1916430"/>
            <a:ext cx="11456035" cy="4130675"/>
          </a:xfrm>
          <a:prstGeom prst="rect">
            <a:avLst/>
          </a:prstGeom>
        </p:spPr>
      </p:pic>
      <p:pic>
        <p:nvPicPr>
          <p:cNvPr id="2097179" name="图片 6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/>
          <a:srcRect l="22925" t="24654" r="26311" b="19551"/>
          <a:stretch>
            <a:fillRect/>
          </a:stretch>
        </p:blipFill>
        <p:spPr bwMode="auto">
          <a:xfrm>
            <a:off x="10712450" y="116840"/>
            <a:ext cx="1280160" cy="12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TABLE_BEAUTIFY" val="smartTable{0a50c41e-02b7-4157-b843-280f98fc9f02}"/>
  <p:tag name="TABLE_ENDDRAG_ORIGIN_RECT" val="842*488"/>
  <p:tag name="TABLE_ENDDRAG_RECT" val="64*40*842*488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696*219"/>
  <p:tag name="TABLE_ENDDRAG_RECT" val="126*46*696*219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TABLE_BEAUTIFY" val="smartTable{26cfcd1f-f0fc-4295-87e9-2056d2ebd8a9}"/>
  <p:tag name="TABLE_ENDDRAG_ORIGIN_RECT" val="897*439"/>
  <p:tag name="TABLE_ENDDRAG_RECT" val="34*60*897*439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6938</Words>
  <Application>WPS 演示</Application>
  <PresentationFormat/>
  <Paragraphs>1331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微软雅黑</vt:lpstr>
      <vt:lpstr>Tahoma</vt:lpstr>
      <vt:lpstr>华文新魏</vt:lpstr>
      <vt:lpstr>黑体</vt:lpstr>
      <vt:lpstr>Wingdings 2</vt:lpstr>
      <vt:lpstr>Wingdings</vt:lpstr>
      <vt:lpstr>Times New Roman</vt:lpstr>
      <vt:lpstr>Arial Unicode MS</vt:lpstr>
      <vt:lpstr>Calibri</vt:lpstr>
      <vt:lpstr>隶书</vt:lpstr>
      <vt:lpstr>Wingdings 2</vt:lpstr>
      <vt:lpstr>华文新魏</vt:lpstr>
      <vt:lpstr>隶书</vt:lpstr>
      <vt:lpstr>ESRI AMFM Electric</vt:lpstr>
      <vt:lpstr>1_默认设计模板</vt:lpstr>
      <vt:lpstr>7_默认设计模板</vt:lpstr>
      <vt:lpstr>河北省第三次土壤普查成果汇总技术培训</vt:lpstr>
      <vt:lpstr>目   录</vt:lpstr>
      <vt:lpstr>PowerPoint 演示文稿</vt:lpstr>
      <vt:lpstr>PowerPoint 演示文稿</vt:lpstr>
      <vt:lpstr>PowerPoint 演示文稿</vt:lpstr>
      <vt:lpstr>（二）土壤发生分类命名及注意事项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（三）土种划分依据及命名</vt:lpstr>
      <vt:lpstr>土种划分依据及命名</vt:lpstr>
      <vt:lpstr>土种划分依据及命名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县级成果清单中注意单独提交</vt:lpstr>
      <vt:lpstr>PowerPoint 演示文稿</vt:lpstr>
      <vt:lpstr>（三）县级成果清单中注意单独提交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（四）市级土壤类型制图成果编制</vt:lpstr>
      <vt:lpstr>PowerPoint 演示文稿</vt:lpstr>
      <vt:lpstr>谢谢！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河北省第三次土壤普查成果汇总技术培训</dc:title>
  <dc:creator>User</dc:creator>
  <cp:lastModifiedBy>文宏达</cp:lastModifiedBy>
  <cp:revision>4</cp:revision>
  <dcterms:created xsi:type="dcterms:W3CDTF">2026-05-11T04:10:00Z</dcterms:created>
  <dcterms:modified xsi:type="dcterms:W3CDTF">2026-05-11T21:22:39Z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BB1A2E0C903643649A35B901695DFEEA_13</vt:lpwstr>
  </property>
</Properties>
</file>